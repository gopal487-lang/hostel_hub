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33a6a110a84f05" /><Relationship Type="http://schemas.openxmlformats.org/officeDocument/2006/relationships/extended-properties" Target="/docProps/app.xml" Id="R6a733c84d8e64093" /><Relationship Type="http://schemas.openxmlformats.org/officeDocument/2006/relationships/officeDocument" Target="/ppt/presentation.xml" Id="R92f1a35ccde644c1" /></Relationships>
</file>

<file path=ppt/presentation.xml><?xml version="1.0" encoding="utf-8"?>
<p:presentation xmlns:p="http://schemas.openxmlformats.org/presentationml/2006/main">
  <p:sldMasterIdLst>
    <p:sldMasterId xmlns:r="http://schemas.openxmlformats.org/officeDocument/2006/relationships" id="2147483648" r:id="Raf6d5465d9184139"/>
  </p:sldMasterIdLst>
  <p:notesMasterIdLst>
    <p:notesMasterId xmlns:r="http://schemas.openxmlformats.org/officeDocument/2006/relationships" r:id="R9d112bf08cd94256"/>
  </p:notesMasterIdLst>
  <p:sldIdLst>
    <p:sldId xmlns:r="http://schemas.openxmlformats.org/officeDocument/2006/relationships" id="256" r:id="R6cf96edc9ac648f0"/>
    <p:sldId xmlns:r="http://schemas.openxmlformats.org/officeDocument/2006/relationships" id="257" r:id="R45e8b6efc04a41f9"/>
    <p:sldId xmlns:r="http://schemas.openxmlformats.org/officeDocument/2006/relationships" id="258" r:id="R3750cd19185a4a14"/>
    <p:sldId xmlns:r="http://schemas.openxmlformats.org/officeDocument/2006/relationships" id="259" r:id="R60b3eda9d67d4f88"/>
    <p:sldId xmlns:r="http://schemas.openxmlformats.org/officeDocument/2006/relationships" id="260" r:id="R73275290a2114a71"/>
    <p:sldId xmlns:r="http://schemas.openxmlformats.org/officeDocument/2006/relationships" id="261" r:id="R435215bd7e7b4b9b"/>
    <p:sldId xmlns:r="http://schemas.openxmlformats.org/officeDocument/2006/relationships" id="262" r:id="Re68f287c7bf34e0f"/>
    <p:sldId xmlns:r="http://schemas.openxmlformats.org/officeDocument/2006/relationships" id="263" r:id="R505ab91f38b54d5b"/>
    <p:sldId xmlns:r="http://schemas.openxmlformats.org/officeDocument/2006/relationships" id="264" r:id="R2b36a807a93b4a90"/>
    <p:sldId xmlns:r="http://schemas.openxmlformats.org/officeDocument/2006/relationships" id="265" r:id="R04f71569465b44c9"/>
    <p:sldId xmlns:r="http://schemas.openxmlformats.org/officeDocument/2006/relationships" id="266" r:id="R2185f05576444578"/>
    <p:sldId xmlns:r="http://schemas.openxmlformats.org/officeDocument/2006/relationships" id="267" r:id="Rc96a3def038a4193"/>
    <p:sldId xmlns:r="http://schemas.openxmlformats.org/officeDocument/2006/relationships" id="268" r:id="R625f70e656a54eb5"/>
    <p:sldId xmlns:r="http://schemas.openxmlformats.org/officeDocument/2006/relationships" id="269" r:id="R17fe1f8b9c7b48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96ecf5b8164c14" /><Relationship Type="http://schemas.openxmlformats.org/officeDocument/2006/relationships/slideMaster" Target="/ppt/slideMasters/slideMaster1.xml" Id="Raf6d5465d9184139" /><Relationship Type="http://schemas.openxmlformats.org/officeDocument/2006/relationships/notesMaster" Target="/ppt/notesMasters/notesMaster1.xml" Id="R9d112bf08cd94256" /><Relationship Type="http://schemas.openxmlformats.org/officeDocument/2006/relationships/presProps" Target="/ppt/presProps.xml" Id="R7be0fd09e34b45ca" /><Relationship Type="http://schemas.openxmlformats.org/officeDocument/2006/relationships/tableStyles" Target="/ppt/tableStyles.xml" Id="Rdc7191fbcaa14d4b" /><Relationship Type="http://schemas.openxmlformats.org/officeDocument/2006/relationships/slide" Target="/ppt/slides/slide1.xml" Id="R6cf96edc9ac648f0" /><Relationship Type="http://schemas.openxmlformats.org/officeDocument/2006/relationships/slide" Target="/ppt/slides/slide2.xml" Id="R45e8b6efc04a41f9" /><Relationship Type="http://schemas.openxmlformats.org/officeDocument/2006/relationships/slide" Target="/ppt/slides/slide3.xml" Id="R3750cd19185a4a14" /><Relationship Type="http://schemas.openxmlformats.org/officeDocument/2006/relationships/slide" Target="/ppt/slides/slide4.xml" Id="R60b3eda9d67d4f88" /><Relationship Type="http://schemas.openxmlformats.org/officeDocument/2006/relationships/slide" Target="/ppt/slides/slide5.xml" Id="R73275290a2114a71" /><Relationship Type="http://schemas.openxmlformats.org/officeDocument/2006/relationships/slide" Target="/ppt/slides/slide6.xml" Id="R435215bd7e7b4b9b" /><Relationship Type="http://schemas.openxmlformats.org/officeDocument/2006/relationships/slide" Target="/ppt/slides/slide7.xml" Id="Re68f287c7bf34e0f" /><Relationship Type="http://schemas.openxmlformats.org/officeDocument/2006/relationships/slide" Target="/ppt/slides/slide8.xml" Id="R505ab91f38b54d5b" /><Relationship Type="http://schemas.openxmlformats.org/officeDocument/2006/relationships/slide" Target="/ppt/slides/slide9.xml" Id="R2b36a807a93b4a90" /><Relationship Type="http://schemas.openxmlformats.org/officeDocument/2006/relationships/slide" Target="/ppt/slides/slide10.xml" Id="R04f71569465b44c9" /><Relationship Type="http://schemas.openxmlformats.org/officeDocument/2006/relationships/slide" Target="/ppt/slides/slide11.xml" Id="R2185f05576444578" /><Relationship Type="http://schemas.openxmlformats.org/officeDocument/2006/relationships/slide" Target="/ppt/slides/slide12.xml" Id="Rc96a3def038a4193" /><Relationship Type="http://schemas.openxmlformats.org/officeDocument/2006/relationships/slide" Target="/ppt/slides/slide13.xml" Id="R625f70e656a54eb5" /><Relationship Type="http://schemas.openxmlformats.org/officeDocument/2006/relationships/slide" Target="/ppt/slides/slide14.xml" Id="R17fe1f8b9c7b48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2aaa291e9747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ostelHub Violet">
      <a:dk1>
        <a:srgbClr val="000000"/>
      </a:dk1>
      <a:lt1>
        <a:srgbClr val="FFFFFF"/>
      </a:lt1>
      <a:dk2>
        <a:srgbClr val="10132B"/>
      </a:dk2>
      <a:lt2>
        <a:srgbClr val="EEEAFE"/>
      </a:lt2>
      <a:accent1>
        <a:srgbClr val="7055F5"/>
      </a:accent1>
      <a:accent2>
        <a:srgbClr val="20C6B2"/>
      </a:accent2>
      <a:accent3>
        <a:srgbClr val="FFC857"/>
      </a:accent3>
      <a:accent4>
        <a:srgbClr val="FF796C"/>
      </a:accent4>
      <a:accent5>
        <a:srgbClr val="20264B"/>
      </a:accent5>
      <a:accent6>
        <a:srgbClr val="61A6D8"/>
      </a:accent6>
      <a:hlink>
        <a:srgbClr val="7055F5"/>
      </a:hlink>
      <a:folHlink>
        <a:srgbClr val="A998FF"/>
      </a:folHlink>
    </a:clrScheme>
    <a:fontScheme name="">
      <a:majorFont>
        <a:latin typeface="Segoe UI"/>
        <a:ea typeface=""/>
        <a:cs typeface=""/>
      </a:majorFont>
      <a:minorFont>
        <a:latin typeface="Segoe UI"/>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f947136986454e" /><Relationship Type="http://schemas.openxmlformats.org/officeDocument/2006/relationships/notesMaster" Target="/ppt/notesMasters/notesMaster1.xml" Id="Re40a040dec814e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6f62c37f4c4462" /><Relationship Type="http://schemas.openxmlformats.org/officeDocument/2006/relationships/notesMaster" Target="/ppt/notesMasters/notesMaster1.xml" Id="R620cfa16957f49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bb99ce9bc8459a" /><Relationship Type="http://schemas.openxmlformats.org/officeDocument/2006/relationships/notesMaster" Target="/ppt/notesMasters/notesMaster1.xml" Id="R6078e8fffff647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bba4939d5b4c95" /><Relationship Type="http://schemas.openxmlformats.org/officeDocument/2006/relationships/notesMaster" Target="/ppt/notesMasters/notesMaster1.xml" Id="R54b52930131f40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6060c0b86d4c32" /><Relationship Type="http://schemas.openxmlformats.org/officeDocument/2006/relationships/notesMaster" Target="/ppt/notesMasters/notesMaster1.xml" Id="Rbedad185c48542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1e16958627435d" /><Relationship Type="http://schemas.openxmlformats.org/officeDocument/2006/relationships/notesMaster" Target="/ppt/notesMasters/notesMaster1.xml" Id="R278081c5dd9140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aaa5e10b054f73" /><Relationship Type="http://schemas.openxmlformats.org/officeDocument/2006/relationships/notesMaster" Target="/ppt/notesMasters/notesMaster1.xml" Id="R621674ccc7f440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5fb9cc278e4a5e" /><Relationship Type="http://schemas.openxmlformats.org/officeDocument/2006/relationships/notesMaster" Target="/ppt/notesMasters/notesMaster1.xml" Id="Rdcb8b08b3b644b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3483fe7c284b37" /><Relationship Type="http://schemas.openxmlformats.org/officeDocument/2006/relationships/notesMaster" Target="/ppt/notesMasters/notesMaster1.xml" Id="R27a9c03a246e4a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15f67c8a4549a7" /><Relationship Type="http://schemas.openxmlformats.org/officeDocument/2006/relationships/notesMaster" Target="/ppt/notesMasters/notesMaster1.xml" Id="R2c6ada47aa5f4d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1a5da707e341b1" /><Relationship Type="http://schemas.openxmlformats.org/officeDocument/2006/relationships/notesMaster" Target="/ppt/notesMasters/notesMaster1.xml" Id="R50f40f01d76a46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c6424b9c5246ed" /><Relationship Type="http://schemas.openxmlformats.org/officeDocument/2006/relationships/notesMaster" Target="/ppt/notesMasters/notesMaster1.xml" Id="Ra593d9bf1bc34e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bc5a00a89840d0" /><Relationship Type="http://schemas.openxmlformats.org/officeDocument/2006/relationships/notesMaster" Target="/ppt/notesMasters/notesMaster1.xml" Id="R66552866cea24a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62787f8dfb4c54" /><Relationship Type="http://schemas.openxmlformats.org/officeDocument/2006/relationships/notesMaster" Target="/ppt/notesMasters/notesMaster1.xml" Id="R1cf89ab778ac4d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cue: ‘Namaste, hum Gopal Krishan aur Manish Kumar, Government Polytechnic Asthawan Nalanda se hain. Think X Hackathon mein hum HostelHub present kar rahe hain. Ye hostel life ke shopping, campus services, medical support aur hostel updates ko ek student-focused app mein jodta hai.’ Gopal starts the pitch; Manish takes over after the platform and marketplace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these are the coordination problems the project targets, not measured survey findings. ‘Development se pehle student ko daily needs ke liye multiple contacts ya pages yaad rakhne pad sakte the. Project ka goal information aur request status ko clearly organize karna tha.’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‘Iska importance sirf features nahi hai. Student ko information aur action dono ek jagah milte hain; staff ke paas role ke hisab se management tools rehte hain. Isse project ka workflow samajhna aur demonstrate karna dono aasaan hota hai.’ Avoid claiming measured time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diagram left to right. ‘Alag-alag roles ko alag dashboard diya gaya hai. Student actions app ke modules mein jaate hain; admin, warden aur providers apne allowed records manage karte hain.’ This is a conceptual system map, not a deployment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product ko marketplace se discover karta hai. Detail page par image, price aur description dekhta hai. Uske baad wishlist, cart ya Buy Now select karke order journey continue hoti hai.’ Clothing variants/sizes may be presented if the current listing includes them; don't promise real-time inventory by size unless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‘Cart checkout se order create hota hai, aur My Orders page se student status follow kar sakta hai. HostelHub services ke bookings ka tracking page bhi alag workflow dikhata hai.’ Demo mein ek existing order ho tabhi record details dikhayen.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‘Payment gateway integration app mein shown nahi hai. Student UPI app mein manually payment karta hai, reference submit karta hai, aur administrator dashboard se verify karta hai. Tab status Verified hota hai.’ Show per-order Pay Now and the waiting status in the live demo if convenient.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‘Medical section mein medicines/medical shops alag hain aur care options alag. Appointment aur help request admin ke through process hote hain. Emergency information screen par 112 batata hai. Medical advice ka claim na karein.’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‘Services ka category choose karke student available provider ko request bhejta hai. Service Tracking page mein booking ki progress dikh sakti hai, jaise Order Placed, Verified, Ready for Pickup, Service Done ya Out for Delivery.’ Status values may vary based on provider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‘Hostel &amp; Mess Services overview se ye chaar alag pages khulte hain. Room aur mess ka data warden ke update se aata hai. Notices publish hote hi students ko dikhte hain. Requests par warden ka reply aur current status student ke account ke saath linked 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‘Role-based login access control se student, warden, admin aur provider ko apna relevant dashboard milta hai. Student account se admin screens nahi khulte. Admin user-management se warden aur shopkeeper/provider accounts create kar sakta 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Handoff plan is for speaking roles, not a claim about coding contributions. Gopal presents slides 2–7: problem, importance, platform, shopping, orders and payments. Manish presents slides 8–14: medical, services, hostel/mess, role dashboards, scope and demo. Both presenters can explore the live app and answer questions together. Gopal hands over after payment; Manish opens the medical and campus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local Flask environment mein demo hota hai. UPI app mein manual transfer aur admin verification current flow hai. Agle practical steps deployment, gateway integration (agar zaroori ho), notifications aur security/backup checks hain. Inhe future work ke roop mein batayen.’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Manish leads this walkthrough after Gopal's introduction; both presenters can share the screen. (1) Flask server pehle start karke browser mein login URL kholen. (2) Role tab select karein. (3) Apna demo email aur password manually type karein; credentials slides mein nahi hain. (4) Student role se shopping item, order status, payment waiting/verification aur Hostel &amp; Mess pages dikha sakte hain. (5) Agar prepared admin/warden/provider account available ho to role changes alag login se dikhayen. (6) End mein audience ke questions dono milkar lein. Local URL sirf isi machine par chalega jab app server running ho.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f8c10c08104e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97a41dce524e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056271f3a54e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2f75ac74b240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7bc734c287465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a6b79908ea4e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8C37F5-8DFD-43F6-A48F-7BF25845082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938405-4A4E-43DE-B488-20412CEC23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B5FCA6-5D43-4B47-A0F0-CA8C3CBCF3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FDB53C-7E38-4CAE-BAA5-83223B28BE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FEBE09-E97A-4A71-87EA-DC31ACCC8D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628B20-B5F6-4365-A207-28F0FE2E83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0612C3-585F-4994-9B0C-9EBF075660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FEAE653-A2ED-489D-867B-205C116C08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A13560-B0F9-43FA-B130-D3B5B8883F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22065E-FD1E-4786-B587-9DD2F086F0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fc9369a78548b0" /><Relationship Type="http://schemas.openxmlformats.org/officeDocument/2006/relationships/slideLayout" Target="/ppt/slideLayouts/slideLayout1.xml" Id="R7997f81daaf8428a" /><Relationship Type="http://schemas.openxmlformats.org/officeDocument/2006/relationships/slideLayout" Target="/ppt/slideLayouts/slideLayout2.xml" Id="R62934e0dd1604ea4" /><Relationship Type="http://schemas.openxmlformats.org/officeDocument/2006/relationships/slideLayout" Target="/ppt/slideLayouts/slideLayout3.xml" Id="Rb052a67447de4540" /><Relationship Type="http://schemas.openxmlformats.org/officeDocument/2006/relationships/slideLayout" Target="/ppt/slideLayouts/slideLayout4.xml" Id="R19553446dde94a90" /><Relationship Type="http://schemas.openxmlformats.org/officeDocument/2006/relationships/slideLayout" Target="/ppt/slideLayouts/slideLayout5.xml" Id="Rae2bde12f0e04a59" /><Relationship Type="http://schemas.openxmlformats.org/officeDocument/2006/relationships/slideLayout" Target="/ppt/slideLayouts/slideLayout6.xml" Id="Rb0631a43bc1146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97f81daaf8428a"/>
    <p:sldLayoutId xmlns:r="http://schemas.openxmlformats.org/officeDocument/2006/relationships" id="2147483650" r:id="R62934e0dd1604ea4"/>
    <p:sldLayoutId xmlns:r="http://schemas.openxmlformats.org/officeDocument/2006/relationships" id="2147483651" r:id="Rb052a67447de4540"/>
    <p:sldLayoutId xmlns:r="http://schemas.openxmlformats.org/officeDocument/2006/relationships" id="2147483652" r:id="R19553446dde94a90"/>
    <p:sldLayoutId xmlns:r="http://schemas.openxmlformats.org/officeDocument/2006/relationships" id="2147483653" r:id="Rae2bde12f0e04a59"/>
    <p:sldLayoutId xmlns:r="http://schemas.openxmlformats.org/officeDocument/2006/relationships" id="2147483654" r:id="Rb0631a43bc1146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ostelHub Violet">
      <a:dk1>
        <a:srgbClr val="000000"/>
      </a:dk1>
      <a:lt1>
        <a:srgbClr val="FFFFFF"/>
      </a:lt1>
      <a:dk2>
        <a:srgbClr val="10132B"/>
      </a:dk2>
      <a:lt2>
        <a:srgbClr val="EEEAFE"/>
      </a:lt2>
      <a:accent1>
        <a:srgbClr val="7055F5"/>
      </a:accent1>
      <a:accent2>
        <a:srgbClr val="20C6B2"/>
      </a:accent2>
      <a:accent3>
        <a:srgbClr val="FFC857"/>
      </a:accent3>
      <a:accent4>
        <a:srgbClr val="FF796C"/>
      </a:accent4>
      <a:accent5>
        <a:srgbClr val="20264B"/>
      </a:accent5>
      <a:accent6>
        <a:srgbClr val="61A6D8"/>
      </a:accent6>
      <a:hlink>
        <a:srgbClr val="7055F5"/>
      </a:hlink>
      <a:folHlink>
        <a:srgbClr val="A998FF"/>
      </a:folHlink>
    </a:clrScheme>
    <a:fontScheme name="">
      <a:majorFont>
        <a:latin typeface="Segoe UI"/>
        <a:ea typeface=""/>
        <a:cs typeface=""/>
      </a:majorFont>
      <a:minorFont>
        <a:latin typeface="Segoe UI"/>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7d95915fb54d50" /><Relationship Type="http://schemas.openxmlformats.org/officeDocument/2006/relationships/notesSlide" Target="/ppt/notesSlides/notesSlide1.xml" Id="R3d90d961aba245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0e5271b076487b" /><Relationship Type="http://schemas.openxmlformats.org/officeDocument/2006/relationships/notesSlide" Target="/ppt/notesSlides/notesSlide2.xml" Id="Rd73089e7241d42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1dc4b5e6cf4481e" /><Relationship Type="http://schemas.openxmlformats.org/officeDocument/2006/relationships/notesSlide" Target="/ppt/notesSlides/notesSlide3.xml" Id="R70aeabb8d0a24d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7ae678e3284a5b" /><Relationship Type="http://schemas.openxmlformats.org/officeDocument/2006/relationships/notesSlide" Target="/ppt/notesSlides/notesSlide4.xml" Id="R391845d1b15b44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cdb8aac71a84e18" /><Relationship Type="http://schemas.openxmlformats.org/officeDocument/2006/relationships/notesSlide" Target="/ppt/notesSlides/notesSlide5.xml" Id="Re13038689fba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7b20a8720448db" /><Relationship Type="http://schemas.openxmlformats.org/officeDocument/2006/relationships/notesSlide" Target="/ppt/notesSlides/notesSlide6.xml" Id="Rc62cca8e51d546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8eea829df145c0" /><Relationship Type="http://schemas.openxmlformats.org/officeDocument/2006/relationships/notesSlide" Target="/ppt/notesSlides/notesSlide7.xml" Id="R6a045a2c152f4e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d5dc8a4cae46a8" /><Relationship Type="http://schemas.openxmlformats.org/officeDocument/2006/relationships/notesSlide" Target="/ppt/notesSlides/notesSlide8.xml" Id="R1dd5f9b9717a4f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23df4d502d848b8" /><Relationship Type="http://schemas.openxmlformats.org/officeDocument/2006/relationships/notesSlide" Target="/ppt/notesSlides/notesSlide9.xml" Id="R01475223507540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4d9ef2bff1345fd" /><Relationship Type="http://schemas.openxmlformats.org/officeDocument/2006/relationships/notesSlide" Target="/ppt/notesSlides/notesSlide10.xml" Id="R4b379cffa7304f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4891d67d24b431d" /><Relationship Type="http://schemas.openxmlformats.org/officeDocument/2006/relationships/notesSlide" Target="/ppt/notesSlides/notesSlide11.xml" Id="Re3566384034e40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dc98660e76f4385" /><Relationship Type="http://schemas.openxmlformats.org/officeDocument/2006/relationships/notesSlide" Target="/ppt/notesSlides/notesSlide12.xml" Id="R12908cf0c1c84c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3cbc6c508694be3" /><Relationship Type="http://schemas.openxmlformats.org/officeDocument/2006/relationships/notesSlide" Target="/ppt/notesSlides/notesSlide13.xml" Id="R1fa7e88012c34a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704c29a5f346f7" /><Relationship Type="http://schemas.openxmlformats.org/officeDocument/2006/relationships/hyperlink" Target="http://127.0.0.1:5000/login" TargetMode="External" Id="Ra715790e0864483a" /><Relationship Type="http://schemas.openxmlformats.org/officeDocument/2006/relationships/notesSlide" Target="/ppt/notesSlides/notesSlide14.xml" Id="Rf7700c19356348a1" /></Relationships>
</file>

<file path=ppt/slides/slide1.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984EF09-AADD-46AF-BD61-32E01CEDCB7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BD8932-FEE7-4B20-A310-C4C7D8E533FC}"/>
              </a:ext>
            </a:extLst>
          </p:cNvPr>
          <p:cNvSpPr>
            <a:spLocks xmlns:a="http://schemas.openxmlformats.org/drawingml/2006/main" noGrp="1"/>
          </p:cNvSpPr>
          <p:nvPr/>
        </p:nvSpPr>
        <p:spPr>
          <a:xfrm xmlns:a="http://schemas.openxmlformats.org/drawingml/2006/main">
            <a:off x="8620125" y="-904875"/>
            <a:ext cx="4476750" cy="447675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2D0753F-6D62-484B-A0E2-245525B005E1}"/>
              </a:ext>
            </a:extLst>
          </p:cNvPr>
          <p:cNvSpPr>
            <a:spLocks xmlns:a="http://schemas.openxmlformats.org/drawingml/2006/main" noGrp="1"/>
          </p:cNvSpPr>
          <p:nvPr/>
        </p:nvSpPr>
        <p:spPr>
          <a:xfrm xmlns:a="http://schemas.openxmlformats.org/drawingml/2006/main">
            <a:off x="9620250" y="190500"/>
            <a:ext cx="2476500" cy="2476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F0739E-4377-45B5-84B9-DBC1C35AB12B}"/>
              </a:ext>
            </a:extLst>
          </p:cNvPr>
          <p:cNvSpPr>
            <a:spLocks xmlns:a="http://schemas.openxmlformats.org/drawingml/2006/main" noGrp="1"/>
          </p:cNvSpPr>
          <p:nvPr/>
        </p:nvSpPr>
        <p:spPr>
          <a:xfrm xmlns:a="http://schemas.openxmlformats.org/drawingml/2006/main">
            <a:off x="10382250" y="933450"/>
            <a:ext cx="952500" cy="952500"/>
          </a:xfrm>
          <a:prstGeom xmlns:a="http://schemas.openxmlformats.org/drawingml/2006/main" prst="ellipse">
            <a:avLst/>
          </a:prstGeom>
          <a:solidFill xmlns:a="http://schemas.openxmlformats.org/drawingml/2006/main">
            <a:srgbClr val="10132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483093C-DA44-46FC-BFBC-F65D62755168}"/>
              </a:ext>
            </a:extLst>
          </p:cNvPr>
          <p:cNvSpPr>
            <a:spLocks xmlns:a="http://schemas.openxmlformats.org/drawingml/2006/main" noGrp="1"/>
          </p:cNvSpPr>
          <p:nvPr/>
        </p:nvSpPr>
        <p:spPr>
          <a:xfrm xmlns:a="http://schemas.openxmlformats.org/drawingml/2006/main">
            <a:off x="819150" y="6000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20C6B2"/>
                </a:solidFill>
                <a:latin typeface="Bahnschrift"/>
                <a:ea typeface="Bahnschrift"/>
                <a:cs typeface="Bahnschrift"/>
              </a:defRPr>
            </a:defPPr>
          </a:lstStyle>
          <a:p xmlns:a="http://schemas.openxmlformats.org/drawingml/2006/main">
            <a:pPr algn="l">
              <a:defRPr sz="1275" b="1">
                <a:solidFill>
                  <a:srgbClr val="20C6B2"/>
                </a:solidFill>
                <a:latin typeface="Bahnschrift"/>
                <a:ea typeface="Bahnschrift"/>
                <a:cs typeface="Bahnschrift"/>
              </a:defRPr>
            </a:pPr>
            <a:r>
              <a:rPr sz="1275" b="1">
                <a:solidFill>
                  <a:srgbClr val="20C6B2"/>
                </a:solidFill>
                <a:latin typeface="Bahnschrift"/>
                <a:ea typeface="Bahnschrift"/>
                <a:cs typeface="Bahnschrift"/>
              </a:rPr>
              <a:t>THINK X HACKATHON  /  PROJECT PITCH</a:t>
            </a:r>
          </a:p>
        </p:txBody>
      </p:sp>
      <p:sp>
        <p:nvSpPr>
          <p:cNvPr id="6" name="">
            <a:extLst xmlns:a="http://schemas.openxmlformats.org/drawingml/2006/main">
              <a:ext uri="{FF2B5EF4-FFF2-40B4-BE49-F238E27FC236}">
                <a16:creationId xmlns:a16="http://schemas.microsoft.com/office/drawing/2014/main" id="{6CFAF9FE-19D6-4AF7-8232-DA18199F43BA}"/>
              </a:ext>
            </a:extLst>
          </p:cNvPr>
          <p:cNvSpPr>
            <a:spLocks xmlns:a="http://schemas.openxmlformats.org/drawingml/2006/main" noGrp="1"/>
          </p:cNvSpPr>
          <p:nvPr/>
        </p:nvSpPr>
        <p:spPr>
          <a:xfrm xmlns:a="http://schemas.openxmlformats.org/drawingml/2006/main">
            <a:off x="781050" y="1238250"/>
            <a:ext cx="7000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109"/>
          </a:bodyPr>
          <a:lstStyle xmlns:a="http://schemas.openxmlformats.org/drawingml/2006/main">
            <a:defPPr algn="l">
              <a:defRPr sz="6900" b="1">
                <a:solidFill>
                  <a:srgbClr val="FFFFFF"/>
                </a:solidFill>
                <a:latin typeface="Bahnschrift"/>
                <a:ea typeface="Bahnschrift"/>
                <a:cs typeface="Bahnschrift"/>
              </a:defRPr>
            </a:defPPr>
          </a:lstStyle>
          <a:p xmlns:a="http://schemas.openxmlformats.org/drawingml/2006/main">
            <a:pPr algn="l">
              <a:defRPr sz="6900" b="1">
                <a:solidFill>
                  <a:srgbClr val="FFFFFF"/>
                </a:solidFill>
                <a:latin typeface="Bahnschrift"/>
                <a:ea typeface="Bahnschrift"/>
                <a:cs typeface="Bahnschrift"/>
              </a:defRPr>
            </a:pPr>
            <a:r>
              <a:rPr sz="6900" b="1">
                <a:solidFill>
                  <a:srgbClr val="FFFFFF"/>
                </a:solidFill>
                <a:latin typeface="Bahnschrift"/>
                <a:ea typeface="Bahnschrift"/>
                <a:cs typeface="Bahnschrift"/>
              </a:rPr>
              <a:t>HOSTEL</a:t>
            </a:r>
          </a:p>
        </p:txBody>
      </p:sp>
      <p:sp>
        <p:nvSpPr>
          <p:cNvPr id="7" name="">
            <a:extLst xmlns:a="http://schemas.openxmlformats.org/drawingml/2006/main">
              <a:ext uri="{FF2B5EF4-FFF2-40B4-BE49-F238E27FC236}">
                <a16:creationId xmlns:a16="http://schemas.microsoft.com/office/drawing/2014/main" id="{25A5E239-3AB2-4B63-9667-CF88582EB698}"/>
              </a:ext>
            </a:extLst>
          </p:cNvPr>
          <p:cNvSpPr>
            <a:spLocks xmlns:a="http://schemas.openxmlformats.org/drawingml/2006/main" noGrp="1"/>
          </p:cNvSpPr>
          <p:nvPr/>
        </p:nvSpPr>
        <p:spPr>
          <a:xfrm xmlns:a="http://schemas.openxmlformats.org/drawingml/2006/main">
            <a:off x="781050" y="2105025"/>
            <a:ext cx="4953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109"/>
          </a:bodyPr>
          <a:lstStyle xmlns:a="http://schemas.openxmlformats.org/drawingml/2006/main">
            <a:defPPr algn="l">
              <a:defRPr sz="6900" b="1">
                <a:solidFill>
                  <a:srgbClr val="A998FF"/>
                </a:solidFill>
                <a:latin typeface="Bahnschrift"/>
                <a:ea typeface="Bahnschrift"/>
                <a:cs typeface="Bahnschrift"/>
              </a:defRPr>
            </a:defPPr>
          </a:lstStyle>
          <a:p xmlns:a="http://schemas.openxmlformats.org/drawingml/2006/main">
            <a:pPr algn="l">
              <a:defRPr sz="6900" b="1">
                <a:solidFill>
                  <a:srgbClr val="A998FF"/>
                </a:solidFill>
                <a:latin typeface="Bahnschrift"/>
                <a:ea typeface="Bahnschrift"/>
                <a:cs typeface="Bahnschrift"/>
              </a:defRPr>
            </a:pPr>
            <a:r>
              <a:rPr sz="6900" b="1">
                <a:solidFill>
                  <a:srgbClr val="A998FF"/>
                </a:solidFill>
                <a:latin typeface="Bahnschrift"/>
                <a:ea typeface="Bahnschrift"/>
                <a:cs typeface="Bahnschrift"/>
              </a:rPr>
              <a:t>HUB</a:t>
            </a:r>
          </a:p>
        </p:txBody>
      </p:sp>
      <p:sp>
        <p:nvSpPr>
          <p:cNvPr id="8" name="">
            <a:extLst xmlns:a="http://schemas.openxmlformats.org/drawingml/2006/main">
              <a:ext uri="{FF2B5EF4-FFF2-40B4-BE49-F238E27FC236}">
                <a16:creationId xmlns:a16="http://schemas.microsoft.com/office/drawing/2014/main" id="{2D9756CE-97F4-4E19-BBAE-9672AD0194B5}"/>
              </a:ext>
            </a:extLst>
          </p:cNvPr>
          <p:cNvSpPr>
            <a:spLocks xmlns:a="http://schemas.openxmlformats.org/drawingml/2006/main" noGrp="1"/>
          </p:cNvSpPr>
          <p:nvPr/>
        </p:nvSpPr>
        <p:spPr>
          <a:xfrm xmlns:a="http://schemas.openxmlformats.org/drawingml/2006/main">
            <a:off x="847725" y="3257550"/>
            <a:ext cx="676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475" b="0">
                <a:solidFill>
                  <a:srgbClr val="E6E9FA"/>
                </a:solidFill>
                <a:latin typeface="Bahnschrift"/>
                <a:ea typeface="Bahnschrift"/>
                <a:cs typeface="Bahnschrift"/>
              </a:defRPr>
            </a:defPPr>
          </a:lstStyle>
          <a:p xmlns:a="http://schemas.openxmlformats.org/drawingml/2006/main">
            <a:pPr algn="l">
              <a:defRPr sz="2475" b="0">
                <a:solidFill>
                  <a:srgbClr val="E6E9FA"/>
                </a:solidFill>
                <a:latin typeface="Bahnschrift"/>
                <a:ea typeface="Bahnschrift"/>
                <a:cs typeface="Bahnschrift"/>
              </a:defRPr>
            </a:pPr>
            <a:r>
              <a:rPr sz="2475" b="0">
                <a:solidFill>
                  <a:srgbClr val="E6E9FA"/>
                </a:solidFill>
                <a:latin typeface="Bahnschrift"/>
                <a:ea typeface="Bahnschrift"/>
                <a:cs typeface="Bahnschrift"/>
              </a:rPr>
              <a:t>Hostel life, connected.</a:t>
            </a:r>
          </a:p>
        </p:txBody>
      </p:sp>
      <p:sp>
        <p:nvSpPr>
          <p:cNvPr id="9" name="">
            <a:extLst xmlns:a="http://schemas.openxmlformats.org/drawingml/2006/main">
              <a:ext uri="{FF2B5EF4-FFF2-40B4-BE49-F238E27FC236}">
                <a16:creationId xmlns:a16="http://schemas.microsoft.com/office/drawing/2014/main" id="{6D667166-6770-44FD-BB5F-4D99DAB17EC5}"/>
              </a:ext>
            </a:extLst>
          </p:cNvPr>
          <p:cNvSpPr>
            <a:spLocks xmlns:a="http://schemas.openxmlformats.org/drawingml/2006/main" noGrp="1"/>
          </p:cNvSpPr>
          <p:nvPr/>
        </p:nvSpPr>
        <p:spPr>
          <a:xfrm xmlns:a="http://schemas.openxmlformats.org/drawingml/2006/main">
            <a:off x="847725" y="3886200"/>
            <a:ext cx="6858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C6CBE0"/>
                </a:solidFill>
                <a:latin typeface="Segoe UI"/>
                <a:ea typeface="Segoe UI"/>
                <a:cs typeface="Segoe UI"/>
              </a:defRPr>
            </a:defPPr>
          </a:lstStyle>
          <a:p xmlns:a="http://schemas.openxmlformats.org/drawingml/2006/main">
            <a:pPr algn="l">
              <a:defRPr sz="1650" b="0">
                <a:solidFill>
                  <a:srgbClr val="C6CBE0"/>
                </a:solidFill>
                <a:latin typeface="Segoe UI"/>
                <a:ea typeface="Segoe UI"/>
                <a:cs typeface="Segoe UI"/>
              </a:defRPr>
            </a:pPr>
            <a:r>
              <a:rPr sz="1650" b="0">
                <a:solidFill>
                  <a:srgbClr val="C6CBE0"/>
                </a:solidFill>
                <a:latin typeface="Segoe UI"/>
                <a:ea typeface="Segoe UI"/>
                <a:cs typeface="Segoe UI"/>
              </a:rPr>
              <a:t>Shopping, services, health and hostel updates</a:t>
            </a:r>
          </a:p>
          <a:p xmlns:a="http://schemas.openxmlformats.org/drawingml/2006/main">
            <a:pPr algn="l">
              <a:defRPr sz="1650" b="0">
                <a:solidFill>
                  <a:srgbClr val="C6CBE0"/>
                </a:solidFill>
                <a:latin typeface="Segoe UI"/>
                <a:ea typeface="Segoe UI"/>
                <a:cs typeface="Segoe UI"/>
              </a:defRPr>
            </a:pPr>
            <a:r>
              <a:rPr sz="1650" b="0">
                <a:solidFill>
                  <a:srgbClr val="C6CBE0"/>
                </a:solidFill>
                <a:latin typeface="Segoe UI"/>
                <a:ea typeface="Segoe UI"/>
                <a:cs typeface="Segoe UI"/>
              </a:rPr>
              <a:t>in one student-focused web app</a:t>
            </a:r>
          </a:p>
        </p:txBody>
      </p:sp>
      <p:sp>
        <p:nvSpPr>
          <p:cNvPr id="10" name="">
            <a:extLst xmlns:a="http://schemas.openxmlformats.org/drawingml/2006/main">
              <a:ext uri="{FF2B5EF4-FFF2-40B4-BE49-F238E27FC236}">
                <a16:creationId xmlns:a16="http://schemas.microsoft.com/office/drawing/2014/main" id="{97B21FE2-38BF-4E90-832F-B67CBC9B3D7C}"/>
              </a:ext>
            </a:extLst>
          </p:cNvPr>
          <p:cNvSpPr>
            <a:spLocks xmlns:a="http://schemas.openxmlformats.org/drawingml/2006/main" noGrp="1"/>
          </p:cNvSpPr>
          <p:nvPr/>
        </p:nvSpPr>
        <p:spPr>
          <a:xfrm xmlns:a="http://schemas.openxmlformats.org/drawingml/2006/main">
            <a:off x="819150" y="4933950"/>
            <a:ext cx="6972300" cy="1143000"/>
          </a:xfrm>
          <a:prstGeom xmlns:a="http://schemas.openxmlformats.org/drawingml/2006/main" prst="roundRect">
            <a:avLst>
              <a:gd name="adj" fmla="val 15000"/>
            </a:avLst>
          </a:prstGeom>
          <a:solidFill xmlns:a="http://schemas.openxmlformats.org/drawingml/2006/main">
            <a:srgbClr val="20264B"/>
          </a:solidFill>
          <a:ln xmlns:a="http://schemas.openxmlformats.org/drawingml/2006/main" w="9525">
            <a:solidFill>
              <a:srgbClr val="424A70"/>
            </a:solidFill>
            <a:prstDash val="solid"/>
          </a:ln>
        </p:spPr>
      </p:sp>
      <p:sp>
        <p:nvSpPr>
          <p:cNvPr id="11" name="">
            <a:extLst xmlns:a="http://schemas.openxmlformats.org/drawingml/2006/main">
              <a:ext uri="{FF2B5EF4-FFF2-40B4-BE49-F238E27FC236}">
                <a16:creationId xmlns:a16="http://schemas.microsoft.com/office/drawing/2014/main" id="{D28F3791-564A-4E46-B5D3-3F4DA464F332}"/>
              </a:ext>
            </a:extLst>
          </p:cNvPr>
          <p:cNvSpPr>
            <a:spLocks xmlns:a="http://schemas.openxmlformats.org/drawingml/2006/main" noGrp="1"/>
          </p:cNvSpPr>
          <p:nvPr/>
        </p:nvSpPr>
        <p:spPr>
          <a:xfrm xmlns:a="http://schemas.openxmlformats.org/drawingml/2006/main">
            <a:off x="1047750" y="5124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20C6B2"/>
                </a:solidFill>
                <a:latin typeface="Bahnschrift"/>
                <a:ea typeface="Bahnschrift"/>
                <a:cs typeface="Bahnschrift"/>
              </a:defRPr>
            </a:defPPr>
          </a:lstStyle>
          <a:p xmlns:a="http://schemas.openxmlformats.org/drawingml/2006/main">
            <a:pPr algn="l">
              <a:defRPr sz="975" b="1">
                <a:solidFill>
                  <a:srgbClr val="20C6B2"/>
                </a:solidFill>
                <a:latin typeface="Bahnschrift"/>
                <a:ea typeface="Bahnschrift"/>
                <a:cs typeface="Bahnschrift"/>
              </a:defRPr>
            </a:pPr>
            <a:r>
              <a:rPr sz="975" b="1">
                <a:solidFill>
                  <a:srgbClr val="20C6B2"/>
                </a:solidFill>
                <a:latin typeface="Bahnschrift"/>
                <a:ea typeface="Bahnschrift"/>
                <a:cs typeface="Bahnschrift"/>
              </a:rPr>
              <a:t>PRESENTED BY</a:t>
            </a:r>
          </a:p>
        </p:txBody>
      </p:sp>
      <p:sp>
        <p:nvSpPr>
          <p:cNvPr id="12" name="">
            <a:extLst xmlns:a="http://schemas.openxmlformats.org/drawingml/2006/main">
              <a:ext uri="{FF2B5EF4-FFF2-40B4-BE49-F238E27FC236}">
                <a16:creationId xmlns:a16="http://schemas.microsoft.com/office/drawing/2014/main" id="{E595464A-CE4D-4190-9E57-95F5B8935211}"/>
              </a:ext>
            </a:extLst>
          </p:cNvPr>
          <p:cNvSpPr>
            <a:spLocks xmlns:a="http://schemas.openxmlformats.org/drawingml/2006/main" noGrp="1"/>
          </p:cNvSpPr>
          <p:nvPr/>
        </p:nvSpPr>
        <p:spPr>
          <a:xfrm xmlns:a="http://schemas.openxmlformats.org/drawingml/2006/main">
            <a:off x="1047750" y="542925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Bahnschrift"/>
                <a:ea typeface="Bahnschrift"/>
                <a:cs typeface="Bahnschrift"/>
              </a:defRPr>
            </a:defPPr>
          </a:lstStyle>
          <a:p xmlns:a="http://schemas.openxmlformats.org/drawingml/2006/main">
            <a:pPr algn="l">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Gopal Krishan</a:t>
            </a:r>
          </a:p>
        </p:txBody>
      </p:sp>
      <p:sp>
        <p:nvSpPr>
          <p:cNvPr id="13" name="">
            <a:extLst xmlns:a="http://schemas.openxmlformats.org/drawingml/2006/main">
              <a:ext uri="{FF2B5EF4-FFF2-40B4-BE49-F238E27FC236}">
                <a16:creationId xmlns:a16="http://schemas.microsoft.com/office/drawing/2014/main" id="{C6B8D4B4-4F24-4BBC-B086-F12BAC8FAF22}"/>
              </a:ext>
            </a:extLst>
          </p:cNvPr>
          <p:cNvSpPr>
            <a:spLocks xmlns:a="http://schemas.openxmlformats.org/drawingml/2006/main" noGrp="1"/>
          </p:cNvSpPr>
          <p:nvPr/>
        </p:nvSpPr>
        <p:spPr>
          <a:xfrm xmlns:a="http://schemas.openxmlformats.org/drawingml/2006/main">
            <a:off x="4171950" y="5429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Bahnschrift"/>
                <a:ea typeface="Bahnschrift"/>
                <a:cs typeface="Bahnschrift"/>
              </a:defRPr>
            </a:defPPr>
          </a:lstStyle>
          <a:p xmlns:a="http://schemas.openxmlformats.org/drawingml/2006/main">
            <a:pPr algn="l">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Manish Kumar</a:t>
            </a:r>
          </a:p>
        </p:txBody>
      </p:sp>
      <p:sp>
        <p:nvSpPr>
          <p:cNvPr id="14" name="">
            <a:extLst xmlns:a="http://schemas.openxmlformats.org/drawingml/2006/main">
              <a:ext uri="{FF2B5EF4-FFF2-40B4-BE49-F238E27FC236}">
                <a16:creationId xmlns:a16="http://schemas.microsoft.com/office/drawing/2014/main" id="{9074D9FB-D3DE-4EE5-B5B4-5E9A909AC461}"/>
              </a:ext>
            </a:extLst>
          </p:cNvPr>
          <p:cNvSpPr>
            <a:spLocks xmlns:a="http://schemas.openxmlformats.org/drawingml/2006/main" noGrp="1"/>
          </p:cNvSpPr>
          <p:nvPr/>
        </p:nvSpPr>
        <p:spPr>
          <a:xfrm xmlns:a="http://schemas.openxmlformats.org/drawingml/2006/main">
            <a:off x="819150" y="6257925"/>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CFD2E5"/>
                </a:solidFill>
                <a:latin typeface="Bahnschrift"/>
                <a:ea typeface="Bahnschrift"/>
                <a:cs typeface="Bahnschrift"/>
              </a:defRPr>
            </a:defPPr>
          </a:lstStyle>
          <a:p xmlns:a="http://schemas.openxmlformats.org/drawingml/2006/main">
            <a:pPr algn="l">
              <a:defRPr sz="1200" b="0">
                <a:solidFill>
                  <a:srgbClr val="CFD2E5"/>
                </a:solidFill>
                <a:latin typeface="Bahnschrift"/>
                <a:ea typeface="Bahnschrift"/>
                <a:cs typeface="Bahnschrift"/>
              </a:defRPr>
            </a:pPr>
            <a:r>
              <a:rPr sz="1200" b="0">
                <a:solidFill>
                  <a:srgbClr val="CFD2E5"/>
                </a:solidFill>
                <a:latin typeface="Bahnschrift"/>
                <a:ea typeface="Bahnschrift"/>
                <a:cs typeface="Bahnschrift"/>
              </a:rPr>
              <a:t>Government Polytechnic Asthawan, Nalanda</a:t>
            </a:r>
          </a:p>
        </p:txBody>
      </p:sp>
      <p:sp>
        <p:nvSpPr>
          <p:cNvPr id="15" name="">
            <a:extLst xmlns:a="http://schemas.openxmlformats.org/drawingml/2006/main">
              <a:ext uri="{FF2B5EF4-FFF2-40B4-BE49-F238E27FC236}">
                <a16:creationId xmlns:a16="http://schemas.microsoft.com/office/drawing/2014/main" id="{5773CE33-BA0F-4BAF-9C30-2590264B522A}"/>
              </a:ext>
            </a:extLst>
          </p:cNvPr>
          <p:cNvSpPr>
            <a:spLocks xmlns:a="http://schemas.openxmlformats.org/drawingml/2006/main" noGrp="1"/>
          </p:cNvSpPr>
          <p:nvPr/>
        </p:nvSpPr>
        <p:spPr>
          <a:xfrm xmlns:a="http://schemas.openxmlformats.org/drawingml/2006/main">
            <a:off x="8763000" y="3314700"/>
            <a:ext cx="266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75" b="1">
                <a:solidFill>
                  <a:srgbClr val="FFFFFF"/>
                </a:solidFill>
                <a:latin typeface="Bahnschrift"/>
                <a:ea typeface="Bahnschrift"/>
                <a:cs typeface="Bahnschrift"/>
              </a:defRPr>
            </a:defPPr>
          </a:lstStyle>
          <a:p xmlns:a="http://schemas.openxmlformats.org/drawingml/2006/main">
            <a:pPr algn="ctr">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CAMPUS</a:t>
            </a:r>
          </a:p>
          <a:p xmlns:a="http://schemas.openxmlformats.org/drawingml/2006/main">
            <a:pPr algn="ctr">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MADE</a:t>
            </a:r>
          </a:p>
          <a:p xmlns:a="http://schemas.openxmlformats.org/drawingml/2006/main">
            <a:pPr algn="ctr">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CONNECTED</a:t>
            </a:r>
          </a:p>
        </p:txBody>
      </p:sp>
      <p:sp>
        <p:nvSpPr>
          <p:cNvPr id="16" name="">
            <a:extLst xmlns:a="http://schemas.openxmlformats.org/drawingml/2006/main">
              <a:ext uri="{FF2B5EF4-FFF2-40B4-BE49-F238E27FC236}">
                <a16:creationId xmlns:a16="http://schemas.microsoft.com/office/drawing/2014/main" id="{1ADB74F0-DEAF-4F0C-8A69-2A72EBEA139E}"/>
              </a:ext>
            </a:extLst>
          </p:cNvPr>
          <p:cNvSpPr>
            <a:spLocks xmlns:a="http://schemas.openxmlformats.org/drawingml/2006/main" noGrp="1"/>
          </p:cNvSpPr>
          <p:nvPr/>
        </p:nvSpPr>
        <p:spPr>
          <a:xfrm xmlns:a="http://schemas.openxmlformats.org/drawingml/2006/main">
            <a:off x="8629650" y="516255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050" b="1">
                <a:solidFill>
                  <a:srgbClr val="20C6B2"/>
                </a:solidFill>
                <a:latin typeface="Bahnschrift"/>
                <a:ea typeface="Bahnschrift"/>
                <a:cs typeface="Bahnschrift"/>
              </a:defRPr>
            </a:defPPr>
          </a:lstStyle>
          <a:p xmlns:a="http://schemas.openxmlformats.org/drawingml/2006/main">
            <a:pPr algn="ctr">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STUDENT LIFE  ·  ONE PLACE</a:t>
            </a:r>
          </a:p>
        </p:txBody>
      </p:sp>
    </p:spTree>
    <p:extLst>
      <p:ext uri="{BB962C8B-B14F-4D97-AF65-F5344CB8AC3E}">
        <p14:creationId xmlns:p14="http://schemas.microsoft.com/office/powerpoint/2010/main" val="1263411577"/>
      </p:ext>
    </p:extLst>
  </p:cSld>
</p:sld>
</file>

<file path=ppt/slides/slide2.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59D21EF-5A28-47C6-8C4D-76DACD5FB52F}"/>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3B2B93-89E0-4A2D-9A33-5D972A46B676}"/>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CD0798-3787-4BC2-BDBA-4ADCC1A2806B}"/>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THE PROBLEM</a:t>
            </a:r>
          </a:p>
        </p:txBody>
      </p:sp>
      <p:sp>
        <p:nvSpPr>
          <p:cNvPr id="4" name="">
            <a:extLst xmlns:a="http://schemas.openxmlformats.org/drawingml/2006/main">
              <a:ext uri="{FF2B5EF4-FFF2-40B4-BE49-F238E27FC236}">
                <a16:creationId xmlns:a16="http://schemas.microsoft.com/office/drawing/2014/main" id="{A7A01F15-36A9-4D52-AA07-778FB103088E}"/>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53"/>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Before development: everyday tasks were disconnected</a:t>
            </a:r>
          </a:p>
        </p:txBody>
      </p:sp>
      <p:sp>
        <p:nvSpPr>
          <p:cNvPr id="5" name="">
            <a:extLst xmlns:a="http://schemas.openxmlformats.org/drawingml/2006/main">
              <a:ext uri="{FF2B5EF4-FFF2-40B4-BE49-F238E27FC236}">
                <a16:creationId xmlns:a16="http://schemas.microsoft.com/office/drawing/2014/main" id="{A68B2395-B8C1-47A9-9BC7-59080CE20C50}"/>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0CD7169-7C9D-4608-9BC2-30868A22D255}"/>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D1B570B6-FD4F-4778-9475-C1043E743534}"/>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02</a:t>
            </a:r>
          </a:p>
        </p:txBody>
      </p:sp>
      <p:sp>
        <p:nvSpPr>
          <p:cNvPr id="8" name="">
            <a:extLst xmlns:a="http://schemas.openxmlformats.org/drawingml/2006/main">
              <a:ext uri="{FF2B5EF4-FFF2-40B4-BE49-F238E27FC236}">
                <a16:creationId xmlns:a16="http://schemas.microsoft.com/office/drawing/2014/main" id="{C6745EB9-50AA-4852-A5CA-254D229CCE02}"/>
              </a:ext>
            </a:extLst>
          </p:cNvPr>
          <p:cNvSpPr>
            <a:spLocks xmlns:a="http://schemas.openxmlformats.org/drawingml/2006/main" noGrp="1"/>
          </p:cNvSpPr>
          <p:nvPr/>
        </p:nvSpPr>
        <p:spPr>
          <a:xfrm xmlns:a="http://schemas.openxmlformats.org/drawingml/2006/main">
            <a:off x="781050" y="155257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Typical hostel-life gaps this project is designed to address</a:t>
            </a:r>
          </a:p>
        </p:txBody>
      </p:sp>
      <p:sp>
        <p:nvSpPr>
          <p:cNvPr id="9" name="">
            <a:extLst xmlns:a="http://schemas.openxmlformats.org/drawingml/2006/main">
              <a:ext uri="{FF2B5EF4-FFF2-40B4-BE49-F238E27FC236}">
                <a16:creationId xmlns:a16="http://schemas.microsoft.com/office/drawing/2014/main" id="{764AB26B-A835-4504-96D1-06606195E726}"/>
              </a:ext>
            </a:extLst>
          </p:cNvPr>
          <p:cNvSpPr>
            <a:spLocks xmlns:a="http://schemas.openxmlformats.org/drawingml/2006/main" noGrp="1"/>
          </p:cNvSpPr>
          <p:nvPr/>
        </p:nvSpPr>
        <p:spPr>
          <a:xfrm xmlns:a="http://schemas.openxmlformats.org/drawingml/2006/main">
            <a:off x="781050" y="200977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97B5E4CD-9509-4EA2-99C0-9DAE5D28A3A2}"/>
              </a:ext>
            </a:extLst>
          </p:cNvPr>
          <p:cNvSpPr>
            <a:spLocks xmlns:a="http://schemas.openxmlformats.org/drawingml/2006/main" noGrp="1"/>
          </p:cNvSpPr>
          <p:nvPr/>
        </p:nvSpPr>
        <p:spPr>
          <a:xfrm xmlns:a="http://schemas.openxmlformats.org/drawingml/2006/main">
            <a:off x="1447800" y="198120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Finding essentials</a:t>
            </a:r>
          </a:p>
        </p:txBody>
      </p:sp>
      <p:sp>
        <p:nvSpPr>
          <p:cNvPr id="11" name="">
            <a:extLst xmlns:a="http://schemas.openxmlformats.org/drawingml/2006/main">
              <a:ext uri="{FF2B5EF4-FFF2-40B4-BE49-F238E27FC236}">
                <a16:creationId xmlns:a16="http://schemas.microsoft.com/office/drawing/2014/main" id="{6C77BFA5-086C-4FE7-9AE1-2B6FD6BB84A5}"/>
              </a:ext>
            </a:extLst>
          </p:cNvPr>
          <p:cNvSpPr>
            <a:spLocks xmlns:a="http://schemas.openxmlformats.org/drawingml/2006/main" noGrp="1"/>
          </p:cNvSpPr>
          <p:nvPr/>
        </p:nvSpPr>
        <p:spPr>
          <a:xfrm xmlns:a="http://schemas.openxmlformats.org/drawingml/2006/main">
            <a:off x="1447800" y="231457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Students may need to search separately for food, clothing, medicine and nearby services.</a:t>
            </a:r>
          </a:p>
        </p:txBody>
      </p:sp>
      <p:sp>
        <p:nvSpPr>
          <p:cNvPr id="12" name="">
            <a:extLst xmlns:a="http://schemas.openxmlformats.org/drawingml/2006/main">
              <a:ext uri="{FF2B5EF4-FFF2-40B4-BE49-F238E27FC236}">
                <a16:creationId xmlns:a16="http://schemas.microsoft.com/office/drawing/2014/main" id="{747B5C17-A241-47B2-8DC2-8B11ACC34A5F}"/>
              </a:ext>
            </a:extLst>
          </p:cNvPr>
          <p:cNvSpPr>
            <a:spLocks xmlns:a="http://schemas.openxmlformats.org/drawingml/2006/main" noGrp="1"/>
          </p:cNvSpPr>
          <p:nvPr/>
        </p:nvSpPr>
        <p:spPr>
          <a:xfrm xmlns:a="http://schemas.openxmlformats.org/drawingml/2006/main">
            <a:off x="1447800" y="2847975"/>
            <a:ext cx="942975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98D07E-D0C5-4E39-85B5-E43F833B98D0}"/>
              </a:ext>
            </a:extLst>
          </p:cNvPr>
          <p:cNvSpPr>
            <a:spLocks xmlns:a="http://schemas.openxmlformats.org/drawingml/2006/main" noGrp="1"/>
          </p:cNvSpPr>
          <p:nvPr/>
        </p:nvSpPr>
        <p:spPr>
          <a:xfrm xmlns:a="http://schemas.openxmlformats.org/drawingml/2006/main">
            <a:off x="781050" y="29432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984FFDD1-9978-4AF7-871B-7FC4A5E35A69}"/>
              </a:ext>
            </a:extLst>
          </p:cNvPr>
          <p:cNvSpPr>
            <a:spLocks xmlns:a="http://schemas.openxmlformats.org/drawingml/2006/main" noGrp="1"/>
          </p:cNvSpPr>
          <p:nvPr/>
        </p:nvSpPr>
        <p:spPr>
          <a:xfrm xmlns:a="http://schemas.openxmlformats.org/drawingml/2006/main">
            <a:off x="1447800" y="291465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Unclear request status</a:t>
            </a:r>
          </a:p>
        </p:txBody>
      </p:sp>
      <p:sp>
        <p:nvSpPr>
          <p:cNvPr id="15" name="">
            <a:extLst xmlns:a="http://schemas.openxmlformats.org/drawingml/2006/main">
              <a:ext uri="{FF2B5EF4-FFF2-40B4-BE49-F238E27FC236}">
                <a16:creationId xmlns:a16="http://schemas.microsoft.com/office/drawing/2014/main" id="{3E0CAB24-9831-4633-B227-51BC8335DE18}"/>
              </a:ext>
            </a:extLst>
          </p:cNvPr>
          <p:cNvSpPr>
            <a:spLocks xmlns:a="http://schemas.openxmlformats.org/drawingml/2006/main" noGrp="1"/>
          </p:cNvSpPr>
          <p:nvPr/>
        </p:nvSpPr>
        <p:spPr>
          <a:xfrm xmlns:a="http://schemas.openxmlformats.org/drawingml/2006/main">
            <a:off x="1447800" y="324802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A repair or service request can be difficult to follow across separate channels.</a:t>
            </a:r>
          </a:p>
        </p:txBody>
      </p:sp>
      <p:sp>
        <p:nvSpPr>
          <p:cNvPr id="16" name="">
            <a:extLst xmlns:a="http://schemas.openxmlformats.org/drawingml/2006/main">
              <a:ext uri="{FF2B5EF4-FFF2-40B4-BE49-F238E27FC236}">
                <a16:creationId xmlns:a16="http://schemas.microsoft.com/office/drawing/2014/main" id="{7DCA9825-1578-479F-BDDF-A70C0922B7C0}"/>
              </a:ext>
            </a:extLst>
          </p:cNvPr>
          <p:cNvSpPr>
            <a:spLocks xmlns:a="http://schemas.openxmlformats.org/drawingml/2006/main" noGrp="1"/>
          </p:cNvSpPr>
          <p:nvPr/>
        </p:nvSpPr>
        <p:spPr>
          <a:xfrm xmlns:a="http://schemas.openxmlformats.org/drawingml/2006/main">
            <a:off x="1447800" y="3781425"/>
            <a:ext cx="942975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8A0F1C3-775C-4AA8-83F3-5290F7E0157E}"/>
              </a:ext>
            </a:extLst>
          </p:cNvPr>
          <p:cNvSpPr>
            <a:spLocks xmlns:a="http://schemas.openxmlformats.org/drawingml/2006/main" noGrp="1"/>
          </p:cNvSpPr>
          <p:nvPr/>
        </p:nvSpPr>
        <p:spPr>
          <a:xfrm xmlns:a="http://schemas.openxmlformats.org/drawingml/2006/main">
            <a:off x="781050" y="387667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2B895229-F96C-4F36-8B82-B04DF9A339A0}"/>
              </a:ext>
            </a:extLst>
          </p:cNvPr>
          <p:cNvSpPr>
            <a:spLocks xmlns:a="http://schemas.openxmlformats.org/drawingml/2006/main" noGrp="1"/>
          </p:cNvSpPr>
          <p:nvPr/>
        </p:nvSpPr>
        <p:spPr>
          <a:xfrm xmlns:a="http://schemas.openxmlformats.org/drawingml/2006/main">
            <a:off x="1447800" y="384810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Scattered hostel information</a:t>
            </a:r>
          </a:p>
        </p:txBody>
      </p:sp>
      <p:sp>
        <p:nvSpPr>
          <p:cNvPr id="19" name="">
            <a:extLst xmlns:a="http://schemas.openxmlformats.org/drawingml/2006/main">
              <a:ext uri="{FF2B5EF4-FFF2-40B4-BE49-F238E27FC236}">
                <a16:creationId xmlns:a16="http://schemas.microsoft.com/office/drawing/2014/main" id="{874E2317-F5ED-452C-AFFD-7F33279E26FE}"/>
              </a:ext>
            </a:extLst>
          </p:cNvPr>
          <p:cNvSpPr>
            <a:spLocks xmlns:a="http://schemas.openxmlformats.org/drawingml/2006/main" noGrp="1"/>
          </p:cNvSpPr>
          <p:nvPr/>
        </p:nvSpPr>
        <p:spPr>
          <a:xfrm xmlns:a="http://schemas.openxmlformats.org/drawingml/2006/main">
            <a:off x="1447800" y="418147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Room allocation, mess menus and warden notices can be hard to find when shown separately.</a:t>
            </a:r>
          </a:p>
        </p:txBody>
      </p:sp>
      <p:sp>
        <p:nvSpPr>
          <p:cNvPr id="20" name="">
            <a:extLst xmlns:a="http://schemas.openxmlformats.org/drawingml/2006/main">
              <a:ext uri="{FF2B5EF4-FFF2-40B4-BE49-F238E27FC236}">
                <a16:creationId xmlns:a16="http://schemas.microsoft.com/office/drawing/2014/main" id="{36295538-75A3-455C-9DDC-5376AC5BFF20}"/>
              </a:ext>
            </a:extLst>
          </p:cNvPr>
          <p:cNvSpPr>
            <a:spLocks xmlns:a="http://schemas.openxmlformats.org/drawingml/2006/main" noGrp="1"/>
          </p:cNvSpPr>
          <p:nvPr/>
        </p:nvSpPr>
        <p:spPr>
          <a:xfrm xmlns:a="http://schemas.openxmlformats.org/drawingml/2006/main">
            <a:off x="1447800" y="4714875"/>
            <a:ext cx="942975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FA411A6-83CF-4FC9-B77A-BE19F6B2089E}"/>
              </a:ext>
            </a:extLst>
          </p:cNvPr>
          <p:cNvSpPr>
            <a:spLocks xmlns:a="http://schemas.openxmlformats.org/drawingml/2006/main" noGrp="1"/>
          </p:cNvSpPr>
          <p:nvPr/>
        </p:nvSpPr>
        <p:spPr>
          <a:xfrm xmlns:a="http://schemas.openxmlformats.org/drawingml/2006/main">
            <a:off x="781050" y="48101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E1DA77CD-21FB-4E28-A9F3-EFB8FC8B0FE1}"/>
              </a:ext>
            </a:extLst>
          </p:cNvPr>
          <p:cNvSpPr>
            <a:spLocks xmlns:a="http://schemas.openxmlformats.org/drawingml/2006/main" noGrp="1"/>
          </p:cNvSpPr>
          <p:nvPr/>
        </p:nvSpPr>
        <p:spPr>
          <a:xfrm xmlns:a="http://schemas.openxmlformats.org/drawingml/2006/main">
            <a:off x="1447800" y="478155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Payment status clarity</a:t>
            </a:r>
          </a:p>
        </p:txBody>
      </p:sp>
      <p:sp>
        <p:nvSpPr>
          <p:cNvPr id="23" name="">
            <a:extLst xmlns:a="http://schemas.openxmlformats.org/drawingml/2006/main">
              <a:ext uri="{FF2B5EF4-FFF2-40B4-BE49-F238E27FC236}">
                <a16:creationId xmlns:a16="http://schemas.microsoft.com/office/drawing/2014/main" id="{088CDC7C-F2A4-43B9-A7BD-EF2F3C028F84}"/>
              </a:ext>
            </a:extLst>
          </p:cNvPr>
          <p:cNvSpPr>
            <a:spLocks xmlns:a="http://schemas.openxmlformats.org/drawingml/2006/main" noGrp="1"/>
          </p:cNvSpPr>
          <p:nvPr/>
        </p:nvSpPr>
        <p:spPr>
          <a:xfrm xmlns:a="http://schemas.openxmlformats.org/drawingml/2006/main">
            <a:off x="1447800" y="511492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Students need to see which order is unpaid, awaiting verification or confirmed.</a:t>
            </a:r>
          </a:p>
        </p:txBody>
      </p:sp>
    </p:spTree>
    <p:extLst>
      <p:ext uri="{BB962C8B-B14F-4D97-AF65-F5344CB8AC3E}">
        <p14:creationId xmlns:p14="http://schemas.microsoft.com/office/powerpoint/2010/main" val="1834723332"/>
      </p:ext>
    </p:extLst>
  </p:cSld>
</p:sld>
</file>

<file path=ppt/slides/slide3.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F5DFF0D-8D8B-4631-9602-6DD9BEE20CE6}"/>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056421-D9E3-48FC-8997-A47DF255A43A}"/>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5331FC-B03B-48E8-8552-EB5F75EFCB83}"/>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20C6B2"/>
                </a:solidFill>
                <a:latin typeface="Bahnschrift"/>
                <a:ea typeface="Bahnschrift"/>
                <a:cs typeface="Bahnschrift"/>
              </a:defRPr>
            </a:defPPr>
          </a:lstStyle>
          <a:p xmlns:a="http://schemas.openxmlformats.org/drawingml/2006/main">
            <a:pPr algn="l">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PROJECT IMPORTANCE</a:t>
            </a:r>
          </a:p>
        </p:txBody>
      </p:sp>
      <p:sp>
        <p:nvSpPr>
          <p:cNvPr id="4" name="">
            <a:extLst xmlns:a="http://schemas.openxmlformats.org/drawingml/2006/main">
              <a:ext uri="{FF2B5EF4-FFF2-40B4-BE49-F238E27FC236}">
                <a16:creationId xmlns:a16="http://schemas.microsoft.com/office/drawing/2014/main" id="{C9C515ED-E1F8-4B83-9F72-99B15DC6FE44}"/>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FFFFFF"/>
                </a:solidFill>
                <a:latin typeface="Bahnschrift"/>
                <a:ea typeface="Bahnschrift"/>
                <a:cs typeface="Bahnschrift"/>
              </a:defRPr>
            </a:defPPr>
          </a:lstStyle>
          <a:p xmlns:a="http://schemas.openxmlformats.org/drawingml/2006/main">
            <a:pPr algn="l">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Why a shared hostel platform matters</a:t>
            </a:r>
          </a:p>
        </p:txBody>
      </p:sp>
      <p:sp>
        <p:nvSpPr>
          <p:cNvPr id="5" name="">
            <a:extLst xmlns:a="http://schemas.openxmlformats.org/drawingml/2006/main">
              <a:ext uri="{FF2B5EF4-FFF2-40B4-BE49-F238E27FC236}">
                <a16:creationId xmlns:a16="http://schemas.microsoft.com/office/drawing/2014/main" id="{AB5546D3-6B59-4A39-A703-B17FDE8A30D2}"/>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39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1691D62-0058-4055-A901-DAAAA4C1A1A5}"/>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AAA9C4"/>
                </a:solidFill>
                <a:latin typeface="Bahnschrift"/>
                <a:ea typeface="Bahnschrift"/>
                <a:cs typeface="Bahnschrift"/>
              </a:defRPr>
            </a:defPPr>
          </a:lstStyle>
          <a:p xmlns:a="http://schemas.openxmlformats.org/drawingml/2006/main">
            <a:pPr algn="l">
              <a:defRPr sz="900" b="1">
                <a:solidFill>
                  <a:srgbClr val="AAA9C4"/>
                </a:solidFill>
                <a:latin typeface="Bahnschrift"/>
                <a:ea typeface="Bahnschrift"/>
                <a:cs typeface="Bahnschrift"/>
              </a:defRPr>
            </a:pPr>
            <a:r>
              <a:rPr sz="900" b="1">
                <a:solidFill>
                  <a:srgbClr val="AAA9C4"/>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0631EA19-6938-46CB-BA37-9334B96E1629}"/>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A998FF"/>
                </a:solidFill>
                <a:latin typeface="Segoe UI"/>
                <a:ea typeface="Segoe UI"/>
                <a:cs typeface="Segoe UI"/>
              </a:defRPr>
            </a:defPPr>
          </a:lstStyle>
          <a:p xmlns:a="http://schemas.openxmlformats.org/drawingml/2006/main">
            <a:pPr algn="r">
              <a:defRPr sz="1050" b="1">
                <a:solidFill>
                  <a:srgbClr val="A998FF"/>
                </a:solidFill>
                <a:latin typeface="Segoe UI"/>
                <a:ea typeface="Segoe UI"/>
                <a:cs typeface="Segoe UI"/>
              </a:defRPr>
            </a:pPr>
            <a:r>
              <a:rPr sz="1050" b="1">
                <a:solidFill>
                  <a:srgbClr val="A998FF"/>
                </a:solidFill>
                <a:latin typeface="Segoe UI"/>
                <a:ea typeface="Segoe UI"/>
                <a:cs typeface="Segoe UI"/>
              </a:rPr>
              <a:t>03</a:t>
            </a:r>
          </a:p>
        </p:txBody>
      </p:sp>
      <p:sp>
        <p:nvSpPr>
          <p:cNvPr id="8" name="">
            <a:extLst xmlns:a="http://schemas.openxmlformats.org/drawingml/2006/main">
              <a:ext uri="{FF2B5EF4-FFF2-40B4-BE49-F238E27FC236}">
                <a16:creationId xmlns:a16="http://schemas.microsoft.com/office/drawing/2014/main" id="{5FE5FD51-3BC9-4F58-BA9F-3DA2EE3A2EB1}"/>
              </a:ext>
            </a:extLst>
          </p:cNvPr>
          <p:cNvSpPr>
            <a:spLocks xmlns:a="http://schemas.openxmlformats.org/drawingml/2006/main" noGrp="1"/>
          </p:cNvSpPr>
          <p:nvPr/>
        </p:nvSpPr>
        <p:spPr>
          <a:xfrm xmlns:a="http://schemas.openxmlformats.org/drawingml/2006/main">
            <a:off x="781050" y="18097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550" b="1">
                <a:solidFill>
                  <a:srgbClr val="FFFFFF"/>
                </a:solidFill>
                <a:latin typeface="Segoe UI"/>
                <a:ea typeface="Segoe UI"/>
                <a:cs typeface="Segoe UI"/>
              </a:defRPr>
            </a:defPPr>
          </a:lstStyle>
          <a:p xmlns:a="http://schemas.openxmlformats.org/drawingml/2006/main">
            <a:pPr algn="l">
              <a:defRPr sz="2550" b="1">
                <a:solidFill>
                  <a:srgbClr val="FFFFFF"/>
                </a:solidFill>
                <a:latin typeface="Segoe UI"/>
                <a:ea typeface="Segoe UI"/>
                <a:cs typeface="Segoe UI"/>
              </a:defRPr>
            </a:pPr>
            <a:r>
              <a:rPr sz="2550" b="1">
                <a:solidFill>
                  <a:srgbClr val="FFFFFF"/>
                </a:solidFill>
                <a:latin typeface="Segoe UI"/>
                <a:ea typeface="Segoe UI"/>
                <a:cs typeface="Segoe UI"/>
              </a:rPr>
              <a:t>Clarity at the point of action</a:t>
            </a:r>
          </a:p>
        </p:txBody>
      </p:sp>
      <p:sp>
        <p:nvSpPr>
          <p:cNvPr id="9" name="">
            <a:extLst xmlns:a="http://schemas.openxmlformats.org/drawingml/2006/main">
              <a:ext uri="{FF2B5EF4-FFF2-40B4-BE49-F238E27FC236}">
                <a16:creationId xmlns:a16="http://schemas.microsoft.com/office/drawing/2014/main" id="{6FE4E693-DA74-457C-8406-1663B1F8C2CC}"/>
              </a:ext>
            </a:extLst>
          </p:cNvPr>
          <p:cNvSpPr>
            <a:spLocks xmlns:a="http://schemas.openxmlformats.org/drawingml/2006/main" noGrp="1"/>
          </p:cNvSpPr>
          <p:nvPr/>
        </p:nvSpPr>
        <p:spPr>
          <a:xfrm xmlns:a="http://schemas.openxmlformats.org/drawingml/2006/main">
            <a:off x="781050" y="2571750"/>
            <a:ext cx="46672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0">
                <a:solidFill>
                  <a:srgbClr val="E6E9FA"/>
                </a:solidFill>
                <a:latin typeface="Segoe UI"/>
                <a:ea typeface="Segoe UI"/>
                <a:cs typeface="Segoe UI"/>
              </a:defRPr>
            </a:defPPr>
          </a:lstStyle>
          <a:p xmlns:a="http://schemas.openxmlformats.org/drawingml/2006/main">
            <a:pPr algn="l">
              <a:defRPr sz="1800" b="0">
                <a:solidFill>
                  <a:srgbClr val="E6E9FA"/>
                </a:solidFill>
                <a:latin typeface="Segoe UI"/>
                <a:ea typeface="Segoe UI"/>
                <a:cs typeface="Segoe UI"/>
              </a:defRPr>
            </a:pPr>
            <a:r>
              <a:rPr sz="1800" b="0">
                <a:solidFill>
                  <a:srgbClr val="E6E9FA"/>
                </a:solidFill>
                <a:latin typeface="Segoe UI"/>
                <a:ea typeface="Segoe UI"/>
                <a:cs typeface="Segoe UI"/>
              </a:rPr>
              <a:t>Students can find the next step for a purchase, a service request or a hostel update in one signed-in space.</a:t>
            </a:r>
          </a:p>
        </p:txBody>
      </p:sp>
      <p:sp>
        <p:nvSpPr>
          <p:cNvPr id="10" name="">
            <a:extLst xmlns:a="http://schemas.openxmlformats.org/drawingml/2006/main">
              <a:ext uri="{FF2B5EF4-FFF2-40B4-BE49-F238E27FC236}">
                <a16:creationId xmlns:a16="http://schemas.microsoft.com/office/drawing/2014/main" id="{DB2ABA3D-63F2-4A3D-961F-0901E6823916}"/>
              </a:ext>
            </a:extLst>
          </p:cNvPr>
          <p:cNvSpPr>
            <a:spLocks xmlns:a="http://schemas.openxmlformats.org/drawingml/2006/main" noGrp="1"/>
          </p:cNvSpPr>
          <p:nvPr/>
        </p:nvSpPr>
        <p:spPr>
          <a:xfrm xmlns:a="http://schemas.openxmlformats.org/drawingml/2006/main">
            <a:off x="6057900" y="1695450"/>
            <a:ext cx="28575" cy="3924300"/>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EFC4E21-025F-4A05-A6E4-C6CE20261A66}"/>
              </a:ext>
            </a:extLst>
          </p:cNvPr>
          <p:cNvSpPr>
            <a:spLocks xmlns:a="http://schemas.openxmlformats.org/drawingml/2006/main" noGrp="1"/>
          </p:cNvSpPr>
          <p:nvPr/>
        </p:nvSpPr>
        <p:spPr>
          <a:xfrm xmlns:a="http://schemas.openxmlformats.org/drawingml/2006/main">
            <a:off x="6543675" y="18383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01</a:t>
            </a:r>
          </a:p>
        </p:txBody>
      </p:sp>
      <p:sp>
        <p:nvSpPr>
          <p:cNvPr id="12" name="">
            <a:extLst xmlns:a="http://schemas.openxmlformats.org/drawingml/2006/main">
              <a:ext uri="{FF2B5EF4-FFF2-40B4-BE49-F238E27FC236}">
                <a16:creationId xmlns:a16="http://schemas.microsoft.com/office/drawing/2014/main" id="{346E4D25-9106-44CF-9708-60F0C822D252}"/>
              </a:ext>
            </a:extLst>
          </p:cNvPr>
          <p:cNvSpPr>
            <a:spLocks xmlns:a="http://schemas.openxmlformats.org/drawingml/2006/main" noGrp="1"/>
          </p:cNvSpPr>
          <p:nvPr/>
        </p:nvSpPr>
        <p:spPr>
          <a:xfrm xmlns:a="http://schemas.openxmlformats.org/drawingml/2006/main">
            <a:off x="7162800" y="1809750"/>
            <a:ext cx="3762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Students</a:t>
            </a:r>
          </a:p>
        </p:txBody>
      </p:sp>
      <p:sp>
        <p:nvSpPr>
          <p:cNvPr id="13" name="">
            <a:extLst xmlns:a="http://schemas.openxmlformats.org/drawingml/2006/main">
              <a:ext uri="{FF2B5EF4-FFF2-40B4-BE49-F238E27FC236}">
                <a16:creationId xmlns:a16="http://schemas.microsoft.com/office/drawing/2014/main" id="{035A2288-2291-4A00-B29D-EF1B4C1D4469}"/>
              </a:ext>
            </a:extLst>
          </p:cNvPr>
          <p:cNvSpPr>
            <a:spLocks xmlns:a="http://schemas.openxmlformats.org/drawingml/2006/main" noGrp="1"/>
          </p:cNvSpPr>
          <p:nvPr/>
        </p:nvSpPr>
        <p:spPr>
          <a:xfrm xmlns:a="http://schemas.openxmlformats.org/drawingml/2006/main">
            <a:off x="7162800" y="22193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E6E9FA"/>
                </a:solidFill>
                <a:latin typeface="Segoe UI"/>
                <a:ea typeface="Segoe UI"/>
                <a:cs typeface="Segoe UI"/>
              </a:defRPr>
            </a:defPPr>
          </a:lstStyle>
          <a:p xmlns:a="http://schemas.openxmlformats.org/drawingml/2006/main">
            <a:pPr algn="l">
              <a:defRPr sz="1350" b="0">
                <a:solidFill>
                  <a:srgbClr val="E6E9FA"/>
                </a:solidFill>
                <a:latin typeface="Segoe UI"/>
                <a:ea typeface="Segoe UI"/>
                <a:cs typeface="Segoe UI"/>
              </a:defRPr>
            </a:pPr>
            <a:r>
              <a:rPr sz="1350" b="0">
                <a:solidFill>
                  <a:srgbClr val="E6E9FA"/>
                </a:solidFill>
                <a:latin typeface="Segoe UI"/>
                <a:ea typeface="Segoe UI"/>
                <a:cs typeface="Segoe UI"/>
              </a:rPr>
              <a:t>One place for everyday campus needs.</a:t>
            </a:r>
          </a:p>
        </p:txBody>
      </p:sp>
      <p:sp>
        <p:nvSpPr>
          <p:cNvPr id="14" name="">
            <a:extLst xmlns:a="http://schemas.openxmlformats.org/drawingml/2006/main">
              <a:ext uri="{FF2B5EF4-FFF2-40B4-BE49-F238E27FC236}">
                <a16:creationId xmlns:a16="http://schemas.microsoft.com/office/drawing/2014/main" id="{AC6648F2-2E4C-4BF3-8296-8C1AF1DA50F7}"/>
              </a:ext>
            </a:extLst>
          </p:cNvPr>
          <p:cNvSpPr>
            <a:spLocks xmlns:a="http://schemas.openxmlformats.org/drawingml/2006/main" noGrp="1"/>
          </p:cNvSpPr>
          <p:nvPr/>
        </p:nvSpPr>
        <p:spPr>
          <a:xfrm xmlns:a="http://schemas.openxmlformats.org/drawingml/2006/main">
            <a:off x="7162800" y="2876550"/>
            <a:ext cx="4114800" cy="9525"/>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A697DA4-4314-48EB-B54D-E3FA168EAAA6}"/>
              </a:ext>
            </a:extLst>
          </p:cNvPr>
          <p:cNvSpPr>
            <a:spLocks xmlns:a="http://schemas.openxmlformats.org/drawingml/2006/main" noGrp="1"/>
          </p:cNvSpPr>
          <p:nvPr/>
        </p:nvSpPr>
        <p:spPr>
          <a:xfrm xmlns:a="http://schemas.openxmlformats.org/drawingml/2006/main">
            <a:off x="6543675" y="30956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02</a:t>
            </a:r>
          </a:p>
        </p:txBody>
      </p:sp>
      <p:sp>
        <p:nvSpPr>
          <p:cNvPr id="16" name="">
            <a:extLst xmlns:a="http://schemas.openxmlformats.org/drawingml/2006/main">
              <a:ext uri="{FF2B5EF4-FFF2-40B4-BE49-F238E27FC236}">
                <a16:creationId xmlns:a16="http://schemas.microsoft.com/office/drawing/2014/main" id="{A10AF8D7-FF6E-46A9-927B-EAF066EEB343}"/>
              </a:ext>
            </a:extLst>
          </p:cNvPr>
          <p:cNvSpPr>
            <a:spLocks xmlns:a="http://schemas.openxmlformats.org/drawingml/2006/main" noGrp="1"/>
          </p:cNvSpPr>
          <p:nvPr/>
        </p:nvSpPr>
        <p:spPr>
          <a:xfrm xmlns:a="http://schemas.openxmlformats.org/drawingml/2006/main">
            <a:off x="7162800" y="3067050"/>
            <a:ext cx="3762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Wardens</a:t>
            </a:r>
          </a:p>
        </p:txBody>
      </p:sp>
      <p:sp>
        <p:nvSpPr>
          <p:cNvPr id="17" name="">
            <a:extLst xmlns:a="http://schemas.openxmlformats.org/drawingml/2006/main">
              <a:ext uri="{FF2B5EF4-FFF2-40B4-BE49-F238E27FC236}">
                <a16:creationId xmlns:a16="http://schemas.microsoft.com/office/drawing/2014/main" id="{D1BD285D-1958-497B-84B4-875FD4A644CA}"/>
              </a:ext>
            </a:extLst>
          </p:cNvPr>
          <p:cNvSpPr>
            <a:spLocks xmlns:a="http://schemas.openxmlformats.org/drawingml/2006/main" noGrp="1"/>
          </p:cNvSpPr>
          <p:nvPr/>
        </p:nvSpPr>
        <p:spPr>
          <a:xfrm xmlns:a="http://schemas.openxmlformats.org/drawingml/2006/main">
            <a:off x="7162800" y="34766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E6E9FA"/>
                </a:solidFill>
                <a:latin typeface="Segoe UI"/>
                <a:ea typeface="Segoe UI"/>
                <a:cs typeface="Segoe UI"/>
              </a:defRPr>
            </a:defPPr>
          </a:lstStyle>
          <a:p xmlns:a="http://schemas.openxmlformats.org/drawingml/2006/main">
            <a:pPr algn="l">
              <a:defRPr sz="1350" b="0">
                <a:solidFill>
                  <a:srgbClr val="E6E9FA"/>
                </a:solidFill>
                <a:latin typeface="Segoe UI"/>
                <a:ea typeface="Segoe UI"/>
                <a:cs typeface="Segoe UI"/>
              </a:defRPr>
            </a:pPr>
            <a:r>
              <a:rPr sz="1350" b="0">
                <a:solidFill>
                  <a:srgbClr val="E6E9FA"/>
                </a:solidFill>
                <a:latin typeface="Segoe UI"/>
                <a:ea typeface="Segoe UI"/>
                <a:cs typeface="Segoe UI"/>
              </a:rPr>
              <a:t>A clear queue for rooms, mess updates and hostel requests.</a:t>
            </a:r>
          </a:p>
        </p:txBody>
      </p:sp>
      <p:sp>
        <p:nvSpPr>
          <p:cNvPr id="18" name="">
            <a:extLst xmlns:a="http://schemas.openxmlformats.org/drawingml/2006/main">
              <a:ext uri="{FF2B5EF4-FFF2-40B4-BE49-F238E27FC236}">
                <a16:creationId xmlns:a16="http://schemas.microsoft.com/office/drawing/2014/main" id="{BE5A0AD7-BDB9-4D10-8FE2-E0C0151A4CFD}"/>
              </a:ext>
            </a:extLst>
          </p:cNvPr>
          <p:cNvSpPr>
            <a:spLocks xmlns:a="http://schemas.openxmlformats.org/drawingml/2006/main" noGrp="1"/>
          </p:cNvSpPr>
          <p:nvPr/>
        </p:nvSpPr>
        <p:spPr>
          <a:xfrm xmlns:a="http://schemas.openxmlformats.org/drawingml/2006/main">
            <a:off x="7162800" y="4133850"/>
            <a:ext cx="4114800" cy="9525"/>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5368F69-2439-4713-94B9-1250425A2D54}"/>
              </a:ext>
            </a:extLst>
          </p:cNvPr>
          <p:cNvSpPr>
            <a:spLocks xmlns:a="http://schemas.openxmlformats.org/drawingml/2006/main" noGrp="1"/>
          </p:cNvSpPr>
          <p:nvPr/>
        </p:nvSpPr>
        <p:spPr>
          <a:xfrm xmlns:a="http://schemas.openxmlformats.org/drawingml/2006/main">
            <a:off x="6543675" y="43529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03</a:t>
            </a:r>
          </a:p>
        </p:txBody>
      </p:sp>
      <p:sp>
        <p:nvSpPr>
          <p:cNvPr id="20" name="">
            <a:extLst xmlns:a="http://schemas.openxmlformats.org/drawingml/2006/main">
              <a:ext uri="{FF2B5EF4-FFF2-40B4-BE49-F238E27FC236}">
                <a16:creationId xmlns:a16="http://schemas.microsoft.com/office/drawing/2014/main" id="{3F6FB4EE-4BEF-417F-A117-D54AFE4AF338}"/>
              </a:ext>
            </a:extLst>
          </p:cNvPr>
          <p:cNvSpPr>
            <a:spLocks xmlns:a="http://schemas.openxmlformats.org/drawingml/2006/main" noGrp="1"/>
          </p:cNvSpPr>
          <p:nvPr/>
        </p:nvSpPr>
        <p:spPr>
          <a:xfrm xmlns:a="http://schemas.openxmlformats.org/drawingml/2006/main">
            <a:off x="7162800" y="4324350"/>
            <a:ext cx="3762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Administrators</a:t>
            </a:r>
          </a:p>
        </p:txBody>
      </p:sp>
      <p:sp>
        <p:nvSpPr>
          <p:cNvPr id="21" name="">
            <a:extLst xmlns:a="http://schemas.openxmlformats.org/drawingml/2006/main">
              <a:ext uri="{FF2B5EF4-FFF2-40B4-BE49-F238E27FC236}">
                <a16:creationId xmlns:a16="http://schemas.microsoft.com/office/drawing/2014/main" id="{7654B1E1-7897-4DE1-8D74-58F0F51BCB1E}"/>
              </a:ext>
            </a:extLst>
          </p:cNvPr>
          <p:cNvSpPr>
            <a:spLocks xmlns:a="http://schemas.openxmlformats.org/drawingml/2006/main" noGrp="1"/>
          </p:cNvSpPr>
          <p:nvPr/>
        </p:nvSpPr>
        <p:spPr>
          <a:xfrm xmlns:a="http://schemas.openxmlformats.org/drawingml/2006/main">
            <a:off x="7162800" y="47339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E6E9FA"/>
                </a:solidFill>
                <a:latin typeface="Segoe UI"/>
                <a:ea typeface="Segoe UI"/>
                <a:cs typeface="Segoe UI"/>
              </a:defRPr>
            </a:defPPr>
          </a:lstStyle>
          <a:p xmlns:a="http://schemas.openxmlformats.org/drawingml/2006/main">
            <a:pPr algn="l">
              <a:defRPr sz="1350" b="0">
                <a:solidFill>
                  <a:srgbClr val="E6E9FA"/>
                </a:solidFill>
                <a:latin typeface="Segoe UI"/>
                <a:ea typeface="Segoe UI"/>
                <a:cs typeface="Segoe UI"/>
              </a:defRPr>
            </a:pPr>
            <a:r>
              <a:rPr sz="1350" b="0">
                <a:solidFill>
                  <a:srgbClr val="E6E9FA"/>
                </a:solidFill>
                <a:latin typeface="Segoe UI"/>
                <a:ea typeface="Segoe UI"/>
                <a:cs typeface="Segoe UI"/>
              </a:rPr>
              <a:t>Controls for listings, accounts, orders and payment review.</a:t>
            </a:r>
          </a:p>
        </p:txBody>
      </p:sp>
    </p:spTree>
    <p:extLst>
      <p:ext uri="{BB962C8B-B14F-4D97-AF65-F5344CB8AC3E}">
        <p14:creationId xmlns:p14="http://schemas.microsoft.com/office/powerpoint/2010/main" val="1172211143"/>
      </p:ext>
    </p:extLst>
  </p:cSld>
</p:sld>
</file>

<file path=ppt/slides/slide4.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98952D63-0371-40EC-8334-2CB1659F0907}"/>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39C371E-A1F3-45EB-AF7D-32987316AAB5}"/>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66BFE89-6279-4D19-A57D-C826A734257A}"/>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PLATFORM OVERVIEW</a:t>
            </a:r>
          </a:p>
        </p:txBody>
      </p:sp>
      <p:sp>
        <p:nvSpPr>
          <p:cNvPr id="4" name="">
            <a:extLst xmlns:a="http://schemas.openxmlformats.org/drawingml/2006/main">
              <a:ext uri="{FF2B5EF4-FFF2-40B4-BE49-F238E27FC236}">
                <a16:creationId xmlns:a16="http://schemas.microsoft.com/office/drawing/2014/main" id="{C0F3F185-1557-40A2-84E6-0F56EB35DB46}"/>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HostelHub connects people to the right workflow</a:t>
            </a:r>
          </a:p>
        </p:txBody>
      </p:sp>
      <p:sp>
        <p:nvSpPr>
          <p:cNvPr id="5" name="">
            <a:extLst xmlns:a="http://schemas.openxmlformats.org/drawingml/2006/main">
              <a:ext uri="{FF2B5EF4-FFF2-40B4-BE49-F238E27FC236}">
                <a16:creationId xmlns:a16="http://schemas.microsoft.com/office/drawing/2014/main" id="{A234A8F6-492F-46AB-9029-620D89330853}"/>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40803B6-4B8F-4491-88BA-B5373A3FC443}"/>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42701256-EAB5-43A1-867A-0A0A01DAAD70}"/>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04</a:t>
            </a:r>
          </a:p>
        </p:txBody>
      </p:sp>
      <p:sp>
        <p:nvSpPr>
          <p:cNvPr id="8" name="">
            <a:extLst xmlns:a="http://schemas.openxmlformats.org/drawingml/2006/main">
              <a:ext uri="{FF2B5EF4-FFF2-40B4-BE49-F238E27FC236}">
                <a16:creationId xmlns:a16="http://schemas.microsoft.com/office/drawing/2014/main" id="{0AE510E1-540D-4F2F-8863-A09CFB1FBD8E}"/>
              </a:ext>
            </a:extLst>
          </p:cNvPr>
          <p:cNvSpPr>
            <a:spLocks xmlns:a="http://schemas.openxmlformats.org/drawingml/2006/main" noGrp="1"/>
          </p:cNvSpPr>
          <p:nvPr/>
        </p:nvSpPr>
        <p:spPr>
          <a:xfrm xmlns:a="http://schemas.openxmlformats.org/drawingml/2006/main">
            <a:off x="781050" y="1581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One web app with access tailored to each role</a:t>
            </a:r>
          </a:p>
        </p:txBody>
      </p:sp>
      <p:sp>
        <p:nvSpPr>
          <p:cNvPr id="9" name="">
            <a:extLst xmlns:a="http://schemas.openxmlformats.org/drawingml/2006/main">
              <a:ext uri="{FF2B5EF4-FFF2-40B4-BE49-F238E27FC236}">
                <a16:creationId xmlns:a16="http://schemas.microsoft.com/office/drawing/2014/main" id="{CAFF5649-E0DA-4032-A92F-D02C82D2B03C}"/>
              </a:ext>
            </a:extLst>
          </p:cNvPr>
          <p:cNvSpPr>
            <a:spLocks xmlns:a="http://schemas.openxmlformats.org/drawingml/2006/main" noGrp="1"/>
          </p:cNvSpPr>
          <p:nvPr/>
        </p:nvSpPr>
        <p:spPr>
          <a:xfrm xmlns:a="http://schemas.openxmlformats.org/drawingml/2006/main">
            <a:off x="781050" y="2152650"/>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10" name="">
            <a:extLst xmlns:a="http://schemas.openxmlformats.org/drawingml/2006/main">
              <a:ext uri="{FF2B5EF4-FFF2-40B4-BE49-F238E27FC236}">
                <a16:creationId xmlns:a16="http://schemas.microsoft.com/office/drawing/2014/main" id="{46EAAEB4-23B4-474D-B2A6-09E424054DCF}"/>
              </a:ext>
            </a:extLst>
          </p:cNvPr>
          <p:cNvSpPr>
            <a:spLocks xmlns:a="http://schemas.openxmlformats.org/drawingml/2006/main" noGrp="1"/>
          </p:cNvSpPr>
          <p:nvPr/>
        </p:nvSpPr>
        <p:spPr>
          <a:xfrm xmlns:a="http://schemas.openxmlformats.org/drawingml/2006/main">
            <a:off x="781050" y="2152650"/>
            <a:ext cx="57150" cy="62865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FF7B8E-9DC7-4741-9729-D1B6AD26745A}"/>
              </a:ext>
            </a:extLst>
          </p:cNvPr>
          <p:cNvSpPr>
            <a:spLocks xmlns:a="http://schemas.openxmlformats.org/drawingml/2006/main" noGrp="1"/>
          </p:cNvSpPr>
          <p:nvPr/>
        </p:nvSpPr>
        <p:spPr>
          <a:xfrm xmlns:a="http://schemas.openxmlformats.org/drawingml/2006/main">
            <a:off x="1028700" y="22193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Student</a:t>
            </a:r>
          </a:p>
        </p:txBody>
      </p:sp>
      <p:sp>
        <p:nvSpPr>
          <p:cNvPr id="12" name="">
            <a:extLst xmlns:a="http://schemas.openxmlformats.org/drawingml/2006/main">
              <a:ext uri="{FF2B5EF4-FFF2-40B4-BE49-F238E27FC236}">
                <a16:creationId xmlns:a16="http://schemas.microsoft.com/office/drawing/2014/main" id="{3FF57535-AF63-4BCF-AB4F-2C6E6B169C72}"/>
              </a:ext>
            </a:extLst>
          </p:cNvPr>
          <p:cNvSpPr>
            <a:spLocks xmlns:a="http://schemas.openxmlformats.org/drawingml/2006/main" noGrp="1"/>
          </p:cNvSpPr>
          <p:nvPr/>
        </p:nvSpPr>
        <p:spPr>
          <a:xfrm xmlns:a="http://schemas.openxmlformats.org/drawingml/2006/main">
            <a:off x="1028700" y="2495550"/>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Browse and request</a:t>
            </a:r>
          </a:p>
        </p:txBody>
      </p:sp>
      <p:sp>
        <p:nvSpPr>
          <p:cNvPr id="13" name="">
            <a:extLst xmlns:a="http://schemas.openxmlformats.org/drawingml/2006/main">
              <a:ext uri="{FF2B5EF4-FFF2-40B4-BE49-F238E27FC236}">
                <a16:creationId xmlns:a16="http://schemas.microsoft.com/office/drawing/2014/main" id="{633B7A62-870D-4C34-BF5D-6B4F00F13E61}"/>
              </a:ext>
            </a:extLst>
          </p:cNvPr>
          <p:cNvSpPr>
            <a:spLocks xmlns:a="http://schemas.openxmlformats.org/drawingml/2006/main" noGrp="1"/>
          </p:cNvSpPr>
          <p:nvPr/>
        </p:nvSpPr>
        <p:spPr>
          <a:xfrm xmlns:a="http://schemas.openxmlformats.org/drawingml/2006/main">
            <a:off x="781050" y="3057525"/>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14" name="">
            <a:extLst xmlns:a="http://schemas.openxmlformats.org/drawingml/2006/main">
              <a:ext uri="{FF2B5EF4-FFF2-40B4-BE49-F238E27FC236}">
                <a16:creationId xmlns:a16="http://schemas.microsoft.com/office/drawing/2014/main" id="{25BCD53D-E480-4BF2-BE9A-84F726F2C69A}"/>
              </a:ext>
            </a:extLst>
          </p:cNvPr>
          <p:cNvSpPr>
            <a:spLocks xmlns:a="http://schemas.openxmlformats.org/drawingml/2006/main" noGrp="1"/>
          </p:cNvSpPr>
          <p:nvPr/>
        </p:nvSpPr>
        <p:spPr>
          <a:xfrm xmlns:a="http://schemas.openxmlformats.org/drawingml/2006/main">
            <a:off x="781050" y="3057525"/>
            <a:ext cx="57150" cy="62865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7D2F24D-BFDB-41AE-B55D-363EAB84D808}"/>
              </a:ext>
            </a:extLst>
          </p:cNvPr>
          <p:cNvSpPr>
            <a:spLocks xmlns:a="http://schemas.openxmlformats.org/drawingml/2006/main" noGrp="1"/>
          </p:cNvSpPr>
          <p:nvPr/>
        </p:nvSpPr>
        <p:spPr>
          <a:xfrm xmlns:a="http://schemas.openxmlformats.org/drawingml/2006/main">
            <a:off x="1028700" y="31242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Warden</a:t>
            </a:r>
          </a:p>
        </p:txBody>
      </p:sp>
      <p:sp>
        <p:nvSpPr>
          <p:cNvPr id="16" name="">
            <a:extLst xmlns:a="http://schemas.openxmlformats.org/drawingml/2006/main">
              <a:ext uri="{FF2B5EF4-FFF2-40B4-BE49-F238E27FC236}">
                <a16:creationId xmlns:a16="http://schemas.microsoft.com/office/drawing/2014/main" id="{20DA5D9D-00B3-4796-9B38-E417BCD6665B}"/>
              </a:ext>
            </a:extLst>
          </p:cNvPr>
          <p:cNvSpPr>
            <a:spLocks xmlns:a="http://schemas.openxmlformats.org/drawingml/2006/main" noGrp="1"/>
          </p:cNvSpPr>
          <p:nvPr/>
        </p:nvSpPr>
        <p:spPr>
          <a:xfrm xmlns:a="http://schemas.openxmlformats.org/drawingml/2006/main">
            <a:off x="1028700" y="3400425"/>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Manage hostel life</a:t>
            </a:r>
          </a:p>
        </p:txBody>
      </p:sp>
      <p:sp>
        <p:nvSpPr>
          <p:cNvPr id="17" name="">
            <a:extLst xmlns:a="http://schemas.openxmlformats.org/drawingml/2006/main">
              <a:ext uri="{FF2B5EF4-FFF2-40B4-BE49-F238E27FC236}">
                <a16:creationId xmlns:a16="http://schemas.microsoft.com/office/drawing/2014/main" id="{1B96E018-2D48-427B-9804-B76442B8CBCF}"/>
              </a:ext>
            </a:extLst>
          </p:cNvPr>
          <p:cNvSpPr>
            <a:spLocks xmlns:a="http://schemas.openxmlformats.org/drawingml/2006/main" noGrp="1"/>
          </p:cNvSpPr>
          <p:nvPr/>
        </p:nvSpPr>
        <p:spPr>
          <a:xfrm xmlns:a="http://schemas.openxmlformats.org/drawingml/2006/main">
            <a:off x="781050" y="3962400"/>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18" name="">
            <a:extLst xmlns:a="http://schemas.openxmlformats.org/drawingml/2006/main">
              <a:ext uri="{FF2B5EF4-FFF2-40B4-BE49-F238E27FC236}">
                <a16:creationId xmlns:a16="http://schemas.microsoft.com/office/drawing/2014/main" id="{1073C76A-9BDE-4D18-B5C0-7DBBB1CFFE96}"/>
              </a:ext>
            </a:extLst>
          </p:cNvPr>
          <p:cNvSpPr>
            <a:spLocks xmlns:a="http://schemas.openxmlformats.org/drawingml/2006/main" noGrp="1"/>
          </p:cNvSpPr>
          <p:nvPr/>
        </p:nvSpPr>
        <p:spPr>
          <a:xfrm xmlns:a="http://schemas.openxmlformats.org/drawingml/2006/main">
            <a:off x="781050" y="3962400"/>
            <a:ext cx="57150" cy="6286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0645B1E-C514-4C8E-BF06-423677DA07B5}"/>
              </a:ext>
            </a:extLst>
          </p:cNvPr>
          <p:cNvSpPr>
            <a:spLocks xmlns:a="http://schemas.openxmlformats.org/drawingml/2006/main" noGrp="1"/>
          </p:cNvSpPr>
          <p:nvPr/>
        </p:nvSpPr>
        <p:spPr>
          <a:xfrm xmlns:a="http://schemas.openxmlformats.org/drawingml/2006/main">
            <a:off x="1028700" y="40290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Admin</a:t>
            </a:r>
          </a:p>
        </p:txBody>
      </p:sp>
      <p:sp>
        <p:nvSpPr>
          <p:cNvPr id="20" name="">
            <a:extLst xmlns:a="http://schemas.openxmlformats.org/drawingml/2006/main">
              <a:ext uri="{FF2B5EF4-FFF2-40B4-BE49-F238E27FC236}">
                <a16:creationId xmlns:a16="http://schemas.microsoft.com/office/drawing/2014/main" id="{92A95CF5-716D-4E3E-A7F2-A9F3F8C6BD7A}"/>
              </a:ext>
            </a:extLst>
          </p:cNvPr>
          <p:cNvSpPr>
            <a:spLocks xmlns:a="http://schemas.openxmlformats.org/drawingml/2006/main" noGrp="1"/>
          </p:cNvSpPr>
          <p:nvPr/>
        </p:nvSpPr>
        <p:spPr>
          <a:xfrm xmlns:a="http://schemas.openxmlformats.org/drawingml/2006/main">
            <a:off x="1028700" y="4305300"/>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Manage the platform</a:t>
            </a:r>
          </a:p>
        </p:txBody>
      </p:sp>
      <p:sp>
        <p:nvSpPr>
          <p:cNvPr id="21" name="">
            <a:extLst xmlns:a="http://schemas.openxmlformats.org/drawingml/2006/main">
              <a:ext uri="{FF2B5EF4-FFF2-40B4-BE49-F238E27FC236}">
                <a16:creationId xmlns:a16="http://schemas.microsoft.com/office/drawing/2014/main" id="{51ABFEF1-49EF-434C-868E-EA76942C8413}"/>
              </a:ext>
            </a:extLst>
          </p:cNvPr>
          <p:cNvSpPr>
            <a:spLocks xmlns:a="http://schemas.openxmlformats.org/drawingml/2006/main" noGrp="1"/>
          </p:cNvSpPr>
          <p:nvPr/>
        </p:nvSpPr>
        <p:spPr>
          <a:xfrm xmlns:a="http://schemas.openxmlformats.org/drawingml/2006/main">
            <a:off x="781050" y="4867275"/>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22" name="">
            <a:extLst xmlns:a="http://schemas.openxmlformats.org/drawingml/2006/main">
              <a:ext uri="{FF2B5EF4-FFF2-40B4-BE49-F238E27FC236}">
                <a16:creationId xmlns:a16="http://schemas.microsoft.com/office/drawing/2014/main" id="{0435A838-A96C-41F1-8D5C-4BC06AE9249E}"/>
              </a:ext>
            </a:extLst>
          </p:cNvPr>
          <p:cNvSpPr>
            <a:spLocks xmlns:a="http://schemas.openxmlformats.org/drawingml/2006/main" noGrp="1"/>
          </p:cNvSpPr>
          <p:nvPr/>
        </p:nvSpPr>
        <p:spPr>
          <a:xfrm xmlns:a="http://schemas.openxmlformats.org/drawingml/2006/main">
            <a:off x="781050" y="4867275"/>
            <a:ext cx="57150" cy="628650"/>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94CE1CC-561A-4407-900A-F5F1980141F4}"/>
              </a:ext>
            </a:extLst>
          </p:cNvPr>
          <p:cNvSpPr>
            <a:spLocks xmlns:a="http://schemas.openxmlformats.org/drawingml/2006/main" noGrp="1"/>
          </p:cNvSpPr>
          <p:nvPr/>
        </p:nvSpPr>
        <p:spPr>
          <a:xfrm xmlns:a="http://schemas.openxmlformats.org/drawingml/2006/main">
            <a:off x="1028700" y="49339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Shopkeeper / provider</a:t>
            </a:r>
          </a:p>
        </p:txBody>
      </p:sp>
      <p:sp>
        <p:nvSpPr>
          <p:cNvPr id="24" name="">
            <a:extLst xmlns:a="http://schemas.openxmlformats.org/drawingml/2006/main">
              <a:ext uri="{FF2B5EF4-FFF2-40B4-BE49-F238E27FC236}">
                <a16:creationId xmlns:a16="http://schemas.microsoft.com/office/drawing/2014/main" id="{5CA002C6-7923-418A-AD61-0C2F600AC6DF}"/>
              </a:ext>
            </a:extLst>
          </p:cNvPr>
          <p:cNvSpPr>
            <a:spLocks xmlns:a="http://schemas.openxmlformats.org/drawingml/2006/main" noGrp="1"/>
          </p:cNvSpPr>
          <p:nvPr/>
        </p:nvSpPr>
        <p:spPr>
          <a:xfrm xmlns:a="http://schemas.openxmlformats.org/drawingml/2006/main">
            <a:off x="1028700" y="5210175"/>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Publish service availability</a:t>
            </a:r>
          </a:p>
        </p:txBody>
      </p:sp>
      <p:sp>
        <p:nvSpPr>
          <p:cNvPr id="25" name="">
            <a:extLst xmlns:a="http://schemas.openxmlformats.org/drawingml/2006/main">
              <a:ext uri="{FF2B5EF4-FFF2-40B4-BE49-F238E27FC236}">
                <a16:creationId xmlns:a16="http://schemas.microsoft.com/office/drawing/2014/main" id="{9E502F5E-809D-4562-A1B6-8FD867A69CC2}"/>
              </a:ext>
            </a:extLst>
          </p:cNvPr>
          <p:cNvSpPr>
            <a:spLocks xmlns:a="http://schemas.openxmlformats.org/drawingml/2006/main" noGrp="1"/>
          </p:cNvSpPr>
          <p:nvPr/>
        </p:nvSpPr>
        <p:spPr>
          <a:xfrm xmlns:a="http://schemas.openxmlformats.org/drawingml/2006/main">
            <a:off x="3876675" y="2419350"/>
            <a:ext cx="28575" cy="2724150"/>
          </a:xfrm>
          <a:prstGeom xmlns:a="http://schemas.openxmlformats.org/drawingml/2006/main" prst="rect">
            <a:avLst/>
          </a:prstGeom>
          <a:solidFill xmlns:a="http://schemas.openxmlformats.org/drawingml/2006/main">
            <a:srgbClr val="D5D1E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6080F3A-400D-408C-A3A5-1DB96BD15092}"/>
              </a:ext>
            </a:extLst>
          </p:cNvPr>
          <p:cNvSpPr>
            <a:spLocks xmlns:a="http://schemas.openxmlformats.org/drawingml/2006/main" noGrp="1"/>
          </p:cNvSpPr>
          <p:nvPr/>
        </p:nvSpPr>
        <p:spPr>
          <a:xfrm xmlns:a="http://schemas.openxmlformats.org/drawingml/2006/main">
            <a:off x="4533900" y="2876550"/>
            <a:ext cx="2857500" cy="1638300"/>
          </a:xfrm>
          <a:prstGeom xmlns:a="http://schemas.openxmlformats.org/drawingml/2006/main" prst="roundRect">
            <a:avLst>
              <a:gd name="adj" fmla="val 11628"/>
            </a:avLst>
          </a:prstGeom>
          <a:solidFill xmlns:a="http://schemas.openxmlformats.org/drawingml/2006/main">
            <a:srgbClr val="10132B"/>
          </a:solidFill>
          <a:ln xmlns:a="http://schemas.openxmlformats.org/drawingml/2006/main" w="0">
            <a:solidFill>
              <a:srgbClr val="10132B"/>
            </a:solidFill>
            <a:prstDash val="solid"/>
          </a:ln>
        </p:spPr>
      </p:sp>
      <p:sp>
        <p:nvSpPr>
          <p:cNvPr id="27" name="">
            <a:extLst xmlns:a="http://schemas.openxmlformats.org/drawingml/2006/main">
              <a:ext uri="{FF2B5EF4-FFF2-40B4-BE49-F238E27FC236}">
                <a16:creationId xmlns:a16="http://schemas.microsoft.com/office/drawing/2014/main" id="{1E569E92-CA7E-468F-957F-EC1598F49A29}"/>
              </a:ext>
            </a:extLst>
          </p:cNvPr>
          <p:cNvSpPr>
            <a:spLocks xmlns:a="http://schemas.openxmlformats.org/drawingml/2006/main" noGrp="1"/>
          </p:cNvSpPr>
          <p:nvPr/>
        </p:nvSpPr>
        <p:spPr>
          <a:xfrm xmlns:a="http://schemas.openxmlformats.org/drawingml/2006/main">
            <a:off x="4857750" y="3228975"/>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1">
                <a:solidFill>
                  <a:srgbClr val="A998FF"/>
                </a:solidFill>
                <a:latin typeface="Segoe UI"/>
                <a:ea typeface="Segoe UI"/>
                <a:cs typeface="Segoe UI"/>
              </a:defRPr>
            </a:defPPr>
          </a:lstStyle>
          <a:p xmlns:a="http://schemas.openxmlformats.org/drawingml/2006/main">
            <a:pPr algn="ctr">
              <a:defRPr sz="1200" b="1">
                <a:solidFill>
                  <a:srgbClr val="A998FF"/>
                </a:solidFill>
                <a:latin typeface="Segoe UI"/>
                <a:ea typeface="Segoe UI"/>
                <a:cs typeface="Segoe UI"/>
              </a:defRPr>
            </a:pPr>
            <a:r>
              <a:rPr sz="1200" b="1">
                <a:solidFill>
                  <a:srgbClr val="A998FF"/>
                </a:solidFill>
                <a:latin typeface="Segoe UI"/>
                <a:ea typeface="Segoe UI"/>
                <a:cs typeface="Segoe UI"/>
              </a:rPr>
              <a:t>HOSTELHUB</a:t>
            </a:r>
          </a:p>
        </p:txBody>
      </p:sp>
      <p:sp>
        <p:nvSpPr>
          <p:cNvPr id="28" name="">
            <a:extLst xmlns:a="http://schemas.openxmlformats.org/drawingml/2006/main">
              <a:ext uri="{FF2B5EF4-FFF2-40B4-BE49-F238E27FC236}">
                <a16:creationId xmlns:a16="http://schemas.microsoft.com/office/drawing/2014/main" id="{6F11AEE2-C24E-441A-84E1-CFDCA3957A2E}"/>
              </a:ext>
            </a:extLst>
          </p:cNvPr>
          <p:cNvSpPr>
            <a:spLocks xmlns:a="http://schemas.openxmlformats.org/drawingml/2006/main" noGrp="1"/>
          </p:cNvSpPr>
          <p:nvPr/>
        </p:nvSpPr>
        <p:spPr>
          <a:xfrm xmlns:a="http://schemas.openxmlformats.org/drawingml/2006/main">
            <a:off x="4800600" y="3562350"/>
            <a:ext cx="2324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00" b="1">
                <a:solidFill>
                  <a:srgbClr val="FFFFFF"/>
                </a:solidFill>
                <a:latin typeface="Segoe UI"/>
                <a:ea typeface="Segoe UI"/>
                <a:cs typeface="Segoe UI"/>
              </a:defRPr>
            </a:defPPr>
          </a:lstStyle>
          <a:p xmlns:a="http://schemas.openxmlformats.org/drawingml/2006/main">
            <a:pPr algn="ctr">
              <a:defRPr sz="2100" b="1">
                <a:solidFill>
                  <a:srgbClr val="FFFFFF"/>
                </a:solidFill>
                <a:latin typeface="Segoe UI"/>
                <a:ea typeface="Segoe UI"/>
                <a:cs typeface="Segoe UI"/>
              </a:defRPr>
            </a:pPr>
            <a:r>
              <a:rPr sz="2100" b="1">
                <a:solidFill>
                  <a:srgbClr val="FFFFFF"/>
                </a:solidFill>
                <a:latin typeface="Segoe UI"/>
                <a:ea typeface="Segoe UI"/>
                <a:cs typeface="Segoe UI"/>
              </a:rPr>
              <a:t>Role-based</a:t>
            </a:r>
          </a:p>
          <a:p xmlns:a="http://schemas.openxmlformats.org/drawingml/2006/main">
            <a:pPr algn="ctr">
              <a:defRPr sz="2100" b="1">
                <a:solidFill>
                  <a:srgbClr val="FFFFFF"/>
                </a:solidFill>
                <a:latin typeface="Segoe UI"/>
                <a:ea typeface="Segoe UI"/>
                <a:cs typeface="Segoe UI"/>
              </a:defRPr>
            </a:pPr>
            <a:r>
              <a:rPr sz="2100" b="1">
                <a:solidFill>
                  <a:srgbClr val="FFFFFF"/>
                </a:solidFill>
                <a:latin typeface="Segoe UI"/>
                <a:ea typeface="Segoe UI"/>
                <a:cs typeface="Segoe UI"/>
              </a:rPr>
              <a:t>web application</a:t>
            </a:r>
          </a:p>
        </p:txBody>
      </p:sp>
      <p:sp>
        <p:nvSpPr>
          <p:cNvPr id="29" name="">
            <a:extLst xmlns:a="http://schemas.openxmlformats.org/drawingml/2006/main">
              <a:ext uri="{FF2B5EF4-FFF2-40B4-BE49-F238E27FC236}">
                <a16:creationId xmlns:a16="http://schemas.microsoft.com/office/drawing/2014/main" id="{37B348F7-839C-4289-BEED-87129AD7C3EE}"/>
              </a:ext>
            </a:extLst>
          </p:cNvPr>
          <p:cNvSpPr>
            <a:spLocks xmlns:a="http://schemas.openxmlformats.org/drawingml/2006/main" noGrp="1"/>
          </p:cNvSpPr>
          <p:nvPr/>
        </p:nvSpPr>
        <p:spPr>
          <a:xfrm xmlns:a="http://schemas.openxmlformats.org/drawingml/2006/main">
            <a:off x="8001000" y="2190750"/>
            <a:ext cx="28575" cy="3095625"/>
          </a:xfrm>
          <a:prstGeom xmlns:a="http://schemas.openxmlformats.org/drawingml/2006/main" prst="rect">
            <a:avLst/>
          </a:prstGeom>
          <a:solidFill xmlns:a="http://schemas.openxmlformats.org/drawingml/2006/main">
            <a:srgbClr val="D5D1E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59AE709-C70A-4AAA-B67E-69147CB06197}"/>
              </a:ext>
            </a:extLst>
          </p:cNvPr>
          <p:cNvSpPr>
            <a:spLocks xmlns:a="http://schemas.openxmlformats.org/drawingml/2006/main" noGrp="1"/>
          </p:cNvSpPr>
          <p:nvPr/>
        </p:nvSpPr>
        <p:spPr>
          <a:xfrm xmlns:a="http://schemas.openxmlformats.org/drawingml/2006/main">
            <a:off x="8524875" y="20764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Segoe UI"/>
                <a:ea typeface="Segoe UI"/>
                <a:cs typeface="Segoe UI"/>
              </a:defRPr>
            </a:defPPr>
          </a:lstStyle>
          <a:p xmlns:a="http://schemas.openxmlformats.org/drawingml/2006/main">
            <a:pPr algn="l">
              <a:defRPr sz="1050" b="1">
                <a:solidFill>
                  <a:srgbClr val="7055F5"/>
                </a:solidFill>
                <a:latin typeface="Segoe UI"/>
                <a:ea typeface="Segoe UI"/>
                <a:cs typeface="Segoe UI"/>
              </a:defRPr>
            </a:pPr>
            <a:r>
              <a:rPr sz="1050" b="1">
                <a:solidFill>
                  <a:srgbClr val="7055F5"/>
                </a:solidFill>
                <a:latin typeface="Segoe UI"/>
                <a:ea typeface="Segoe UI"/>
                <a:cs typeface="Segoe UI"/>
              </a:rPr>
              <a:t>CONNECTED MODULES</a:t>
            </a:r>
          </a:p>
        </p:txBody>
      </p:sp>
      <p:sp>
        <p:nvSpPr>
          <p:cNvPr id="31" name="">
            <a:extLst xmlns:a="http://schemas.openxmlformats.org/drawingml/2006/main">
              <a:ext uri="{FF2B5EF4-FFF2-40B4-BE49-F238E27FC236}">
                <a16:creationId xmlns:a16="http://schemas.microsoft.com/office/drawing/2014/main" id="{E35B03EF-022C-4CF6-91E0-241C492E03CA}"/>
              </a:ext>
            </a:extLst>
          </p:cNvPr>
          <p:cNvSpPr>
            <a:spLocks xmlns:a="http://schemas.openxmlformats.org/drawingml/2006/main" noGrp="1"/>
          </p:cNvSpPr>
          <p:nvPr/>
        </p:nvSpPr>
        <p:spPr>
          <a:xfrm xmlns:a="http://schemas.openxmlformats.org/drawingml/2006/main">
            <a:off x="8524875" y="2562225"/>
            <a:ext cx="95250" cy="9525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2B3C159-CB3D-4DEB-83C9-69CE3A8164B8}"/>
              </a:ext>
            </a:extLst>
          </p:cNvPr>
          <p:cNvSpPr>
            <a:spLocks xmlns:a="http://schemas.openxmlformats.org/drawingml/2006/main" noGrp="1"/>
          </p:cNvSpPr>
          <p:nvPr/>
        </p:nvSpPr>
        <p:spPr>
          <a:xfrm xmlns:a="http://schemas.openxmlformats.org/drawingml/2006/main">
            <a:off x="8801100" y="25050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171B38"/>
                </a:solidFill>
                <a:latin typeface="Segoe UI"/>
                <a:ea typeface="Segoe UI"/>
                <a:cs typeface="Segoe UI"/>
              </a:defRPr>
            </a:defPPr>
          </a:lstStyle>
          <a:p xmlns:a="http://schemas.openxmlformats.org/drawingml/2006/main">
            <a:pPr algn="l">
              <a:defRPr sz="1425" b="1">
                <a:solidFill>
                  <a:srgbClr val="171B38"/>
                </a:solidFill>
                <a:latin typeface="Segoe UI"/>
                <a:ea typeface="Segoe UI"/>
                <a:cs typeface="Segoe UI"/>
              </a:defRPr>
            </a:pPr>
            <a:r>
              <a:rPr sz="1425" b="1">
                <a:solidFill>
                  <a:srgbClr val="171B38"/>
                </a:solidFill>
                <a:latin typeface="Segoe UI"/>
                <a:ea typeface="Segoe UI"/>
                <a:cs typeface="Segoe UI"/>
              </a:rPr>
              <a:t>Marketplace and orders</a:t>
            </a:r>
          </a:p>
        </p:txBody>
      </p:sp>
      <p:sp>
        <p:nvSpPr>
          <p:cNvPr id="33" name="">
            <a:extLst xmlns:a="http://schemas.openxmlformats.org/drawingml/2006/main">
              <a:ext uri="{FF2B5EF4-FFF2-40B4-BE49-F238E27FC236}">
                <a16:creationId xmlns:a16="http://schemas.microsoft.com/office/drawing/2014/main" id="{EA10F900-472F-4FA6-9F3D-A179061DDB9A}"/>
              </a:ext>
            </a:extLst>
          </p:cNvPr>
          <p:cNvSpPr>
            <a:spLocks xmlns:a="http://schemas.openxmlformats.org/drawingml/2006/main" noGrp="1"/>
          </p:cNvSpPr>
          <p:nvPr/>
        </p:nvSpPr>
        <p:spPr>
          <a:xfrm xmlns:a="http://schemas.openxmlformats.org/drawingml/2006/main">
            <a:off x="8524875" y="3209925"/>
            <a:ext cx="95250" cy="9525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9248619-FE0F-4007-923C-849BA3454C12}"/>
              </a:ext>
            </a:extLst>
          </p:cNvPr>
          <p:cNvSpPr>
            <a:spLocks xmlns:a="http://schemas.openxmlformats.org/drawingml/2006/main" noGrp="1"/>
          </p:cNvSpPr>
          <p:nvPr/>
        </p:nvSpPr>
        <p:spPr>
          <a:xfrm xmlns:a="http://schemas.openxmlformats.org/drawingml/2006/main">
            <a:off x="8801100" y="31527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Medical and campus services</a:t>
            </a:r>
          </a:p>
        </p:txBody>
      </p:sp>
      <p:sp>
        <p:nvSpPr>
          <p:cNvPr id="35" name="">
            <a:extLst xmlns:a="http://schemas.openxmlformats.org/drawingml/2006/main">
              <a:ext uri="{FF2B5EF4-FFF2-40B4-BE49-F238E27FC236}">
                <a16:creationId xmlns:a16="http://schemas.microsoft.com/office/drawing/2014/main" id="{1675043D-5696-4947-A4A7-23744229946F}"/>
              </a:ext>
            </a:extLst>
          </p:cNvPr>
          <p:cNvSpPr>
            <a:spLocks xmlns:a="http://schemas.openxmlformats.org/drawingml/2006/main" noGrp="1"/>
          </p:cNvSpPr>
          <p:nvPr/>
        </p:nvSpPr>
        <p:spPr>
          <a:xfrm xmlns:a="http://schemas.openxmlformats.org/drawingml/2006/main">
            <a:off x="8524875" y="3857625"/>
            <a:ext cx="95250" cy="952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54BDF8E-265C-4139-8E52-E985E71E36C7}"/>
              </a:ext>
            </a:extLst>
          </p:cNvPr>
          <p:cNvSpPr>
            <a:spLocks xmlns:a="http://schemas.openxmlformats.org/drawingml/2006/main" noGrp="1"/>
          </p:cNvSpPr>
          <p:nvPr/>
        </p:nvSpPr>
        <p:spPr>
          <a:xfrm xmlns:a="http://schemas.openxmlformats.org/drawingml/2006/main">
            <a:off x="8801100" y="38004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Hostel, rooms and mess</a:t>
            </a:r>
          </a:p>
        </p:txBody>
      </p:sp>
      <p:sp>
        <p:nvSpPr>
          <p:cNvPr id="37" name="">
            <a:extLst xmlns:a="http://schemas.openxmlformats.org/drawingml/2006/main">
              <a:ext uri="{FF2B5EF4-FFF2-40B4-BE49-F238E27FC236}">
                <a16:creationId xmlns:a16="http://schemas.microsoft.com/office/drawing/2014/main" id="{792D8F5E-A52E-4464-8F87-CF4D36ABFF36}"/>
              </a:ext>
            </a:extLst>
          </p:cNvPr>
          <p:cNvSpPr>
            <a:spLocks xmlns:a="http://schemas.openxmlformats.org/drawingml/2006/main" noGrp="1"/>
          </p:cNvSpPr>
          <p:nvPr/>
        </p:nvSpPr>
        <p:spPr>
          <a:xfrm xmlns:a="http://schemas.openxmlformats.org/drawingml/2006/main">
            <a:off x="8524875" y="4505325"/>
            <a:ext cx="95250" cy="95250"/>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D60694D-92F9-4A83-A2B5-36A726ACC43F}"/>
              </a:ext>
            </a:extLst>
          </p:cNvPr>
          <p:cNvSpPr>
            <a:spLocks xmlns:a="http://schemas.openxmlformats.org/drawingml/2006/main" noGrp="1"/>
          </p:cNvSpPr>
          <p:nvPr/>
        </p:nvSpPr>
        <p:spPr>
          <a:xfrm xmlns:a="http://schemas.openxmlformats.org/drawingml/2006/main">
            <a:off x="8801100" y="44481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Notices and request tracking</a:t>
            </a:r>
          </a:p>
        </p:txBody>
      </p:sp>
      <p:sp>
        <p:nvSpPr>
          <p:cNvPr id="39" name="">
            <a:extLst xmlns:a="http://schemas.openxmlformats.org/drawingml/2006/main">
              <a:ext uri="{FF2B5EF4-FFF2-40B4-BE49-F238E27FC236}">
                <a16:creationId xmlns:a16="http://schemas.microsoft.com/office/drawing/2014/main" id="{F2313F92-A33E-49D9-8CC2-B3E791C6D847}"/>
              </a:ext>
            </a:extLst>
          </p:cNvPr>
          <p:cNvSpPr>
            <a:spLocks xmlns:a="http://schemas.openxmlformats.org/drawingml/2006/main" noGrp="1"/>
          </p:cNvSpPr>
          <p:nvPr/>
        </p:nvSpPr>
        <p:spPr>
          <a:xfrm xmlns:a="http://schemas.openxmlformats.org/drawingml/2006/main">
            <a:off x="3562350" y="3181350"/>
            <a:ext cx="971550" cy="28575"/>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BD23206-505F-410D-9263-A07FC9950295}"/>
              </a:ext>
            </a:extLst>
          </p:cNvPr>
          <p:cNvSpPr>
            <a:spLocks xmlns:a="http://schemas.openxmlformats.org/drawingml/2006/main" noGrp="1"/>
          </p:cNvSpPr>
          <p:nvPr/>
        </p:nvSpPr>
        <p:spPr>
          <a:xfrm xmlns:a="http://schemas.openxmlformats.org/drawingml/2006/main">
            <a:off x="7391400" y="3676650"/>
            <a:ext cx="609600" cy="28575"/>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Tree>
    <p:extLst>
      <p:ext uri="{BB962C8B-B14F-4D97-AF65-F5344CB8AC3E}">
        <p14:creationId xmlns:p14="http://schemas.microsoft.com/office/powerpoint/2010/main" val="1692539800"/>
      </p:ext>
    </p:extLst>
  </p:cSld>
</p:sld>
</file>

<file path=ppt/slides/slide5.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F75CAEA-43D4-4570-A149-2171A761D2D6}"/>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C30D09-4EEE-47BC-86ED-7E8F74316630}"/>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D077763-ABF2-4295-B13A-8E50C3F1244A}"/>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STUDENT EXPERIENCE</a:t>
            </a:r>
          </a:p>
        </p:txBody>
      </p:sp>
      <p:sp>
        <p:nvSpPr>
          <p:cNvPr id="4" name="">
            <a:extLst xmlns:a="http://schemas.openxmlformats.org/drawingml/2006/main">
              <a:ext uri="{FF2B5EF4-FFF2-40B4-BE49-F238E27FC236}">
                <a16:creationId xmlns:a16="http://schemas.microsoft.com/office/drawing/2014/main" id="{5599244D-A1EF-4A59-B4C7-553D7BECC2CF}"/>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Student marketplace and product discovery</a:t>
            </a:r>
          </a:p>
        </p:txBody>
      </p:sp>
      <p:sp>
        <p:nvSpPr>
          <p:cNvPr id="5" name="">
            <a:extLst xmlns:a="http://schemas.openxmlformats.org/drawingml/2006/main">
              <a:ext uri="{FF2B5EF4-FFF2-40B4-BE49-F238E27FC236}">
                <a16:creationId xmlns:a16="http://schemas.microsoft.com/office/drawing/2014/main" id="{67DD9AB3-8656-4311-A6D5-6B1D0BB859CA}"/>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592D420-A9BB-44E1-AFE5-1F748E362075}"/>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57C5A677-CD41-4400-9C5C-6EEA7EE59BB0}"/>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05</a:t>
            </a:r>
          </a:p>
        </p:txBody>
      </p:sp>
      <p:sp>
        <p:nvSpPr>
          <p:cNvPr id="8" name="">
            <a:extLst xmlns:a="http://schemas.openxmlformats.org/drawingml/2006/main">
              <a:ext uri="{FF2B5EF4-FFF2-40B4-BE49-F238E27FC236}">
                <a16:creationId xmlns:a16="http://schemas.microsoft.com/office/drawing/2014/main" id="{90927F27-2146-4A54-871C-B78FB1481EB6}"/>
              </a:ext>
            </a:extLst>
          </p:cNvPr>
          <p:cNvSpPr>
            <a:spLocks xmlns:a="http://schemas.openxmlformats.org/drawingml/2006/main" noGrp="1"/>
          </p:cNvSpPr>
          <p:nvPr/>
        </p:nvSpPr>
        <p:spPr>
          <a:xfrm xmlns:a="http://schemas.openxmlformats.org/drawingml/2006/main">
            <a:off x="781050" y="1581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A product journey from discovery to follow-up</a:t>
            </a:r>
          </a:p>
        </p:txBody>
      </p:sp>
      <p:sp>
        <p:nvSpPr>
          <p:cNvPr id="9" name="">
            <a:extLst xmlns:a="http://schemas.openxmlformats.org/drawingml/2006/main">
              <a:ext uri="{FF2B5EF4-FFF2-40B4-BE49-F238E27FC236}">
                <a16:creationId xmlns:a16="http://schemas.microsoft.com/office/drawing/2014/main" id="{C2405728-E039-4AB7-A288-66AC21632E9F}"/>
              </a:ext>
            </a:extLst>
          </p:cNvPr>
          <p:cNvSpPr>
            <a:spLocks xmlns:a="http://schemas.openxmlformats.org/drawingml/2006/main" noGrp="1"/>
          </p:cNvSpPr>
          <p:nvPr/>
        </p:nvSpPr>
        <p:spPr>
          <a:xfrm xmlns:a="http://schemas.openxmlformats.org/drawingml/2006/main">
            <a:off x="7810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7055F5"/>
                </a:solidFill>
                <a:latin typeface="Segoe UI"/>
                <a:ea typeface="Segoe UI"/>
                <a:cs typeface="Segoe UI"/>
              </a:defRPr>
            </a:defPPr>
          </a:lstStyle>
          <a:p xmlns:a="http://schemas.openxmlformats.org/drawingml/2006/main">
            <a:pPr algn="l">
              <a:defRPr sz="3000" b="1">
                <a:solidFill>
                  <a:srgbClr val="7055F5"/>
                </a:solidFill>
                <a:latin typeface="Segoe UI"/>
                <a:ea typeface="Segoe UI"/>
                <a:cs typeface="Segoe UI"/>
              </a:defRPr>
            </a:pPr>
            <a:r>
              <a:rPr sz="3000"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5173496C-76EB-40A0-ABA6-C37E7D6031C9}"/>
              </a:ext>
            </a:extLst>
          </p:cNvPr>
          <p:cNvSpPr>
            <a:spLocks xmlns:a="http://schemas.openxmlformats.org/drawingml/2006/main" noGrp="1"/>
          </p:cNvSpPr>
          <p:nvPr/>
        </p:nvSpPr>
        <p:spPr>
          <a:xfrm xmlns:a="http://schemas.openxmlformats.org/drawingml/2006/main">
            <a:off x="781050" y="3067050"/>
            <a:ext cx="2143125" cy="381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47110C-A4FC-41F6-B852-9BFCF60007BA}"/>
              </a:ext>
            </a:extLst>
          </p:cNvPr>
          <p:cNvSpPr>
            <a:spLocks xmlns:a="http://schemas.openxmlformats.org/drawingml/2006/main" noGrp="1"/>
          </p:cNvSpPr>
          <p:nvPr/>
        </p:nvSpPr>
        <p:spPr>
          <a:xfrm xmlns:a="http://schemas.openxmlformats.org/drawingml/2006/main">
            <a:off x="7810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Browse</a:t>
            </a:r>
          </a:p>
        </p:txBody>
      </p:sp>
      <p:sp>
        <p:nvSpPr>
          <p:cNvPr id="12" name="">
            <a:extLst xmlns:a="http://schemas.openxmlformats.org/drawingml/2006/main">
              <a:ext uri="{FF2B5EF4-FFF2-40B4-BE49-F238E27FC236}">
                <a16:creationId xmlns:a16="http://schemas.microsoft.com/office/drawing/2014/main" id="{9AF3EE45-8E8A-4821-8135-3C629F6D151A}"/>
              </a:ext>
            </a:extLst>
          </p:cNvPr>
          <p:cNvSpPr>
            <a:spLocks xmlns:a="http://schemas.openxmlformats.org/drawingml/2006/main" noGrp="1"/>
          </p:cNvSpPr>
          <p:nvPr/>
        </p:nvSpPr>
        <p:spPr>
          <a:xfrm xmlns:a="http://schemas.openxmlformats.org/drawingml/2006/main">
            <a:off x="7810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Explore available products by category and shop.</a:t>
            </a:r>
          </a:p>
        </p:txBody>
      </p:sp>
      <p:sp>
        <p:nvSpPr>
          <p:cNvPr id="13" name="">
            <a:extLst xmlns:a="http://schemas.openxmlformats.org/drawingml/2006/main">
              <a:ext uri="{FF2B5EF4-FFF2-40B4-BE49-F238E27FC236}">
                <a16:creationId xmlns:a16="http://schemas.microsoft.com/office/drawing/2014/main" id="{8C2DC12C-4E61-4EBB-9D3B-97E9F7D5EB12}"/>
              </a:ext>
            </a:extLst>
          </p:cNvPr>
          <p:cNvSpPr>
            <a:spLocks xmlns:a="http://schemas.openxmlformats.org/drawingml/2006/main" noGrp="1"/>
          </p:cNvSpPr>
          <p:nvPr/>
        </p:nvSpPr>
        <p:spPr>
          <a:xfrm xmlns:a="http://schemas.openxmlformats.org/drawingml/2006/main">
            <a:off x="35242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20C6B2"/>
                </a:solidFill>
                <a:latin typeface="Segoe UI"/>
                <a:ea typeface="Segoe UI"/>
                <a:cs typeface="Segoe UI"/>
              </a:defRPr>
            </a:defPPr>
          </a:lstStyle>
          <a:p xmlns:a="http://schemas.openxmlformats.org/drawingml/2006/main">
            <a:pPr algn="l">
              <a:defRPr sz="3000" b="1">
                <a:solidFill>
                  <a:srgbClr val="20C6B2"/>
                </a:solidFill>
                <a:latin typeface="Segoe UI"/>
                <a:ea typeface="Segoe UI"/>
                <a:cs typeface="Segoe UI"/>
              </a:defRPr>
            </a:pPr>
            <a:r>
              <a:rPr sz="3000" b="1">
                <a:solidFill>
                  <a:srgbClr val="20C6B2"/>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8F919B2C-43F8-4C92-8077-476550158856}"/>
              </a:ext>
            </a:extLst>
          </p:cNvPr>
          <p:cNvSpPr>
            <a:spLocks xmlns:a="http://schemas.openxmlformats.org/drawingml/2006/main" noGrp="1"/>
          </p:cNvSpPr>
          <p:nvPr/>
        </p:nvSpPr>
        <p:spPr>
          <a:xfrm xmlns:a="http://schemas.openxmlformats.org/drawingml/2006/main">
            <a:off x="3524250" y="3067050"/>
            <a:ext cx="2143125" cy="381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18E593F-AA9D-4A70-8F37-7F42B9D787DC}"/>
              </a:ext>
            </a:extLst>
          </p:cNvPr>
          <p:cNvSpPr>
            <a:spLocks xmlns:a="http://schemas.openxmlformats.org/drawingml/2006/main" noGrp="1"/>
          </p:cNvSpPr>
          <p:nvPr/>
        </p:nvSpPr>
        <p:spPr>
          <a:xfrm xmlns:a="http://schemas.openxmlformats.org/drawingml/2006/main">
            <a:off x="35242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View</a:t>
            </a:r>
          </a:p>
        </p:txBody>
      </p:sp>
      <p:sp>
        <p:nvSpPr>
          <p:cNvPr id="16" name="">
            <a:extLst xmlns:a="http://schemas.openxmlformats.org/drawingml/2006/main">
              <a:ext uri="{FF2B5EF4-FFF2-40B4-BE49-F238E27FC236}">
                <a16:creationId xmlns:a16="http://schemas.microsoft.com/office/drawing/2014/main" id="{B03F8CF4-C603-4309-9F16-7E132D6E7CF2}"/>
              </a:ext>
            </a:extLst>
          </p:cNvPr>
          <p:cNvSpPr>
            <a:spLocks xmlns:a="http://schemas.openxmlformats.org/drawingml/2006/main" noGrp="1"/>
          </p:cNvSpPr>
          <p:nvPr/>
        </p:nvSpPr>
        <p:spPr>
          <a:xfrm xmlns:a="http://schemas.openxmlformats.org/drawingml/2006/main">
            <a:off x="35242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Open product details, description, price and image.</a:t>
            </a:r>
          </a:p>
        </p:txBody>
      </p:sp>
      <p:sp>
        <p:nvSpPr>
          <p:cNvPr id="17" name="">
            <a:extLst xmlns:a="http://schemas.openxmlformats.org/drawingml/2006/main">
              <a:ext uri="{FF2B5EF4-FFF2-40B4-BE49-F238E27FC236}">
                <a16:creationId xmlns:a16="http://schemas.microsoft.com/office/drawing/2014/main" id="{90FA29C5-961C-46DF-8864-5F7C0F01A623}"/>
              </a:ext>
            </a:extLst>
          </p:cNvPr>
          <p:cNvSpPr>
            <a:spLocks xmlns:a="http://schemas.openxmlformats.org/drawingml/2006/main" noGrp="1"/>
          </p:cNvSpPr>
          <p:nvPr/>
        </p:nvSpPr>
        <p:spPr>
          <a:xfrm xmlns:a="http://schemas.openxmlformats.org/drawingml/2006/main">
            <a:off x="62674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FFC857"/>
                </a:solidFill>
                <a:latin typeface="Segoe UI"/>
                <a:ea typeface="Segoe UI"/>
                <a:cs typeface="Segoe UI"/>
              </a:defRPr>
            </a:defPPr>
          </a:lstStyle>
          <a:p xmlns:a="http://schemas.openxmlformats.org/drawingml/2006/main">
            <a:pPr algn="l">
              <a:defRPr sz="3000" b="1">
                <a:solidFill>
                  <a:srgbClr val="FFC857"/>
                </a:solidFill>
                <a:latin typeface="Segoe UI"/>
                <a:ea typeface="Segoe UI"/>
                <a:cs typeface="Segoe UI"/>
              </a:defRPr>
            </a:pPr>
            <a:r>
              <a:rPr sz="3000" b="1">
                <a:solidFill>
                  <a:srgbClr val="FFC857"/>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B5CE3113-65C7-4EBF-949A-F402C9BDA480}"/>
              </a:ext>
            </a:extLst>
          </p:cNvPr>
          <p:cNvSpPr>
            <a:spLocks xmlns:a="http://schemas.openxmlformats.org/drawingml/2006/main" noGrp="1"/>
          </p:cNvSpPr>
          <p:nvPr/>
        </p:nvSpPr>
        <p:spPr>
          <a:xfrm xmlns:a="http://schemas.openxmlformats.org/drawingml/2006/main">
            <a:off x="6267450" y="3067050"/>
            <a:ext cx="2143125" cy="381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484826F-5C93-4ADF-90C2-712B2C55EDC1}"/>
              </a:ext>
            </a:extLst>
          </p:cNvPr>
          <p:cNvSpPr>
            <a:spLocks xmlns:a="http://schemas.openxmlformats.org/drawingml/2006/main" noGrp="1"/>
          </p:cNvSpPr>
          <p:nvPr/>
        </p:nvSpPr>
        <p:spPr>
          <a:xfrm xmlns:a="http://schemas.openxmlformats.org/drawingml/2006/main">
            <a:off x="62674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Choose</a:t>
            </a:r>
          </a:p>
        </p:txBody>
      </p:sp>
      <p:sp>
        <p:nvSpPr>
          <p:cNvPr id="20" name="">
            <a:extLst xmlns:a="http://schemas.openxmlformats.org/drawingml/2006/main">
              <a:ext uri="{FF2B5EF4-FFF2-40B4-BE49-F238E27FC236}">
                <a16:creationId xmlns:a16="http://schemas.microsoft.com/office/drawing/2014/main" id="{811B54CA-C26C-4AC9-814E-3A1DA8FF41B3}"/>
              </a:ext>
            </a:extLst>
          </p:cNvPr>
          <p:cNvSpPr>
            <a:spLocks xmlns:a="http://schemas.openxmlformats.org/drawingml/2006/main" noGrp="1"/>
          </p:cNvSpPr>
          <p:nvPr/>
        </p:nvSpPr>
        <p:spPr>
          <a:xfrm xmlns:a="http://schemas.openxmlformats.org/drawingml/2006/main">
            <a:off x="62674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Add to wishlist, add to cart or use Buy Now.</a:t>
            </a:r>
          </a:p>
        </p:txBody>
      </p:sp>
      <p:sp>
        <p:nvSpPr>
          <p:cNvPr id="21" name="">
            <a:extLst xmlns:a="http://schemas.openxmlformats.org/drawingml/2006/main">
              <a:ext uri="{FF2B5EF4-FFF2-40B4-BE49-F238E27FC236}">
                <a16:creationId xmlns:a16="http://schemas.microsoft.com/office/drawing/2014/main" id="{BCA71686-E0C8-4CE5-9A21-E51DE2822120}"/>
              </a:ext>
            </a:extLst>
          </p:cNvPr>
          <p:cNvSpPr>
            <a:spLocks xmlns:a="http://schemas.openxmlformats.org/drawingml/2006/main" noGrp="1"/>
          </p:cNvSpPr>
          <p:nvPr/>
        </p:nvSpPr>
        <p:spPr>
          <a:xfrm xmlns:a="http://schemas.openxmlformats.org/drawingml/2006/main">
            <a:off x="90106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FF796C"/>
                </a:solidFill>
                <a:latin typeface="Segoe UI"/>
                <a:ea typeface="Segoe UI"/>
                <a:cs typeface="Segoe UI"/>
              </a:defRPr>
            </a:defPPr>
          </a:lstStyle>
          <a:p xmlns:a="http://schemas.openxmlformats.org/drawingml/2006/main">
            <a:pPr algn="l">
              <a:defRPr sz="3000" b="1">
                <a:solidFill>
                  <a:srgbClr val="FF796C"/>
                </a:solidFill>
                <a:latin typeface="Segoe UI"/>
                <a:ea typeface="Segoe UI"/>
                <a:cs typeface="Segoe UI"/>
              </a:defRPr>
            </a:pPr>
            <a:r>
              <a:rPr sz="3000" b="1">
                <a:solidFill>
                  <a:srgbClr val="FF796C"/>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E9432FCE-1CD3-46B2-9E3B-E65715D802DB}"/>
              </a:ext>
            </a:extLst>
          </p:cNvPr>
          <p:cNvSpPr>
            <a:spLocks xmlns:a="http://schemas.openxmlformats.org/drawingml/2006/main" noGrp="1"/>
          </p:cNvSpPr>
          <p:nvPr/>
        </p:nvSpPr>
        <p:spPr>
          <a:xfrm xmlns:a="http://schemas.openxmlformats.org/drawingml/2006/main">
            <a:off x="9010650" y="3067050"/>
            <a:ext cx="2143125" cy="38100"/>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17AAD43-3EC2-4024-A525-86B1736C7F06}"/>
              </a:ext>
            </a:extLst>
          </p:cNvPr>
          <p:cNvSpPr>
            <a:spLocks xmlns:a="http://schemas.openxmlformats.org/drawingml/2006/main" noGrp="1"/>
          </p:cNvSpPr>
          <p:nvPr/>
        </p:nvSpPr>
        <p:spPr>
          <a:xfrm xmlns:a="http://schemas.openxmlformats.org/drawingml/2006/main">
            <a:off x="90106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Follow</a:t>
            </a:r>
          </a:p>
        </p:txBody>
      </p:sp>
      <p:sp>
        <p:nvSpPr>
          <p:cNvPr id="24" name="">
            <a:extLst xmlns:a="http://schemas.openxmlformats.org/drawingml/2006/main">
              <a:ext uri="{FF2B5EF4-FFF2-40B4-BE49-F238E27FC236}">
                <a16:creationId xmlns:a16="http://schemas.microsoft.com/office/drawing/2014/main" id="{50A40566-F8BC-463B-B716-7E6DC491C0E5}"/>
              </a:ext>
            </a:extLst>
          </p:cNvPr>
          <p:cNvSpPr>
            <a:spLocks xmlns:a="http://schemas.openxmlformats.org/drawingml/2006/main" noGrp="1"/>
          </p:cNvSpPr>
          <p:nvPr/>
        </p:nvSpPr>
        <p:spPr>
          <a:xfrm xmlns:a="http://schemas.openxmlformats.org/drawingml/2006/main">
            <a:off x="90106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Review placed orders from My Orders.</a:t>
            </a:r>
          </a:p>
        </p:txBody>
      </p:sp>
      <p:sp>
        <p:nvSpPr>
          <p:cNvPr id="25" name="">
            <a:extLst xmlns:a="http://schemas.openxmlformats.org/drawingml/2006/main">
              <a:ext uri="{FF2B5EF4-FFF2-40B4-BE49-F238E27FC236}">
                <a16:creationId xmlns:a16="http://schemas.microsoft.com/office/drawing/2014/main" id="{51E12C05-0648-498B-A5DF-8247774820DE}"/>
              </a:ext>
            </a:extLst>
          </p:cNvPr>
          <p:cNvSpPr>
            <a:spLocks xmlns:a="http://schemas.openxmlformats.org/drawingml/2006/main" noGrp="1"/>
          </p:cNvSpPr>
          <p:nvPr/>
        </p:nvSpPr>
        <p:spPr>
          <a:xfrm xmlns:a="http://schemas.openxmlformats.org/drawingml/2006/main">
            <a:off x="781050" y="5391150"/>
            <a:ext cx="10382250" cy="514350"/>
          </a:xfrm>
          <a:prstGeom xmlns:a="http://schemas.openxmlformats.org/drawingml/2006/main" prst="roundRect">
            <a:avLst>
              <a:gd name="adj" fmla="val 22222"/>
            </a:avLst>
          </a:prstGeom>
          <a:solidFill xmlns:a="http://schemas.openxmlformats.org/drawingml/2006/main">
            <a:srgbClr val="EEEAFE"/>
          </a:solidFill>
          <a:ln xmlns:a="http://schemas.openxmlformats.org/drawingml/2006/main" w="0">
            <a:solidFill>
              <a:srgbClr val="EEEAFE"/>
            </a:solidFill>
            <a:prstDash val="solid"/>
          </a:ln>
        </p:spPr>
      </p:sp>
      <p:sp>
        <p:nvSpPr>
          <p:cNvPr id="26" name="">
            <a:extLst xmlns:a="http://schemas.openxmlformats.org/drawingml/2006/main">
              <a:ext uri="{FF2B5EF4-FFF2-40B4-BE49-F238E27FC236}">
                <a16:creationId xmlns:a16="http://schemas.microsoft.com/office/drawing/2014/main" id="{7C8706E0-B5AC-4330-AC96-E0763A1BA64C}"/>
              </a:ext>
            </a:extLst>
          </p:cNvPr>
          <p:cNvSpPr>
            <a:spLocks xmlns:a="http://schemas.openxmlformats.org/drawingml/2006/main" noGrp="1"/>
          </p:cNvSpPr>
          <p:nvPr/>
        </p:nvSpPr>
        <p:spPr>
          <a:xfrm xmlns:a="http://schemas.openxmlformats.org/drawingml/2006/main">
            <a:off x="1009650" y="552450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264B"/>
                </a:solidFill>
                <a:latin typeface="Segoe UI"/>
                <a:ea typeface="Segoe UI"/>
                <a:cs typeface="Segoe UI"/>
              </a:defRPr>
            </a:defPPr>
          </a:lstStyle>
          <a:p xmlns:a="http://schemas.openxmlformats.org/drawingml/2006/main">
            <a:pPr algn="l">
              <a:defRPr sz="1425" b="1">
                <a:solidFill>
                  <a:srgbClr val="20264B"/>
                </a:solidFill>
                <a:latin typeface="Segoe UI"/>
                <a:ea typeface="Segoe UI"/>
                <a:cs typeface="Segoe UI"/>
              </a:defRPr>
            </a:pPr>
            <a:r>
              <a:rPr sz="1425" b="1">
                <a:solidFill>
                  <a:srgbClr val="20264B"/>
                </a:solidFill>
                <a:latin typeface="Segoe UI"/>
                <a:ea typeface="Segoe UI"/>
                <a:cs typeface="Segoe UI"/>
              </a:rPr>
              <a:t>Food  /  Clothing  /  Everyday campus products</a:t>
            </a:r>
          </a:p>
        </p:txBody>
      </p:sp>
    </p:spTree>
    <p:extLst>
      <p:ext uri="{BB962C8B-B14F-4D97-AF65-F5344CB8AC3E}">
        <p14:creationId xmlns:p14="http://schemas.microsoft.com/office/powerpoint/2010/main" val="539739649"/>
      </p:ext>
    </p:extLst>
  </p:cSld>
</p:sld>
</file>

<file path=ppt/slides/slide6.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341CFE9-C858-43C0-AF9F-59CE656A01A3}"/>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C8604A6-F3B1-4607-B265-D50FDB82F941}"/>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08DBC33-E592-436A-889E-CE7AA42AEF86}"/>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20C6B2"/>
                </a:solidFill>
                <a:latin typeface="Bahnschrift"/>
                <a:ea typeface="Bahnschrift"/>
                <a:cs typeface="Bahnschrift"/>
              </a:defRPr>
            </a:defPPr>
          </a:lstStyle>
          <a:p xmlns:a="http://schemas.openxmlformats.org/drawingml/2006/main">
            <a:pPr algn="l">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STUDENT EXPERIENCE</a:t>
            </a:r>
          </a:p>
        </p:txBody>
      </p:sp>
      <p:sp>
        <p:nvSpPr>
          <p:cNvPr id="4" name="">
            <a:extLst xmlns:a="http://schemas.openxmlformats.org/drawingml/2006/main">
              <a:ext uri="{FF2B5EF4-FFF2-40B4-BE49-F238E27FC236}">
                <a16:creationId xmlns:a16="http://schemas.microsoft.com/office/drawing/2014/main" id="{0D54A5E2-950E-45C4-85EA-BDBB3CEA6505}"/>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FFFFFF"/>
                </a:solidFill>
                <a:latin typeface="Bahnschrift"/>
                <a:ea typeface="Bahnschrift"/>
                <a:cs typeface="Bahnschrift"/>
              </a:defRPr>
            </a:defPPr>
          </a:lstStyle>
          <a:p xmlns:a="http://schemas.openxmlformats.org/drawingml/2006/main">
            <a:pPr algn="l">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Orders stay visible after checkout</a:t>
            </a:r>
          </a:p>
        </p:txBody>
      </p:sp>
      <p:sp>
        <p:nvSpPr>
          <p:cNvPr id="5" name="">
            <a:extLst xmlns:a="http://schemas.openxmlformats.org/drawingml/2006/main">
              <a:ext uri="{FF2B5EF4-FFF2-40B4-BE49-F238E27FC236}">
                <a16:creationId xmlns:a16="http://schemas.microsoft.com/office/drawing/2014/main" id="{90C29918-EC02-426B-9F42-077FD3499ADB}"/>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39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BA7A823-0B1E-4646-9601-587089FE9CE8}"/>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AAA9C4"/>
                </a:solidFill>
                <a:latin typeface="Bahnschrift"/>
                <a:ea typeface="Bahnschrift"/>
                <a:cs typeface="Bahnschrift"/>
              </a:defRPr>
            </a:defPPr>
          </a:lstStyle>
          <a:p xmlns:a="http://schemas.openxmlformats.org/drawingml/2006/main">
            <a:pPr algn="l">
              <a:defRPr sz="900" b="1">
                <a:solidFill>
                  <a:srgbClr val="AAA9C4"/>
                </a:solidFill>
                <a:latin typeface="Bahnschrift"/>
                <a:ea typeface="Bahnschrift"/>
                <a:cs typeface="Bahnschrift"/>
              </a:defRPr>
            </a:pPr>
            <a:r>
              <a:rPr sz="900" b="1">
                <a:solidFill>
                  <a:srgbClr val="AAA9C4"/>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5558BAF7-33B5-4028-90F7-AA82FB5BA6CE}"/>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A998FF"/>
                </a:solidFill>
                <a:latin typeface="Segoe UI"/>
                <a:ea typeface="Segoe UI"/>
                <a:cs typeface="Segoe UI"/>
              </a:defRPr>
            </a:defPPr>
          </a:lstStyle>
          <a:p xmlns:a="http://schemas.openxmlformats.org/drawingml/2006/main">
            <a:pPr algn="r">
              <a:defRPr sz="1050" b="1">
                <a:solidFill>
                  <a:srgbClr val="A998FF"/>
                </a:solidFill>
                <a:latin typeface="Segoe UI"/>
                <a:ea typeface="Segoe UI"/>
                <a:cs typeface="Segoe UI"/>
              </a:defRPr>
            </a:pPr>
            <a:r>
              <a:rPr sz="1050" b="1">
                <a:solidFill>
                  <a:srgbClr val="A998FF"/>
                </a:solidFill>
                <a:latin typeface="Segoe UI"/>
                <a:ea typeface="Segoe UI"/>
                <a:cs typeface="Segoe UI"/>
              </a:rPr>
              <a:t>06</a:t>
            </a:r>
          </a:p>
        </p:txBody>
      </p:sp>
      <p:sp>
        <p:nvSpPr>
          <p:cNvPr id="8" name="">
            <a:extLst xmlns:a="http://schemas.openxmlformats.org/drawingml/2006/main">
              <a:ext uri="{FF2B5EF4-FFF2-40B4-BE49-F238E27FC236}">
                <a16:creationId xmlns:a16="http://schemas.microsoft.com/office/drawing/2014/main" id="{0E33EF4F-747E-4118-AB94-E46EF5BE2947}"/>
              </a:ext>
            </a:extLst>
          </p:cNvPr>
          <p:cNvSpPr>
            <a:spLocks xmlns:a="http://schemas.openxmlformats.org/drawingml/2006/main" noGrp="1"/>
          </p:cNvSpPr>
          <p:nvPr/>
        </p:nvSpPr>
        <p:spPr>
          <a:xfrm xmlns:a="http://schemas.openxmlformats.org/drawingml/2006/main">
            <a:off x="781050" y="1581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C5C4DC"/>
                </a:solidFill>
                <a:latin typeface="Segoe UI"/>
                <a:ea typeface="Segoe UI"/>
                <a:cs typeface="Segoe UI"/>
              </a:defRPr>
            </a:defPPr>
          </a:lstStyle>
          <a:p xmlns:a="http://schemas.openxmlformats.org/drawingml/2006/main">
            <a:pPr algn="l">
              <a:defRPr sz="1650" b="0">
                <a:solidFill>
                  <a:srgbClr val="C5C4DC"/>
                </a:solidFill>
                <a:latin typeface="Segoe UI"/>
                <a:ea typeface="Segoe UI"/>
                <a:cs typeface="Segoe UI"/>
              </a:defRPr>
            </a:pPr>
            <a:r>
              <a:rPr sz="1650" b="0">
                <a:solidFill>
                  <a:srgbClr val="C5C4DC"/>
                </a:solidFill>
                <a:latin typeface="Segoe UI"/>
                <a:ea typeface="Segoe UI"/>
                <a:cs typeface="Segoe UI"/>
              </a:rPr>
              <a:t>The app keeps the purchase journey connected</a:t>
            </a:r>
          </a:p>
        </p:txBody>
      </p:sp>
      <p:sp>
        <p:nvSpPr>
          <p:cNvPr id="9" name="">
            <a:extLst xmlns:a="http://schemas.openxmlformats.org/drawingml/2006/main">
              <a:ext uri="{FF2B5EF4-FFF2-40B4-BE49-F238E27FC236}">
                <a16:creationId xmlns:a16="http://schemas.microsoft.com/office/drawing/2014/main" id="{37203F9F-D05E-4FED-859A-C7E42CB6B518}"/>
              </a:ext>
            </a:extLst>
          </p:cNvPr>
          <p:cNvSpPr>
            <a:spLocks xmlns:a="http://schemas.openxmlformats.org/drawingml/2006/main" noGrp="1"/>
          </p:cNvSpPr>
          <p:nvPr/>
        </p:nvSpPr>
        <p:spPr>
          <a:xfrm xmlns:a="http://schemas.openxmlformats.org/drawingml/2006/main">
            <a:off x="876300" y="2628900"/>
            <a:ext cx="2190750" cy="1047750"/>
          </a:xfrm>
          <a:prstGeom xmlns:a="http://schemas.openxmlformats.org/drawingml/2006/main" prst="roundRect">
            <a:avLst>
              <a:gd name="adj" fmla="val 13636"/>
            </a:avLst>
          </a:prstGeom>
          <a:solidFill xmlns:a="http://schemas.openxmlformats.org/drawingml/2006/main">
            <a:srgbClr val="20264B"/>
          </a:solidFill>
          <a:ln xmlns:a="http://schemas.openxmlformats.org/drawingml/2006/main" w="9525">
            <a:solidFill>
              <a:srgbClr val="4A496A"/>
            </a:solidFill>
            <a:prstDash val="solid"/>
          </a:ln>
        </p:spPr>
      </p:sp>
      <p:sp>
        <p:nvSpPr>
          <p:cNvPr id="10" name="">
            <a:extLst xmlns:a="http://schemas.openxmlformats.org/drawingml/2006/main">
              <a:ext uri="{FF2B5EF4-FFF2-40B4-BE49-F238E27FC236}">
                <a16:creationId xmlns:a16="http://schemas.microsoft.com/office/drawing/2014/main" id="{804EF005-7020-471D-B454-78C1026D4AC3}"/>
              </a:ext>
            </a:extLst>
          </p:cNvPr>
          <p:cNvSpPr>
            <a:spLocks xmlns:a="http://schemas.openxmlformats.org/drawingml/2006/main" noGrp="1"/>
          </p:cNvSpPr>
          <p:nvPr/>
        </p:nvSpPr>
        <p:spPr>
          <a:xfrm xmlns:a="http://schemas.openxmlformats.org/drawingml/2006/main">
            <a:off x="106680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A998FF"/>
                </a:solidFill>
                <a:latin typeface="Segoe UI"/>
                <a:ea typeface="Segoe UI"/>
                <a:cs typeface="Segoe UI"/>
              </a:defRPr>
            </a:defPPr>
          </a:lstStyle>
          <a:p xmlns:a="http://schemas.openxmlformats.org/drawingml/2006/main">
            <a:pPr algn="l">
              <a:defRPr sz="1350" b="1">
                <a:solidFill>
                  <a:srgbClr val="A998FF"/>
                </a:solidFill>
                <a:latin typeface="Segoe UI"/>
                <a:ea typeface="Segoe UI"/>
                <a:cs typeface="Segoe UI"/>
              </a:defRPr>
            </a:pPr>
            <a:r>
              <a:rPr sz="1350" b="1">
                <a:solidFill>
                  <a:srgbClr val="A998FF"/>
                </a:solidFill>
                <a:latin typeface="Segoe UI"/>
                <a:ea typeface="Segoe UI"/>
                <a:cs typeface="Segoe UI"/>
              </a:rPr>
              <a:t>01</a:t>
            </a:r>
          </a:p>
        </p:txBody>
      </p:sp>
      <p:sp>
        <p:nvSpPr>
          <p:cNvPr id="11" name="">
            <a:extLst xmlns:a="http://schemas.openxmlformats.org/drawingml/2006/main">
              <a:ext uri="{FF2B5EF4-FFF2-40B4-BE49-F238E27FC236}">
                <a16:creationId xmlns:a16="http://schemas.microsoft.com/office/drawing/2014/main" id="{3A500950-BC5D-40C8-B5A2-259A323C7497}"/>
              </a:ext>
            </a:extLst>
          </p:cNvPr>
          <p:cNvSpPr>
            <a:spLocks xmlns:a="http://schemas.openxmlformats.org/drawingml/2006/main" noGrp="1"/>
          </p:cNvSpPr>
          <p:nvPr/>
        </p:nvSpPr>
        <p:spPr>
          <a:xfrm xmlns:a="http://schemas.openxmlformats.org/drawingml/2006/main">
            <a:off x="106680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Product selected</a:t>
            </a:r>
          </a:p>
        </p:txBody>
      </p:sp>
      <p:sp>
        <p:nvSpPr>
          <p:cNvPr id="12" name="">
            <a:extLst xmlns:a="http://schemas.openxmlformats.org/drawingml/2006/main">
              <a:ext uri="{FF2B5EF4-FFF2-40B4-BE49-F238E27FC236}">
                <a16:creationId xmlns:a16="http://schemas.microsoft.com/office/drawing/2014/main" id="{61A865E0-439E-4344-AED2-D6E6364B68DE}"/>
              </a:ext>
            </a:extLst>
          </p:cNvPr>
          <p:cNvSpPr>
            <a:spLocks xmlns:a="http://schemas.openxmlformats.org/drawingml/2006/main" noGrp="1"/>
          </p:cNvSpPr>
          <p:nvPr/>
        </p:nvSpPr>
        <p:spPr>
          <a:xfrm xmlns:a="http://schemas.openxmlformats.org/drawingml/2006/main">
            <a:off x="89535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Buy Now or cart</a:t>
            </a:r>
          </a:p>
        </p:txBody>
      </p:sp>
      <p:sp>
        <p:nvSpPr>
          <p:cNvPr id="13" name="">
            <a:extLst xmlns:a="http://schemas.openxmlformats.org/drawingml/2006/main">
              <a:ext uri="{FF2B5EF4-FFF2-40B4-BE49-F238E27FC236}">
                <a16:creationId xmlns:a16="http://schemas.microsoft.com/office/drawing/2014/main" id="{751F505E-9F79-48C7-B135-A190A6D79AB5}"/>
              </a:ext>
            </a:extLst>
          </p:cNvPr>
          <p:cNvSpPr>
            <a:spLocks xmlns:a="http://schemas.openxmlformats.org/drawingml/2006/main" noGrp="1"/>
          </p:cNvSpPr>
          <p:nvPr/>
        </p:nvSpPr>
        <p:spPr>
          <a:xfrm xmlns:a="http://schemas.openxmlformats.org/drawingml/2006/main">
            <a:off x="3086100" y="3133725"/>
            <a:ext cx="466725" cy="19050"/>
          </a:xfrm>
          <a:prstGeom xmlns:a="http://schemas.openxmlformats.org/drawingml/2006/main" prst="rect">
            <a:avLst/>
          </a:prstGeom>
          <a:solidFill xmlns:a="http://schemas.openxmlformats.org/drawingml/2006/main">
            <a:srgbClr val="6F6D9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E2583D-F281-441D-BAB8-4F074D6E54DD}"/>
              </a:ext>
            </a:extLst>
          </p:cNvPr>
          <p:cNvSpPr>
            <a:spLocks xmlns:a="http://schemas.openxmlformats.org/drawingml/2006/main" noGrp="1"/>
          </p:cNvSpPr>
          <p:nvPr/>
        </p:nvSpPr>
        <p:spPr>
          <a:xfrm xmlns:a="http://schemas.openxmlformats.org/drawingml/2006/main">
            <a:off x="3562350" y="2628900"/>
            <a:ext cx="2190750" cy="1047750"/>
          </a:xfrm>
          <a:prstGeom xmlns:a="http://schemas.openxmlformats.org/drawingml/2006/main" prst="roundRect">
            <a:avLst>
              <a:gd name="adj" fmla="val 13636"/>
            </a:avLst>
          </a:prstGeom>
          <a:solidFill xmlns:a="http://schemas.openxmlformats.org/drawingml/2006/main">
            <a:srgbClr val="20264B"/>
          </a:solidFill>
          <a:ln xmlns:a="http://schemas.openxmlformats.org/drawingml/2006/main" w="9525">
            <a:solidFill>
              <a:srgbClr val="4A496A"/>
            </a:solidFill>
            <a:prstDash val="solid"/>
          </a:ln>
        </p:spPr>
      </p:sp>
      <p:sp>
        <p:nvSpPr>
          <p:cNvPr id="15" name="">
            <a:extLst xmlns:a="http://schemas.openxmlformats.org/drawingml/2006/main">
              <a:ext uri="{FF2B5EF4-FFF2-40B4-BE49-F238E27FC236}">
                <a16:creationId xmlns:a16="http://schemas.microsoft.com/office/drawing/2014/main" id="{986FE284-A93F-4BD8-AD74-E9D90DC94C02}"/>
              </a:ext>
            </a:extLst>
          </p:cNvPr>
          <p:cNvSpPr>
            <a:spLocks xmlns:a="http://schemas.openxmlformats.org/drawingml/2006/main" noGrp="1"/>
          </p:cNvSpPr>
          <p:nvPr/>
        </p:nvSpPr>
        <p:spPr>
          <a:xfrm xmlns:a="http://schemas.openxmlformats.org/drawingml/2006/main">
            <a:off x="375285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A998FF"/>
                </a:solidFill>
                <a:latin typeface="Segoe UI"/>
                <a:ea typeface="Segoe UI"/>
                <a:cs typeface="Segoe UI"/>
              </a:defRPr>
            </a:defPPr>
          </a:lstStyle>
          <a:p xmlns:a="http://schemas.openxmlformats.org/drawingml/2006/main">
            <a:pPr algn="l">
              <a:defRPr sz="1350" b="1">
                <a:solidFill>
                  <a:srgbClr val="A998FF"/>
                </a:solidFill>
                <a:latin typeface="Segoe UI"/>
                <a:ea typeface="Segoe UI"/>
                <a:cs typeface="Segoe UI"/>
              </a:defRPr>
            </a:pPr>
            <a:r>
              <a:rPr sz="1350" b="1">
                <a:solidFill>
                  <a:srgbClr val="A998FF"/>
                </a:solidFill>
                <a:latin typeface="Segoe UI"/>
                <a:ea typeface="Segoe UI"/>
                <a:cs typeface="Segoe UI"/>
              </a:rPr>
              <a:t>02</a:t>
            </a:r>
          </a:p>
        </p:txBody>
      </p:sp>
      <p:sp>
        <p:nvSpPr>
          <p:cNvPr id="16" name="">
            <a:extLst xmlns:a="http://schemas.openxmlformats.org/drawingml/2006/main">
              <a:ext uri="{FF2B5EF4-FFF2-40B4-BE49-F238E27FC236}">
                <a16:creationId xmlns:a16="http://schemas.microsoft.com/office/drawing/2014/main" id="{A213D549-74EE-425A-ADF1-3854B4A3E070}"/>
              </a:ext>
            </a:extLst>
          </p:cNvPr>
          <p:cNvSpPr>
            <a:spLocks xmlns:a="http://schemas.openxmlformats.org/drawingml/2006/main" noGrp="1"/>
          </p:cNvSpPr>
          <p:nvPr/>
        </p:nvSpPr>
        <p:spPr>
          <a:xfrm xmlns:a="http://schemas.openxmlformats.org/drawingml/2006/main">
            <a:off x="375285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Checkout</a:t>
            </a:r>
          </a:p>
        </p:txBody>
      </p:sp>
      <p:sp>
        <p:nvSpPr>
          <p:cNvPr id="17" name="">
            <a:extLst xmlns:a="http://schemas.openxmlformats.org/drawingml/2006/main">
              <a:ext uri="{FF2B5EF4-FFF2-40B4-BE49-F238E27FC236}">
                <a16:creationId xmlns:a16="http://schemas.microsoft.com/office/drawing/2014/main" id="{96D91DAC-7C28-4F3F-ACC5-0AAB711E847E}"/>
              </a:ext>
            </a:extLst>
          </p:cNvPr>
          <p:cNvSpPr>
            <a:spLocks xmlns:a="http://schemas.openxmlformats.org/drawingml/2006/main" noGrp="1"/>
          </p:cNvSpPr>
          <p:nvPr/>
        </p:nvSpPr>
        <p:spPr>
          <a:xfrm xmlns:a="http://schemas.openxmlformats.org/drawingml/2006/main">
            <a:off x="358140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Confirm the order</a:t>
            </a:r>
          </a:p>
        </p:txBody>
      </p:sp>
      <p:sp>
        <p:nvSpPr>
          <p:cNvPr id="18" name="">
            <a:extLst xmlns:a="http://schemas.openxmlformats.org/drawingml/2006/main">
              <a:ext uri="{FF2B5EF4-FFF2-40B4-BE49-F238E27FC236}">
                <a16:creationId xmlns:a16="http://schemas.microsoft.com/office/drawing/2014/main" id="{DE6EE24B-2937-44A6-A370-ED6B93CC9FB5}"/>
              </a:ext>
            </a:extLst>
          </p:cNvPr>
          <p:cNvSpPr>
            <a:spLocks xmlns:a="http://schemas.openxmlformats.org/drawingml/2006/main" noGrp="1"/>
          </p:cNvSpPr>
          <p:nvPr/>
        </p:nvSpPr>
        <p:spPr>
          <a:xfrm xmlns:a="http://schemas.openxmlformats.org/drawingml/2006/main">
            <a:off x="5772150" y="3133725"/>
            <a:ext cx="466725" cy="19050"/>
          </a:xfrm>
          <a:prstGeom xmlns:a="http://schemas.openxmlformats.org/drawingml/2006/main" prst="rect">
            <a:avLst/>
          </a:prstGeom>
          <a:solidFill xmlns:a="http://schemas.openxmlformats.org/drawingml/2006/main">
            <a:srgbClr val="6F6D9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780204B-A220-484F-9122-425C74A6298E}"/>
              </a:ext>
            </a:extLst>
          </p:cNvPr>
          <p:cNvSpPr>
            <a:spLocks xmlns:a="http://schemas.openxmlformats.org/drawingml/2006/main" noGrp="1"/>
          </p:cNvSpPr>
          <p:nvPr/>
        </p:nvSpPr>
        <p:spPr>
          <a:xfrm xmlns:a="http://schemas.openxmlformats.org/drawingml/2006/main">
            <a:off x="6248400" y="2628900"/>
            <a:ext cx="2190750" cy="1047750"/>
          </a:xfrm>
          <a:prstGeom xmlns:a="http://schemas.openxmlformats.org/drawingml/2006/main" prst="roundRect">
            <a:avLst>
              <a:gd name="adj" fmla="val 13636"/>
            </a:avLst>
          </a:prstGeom>
          <a:solidFill xmlns:a="http://schemas.openxmlformats.org/drawingml/2006/main">
            <a:srgbClr val="20264B"/>
          </a:solidFill>
          <a:ln xmlns:a="http://schemas.openxmlformats.org/drawingml/2006/main" w="9525">
            <a:solidFill>
              <a:srgbClr val="4A496A"/>
            </a:solidFill>
            <a:prstDash val="solid"/>
          </a:ln>
        </p:spPr>
      </p:sp>
      <p:sp>
        <p:nvSpPr>
          <p:cNvPr id="20" name="">
            <a:extLst xmlns:a="http://schemas.openxmlformats.org/drawingml/2006/main">
              <a:ext uri="{FF2B5EF4-FFF2-40B4-BE49-F238E27FC236}">
                <a16:creationId xmlns:a16="http://schemas.microsoft.com/office/drawing/2014/main" id="{ECAF1228-B7E1-4C65-8FDD-E467A8E66673}"/>
              </a:ext>
            </a:extLst>
          </p:cNvPr>
          <p:cNvSpPr>
            <a:spLocks xmlns:a="http://schemas.openxmlformats.org/drawingml/2006/main" noGrp="1"/>
          </p:cNvSpPr>
          <p:nvPr/>
        </p:nvSpPr>
        <p:spPr>
          <a:xfrm xmlns:a="http://schemas.openxmlformats.org/drawingml/2006/main">
            <a:off x="643890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A998FF"/>
                </a:solidFill>
                <a:latin typeface="Segoe UI"/>
                <a:ea typeface="Segoe UI"/>
                <a:cs typeface="Segoe UI"/>
              </a:defRPr>
            </a:defPPr>
          </a:lstStyle>
          <a:p xmlns:a="http://schemas.openxmlformats.org/drawingml/2006/main">
            <a:pPr algn="l">
              <a:defRPr sz="1350" b="1">
                <a:solidFill>
                  <a:srgbClr val="A998FF"/>
                </a:solidFill>
                <a:latin typeface="Segoe UI"/>
                <a:ea typeface="Segoe UI"/>
                <a:cs typeface="Segoe UI"/>
              </a:defRPr>
            </a:pPr>
            <a:r>
              <a:rPr sz="1350" b="1">
                <a:solidFill>
                  <a:srgbClr val="A998FF"/>
                </a:solidFill>
                <a:latin typeface="Segoe UI"/>
                <a:ea typeface="Segoe UI"/>
                <a:cs typeface="Segoe UI"/>
              </a:rPr>
              <a:t>03</a:t>
            </a:r>
          </a:p>
        </p:txBody>
      </p:sp>
      <p:sp>
        <p:nvSpPr>
          <p:cNvPr id="21" name="">
            <a:extLst xmlns:a="http://schemas.openxmlformats.org/drawingml/2006/main">
              <a:ext uri="{FF2B5EF4-FFF2-40B4-BE49-F238E27FC236}">
                <a16:creationId xmlns:a16="http://schemas.microsoft.com/office/drawing/2014/main" id="{91252BEE-24DF-4834-BBD2-8FF42654C11B}"/>
              </a:ext>
            </a:extLst>
          </p:cNvPr>
          <p:cNvSpPr>
            <a:spLocks xmlns:a="http://schemas.openxmlformats.org/drawingml/2006/main" noGrp="1"/>
          </p:cNvSpPr>
          <p:nvPr/>
        </p:nvSpPr>
        <p:spPr>
          <a:xfrm xmlns:a="http://schemas.openxmlformats.org/drawingml/2006/main">
            <a:off x="643890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Order placed</a:t>
            </a:r>
          </a:p>
        </p:txBody>
      </p:sp>
      <p:sp>
        <p:nvSpPr>
          <p:cNvPr id="22" name="">
            <a:extLst xmlns:a="http://schemas.openxmlformats.org/drawingml/2006/main">
              <a:ext uri="{FF2B5EF4-FFF2-40B4-BE49-F238E27FC236}">
                <a16:creationId xmlns:a16="http://schemas.microsoft.com/office/drawing/2014/main" id="{2BD03742-E08B-4F3D-BE43-729CC5AB6734}"/>
              </a:ext>
            </a:extLst>
          </p:cNvPr>
          <p:cNvSpPr>
            <a:spLocks xmlns:a="http://schemas.openxmlformats.org/drawingml/2006/main" noGrp="1"/>
          </p:cNvSpPr>
          <p:nvPr/>
        </p:nvSpPr>
        <p:spPr>
          <a:xfrm xmlns:a="http://schemas.openxmlformats.org/drawingml/2006/main">
            <a:off x="626745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Order record created</a:t>
            </a:r>
          </a:p>
        </p:txBody>
      </p:sp>
      <p:sp>
        <p:nvSpPr>
          <p:cNvPr id="23" name="">
            <a:extLst xmlns:a="http://schemas.openxmlformats.org/drawingml/2006/main">
              <a:ext uri="{FF2B5EF4-FFF2-40B4-BE49-F238E27FC236}">
                <a16:creationId xmlns:a16="http://schemas.microsoft.com/office/drawing/2014/main" id="{AEAE17D5-1B37-4B15-8E90-D657EDCFE031}"/>
              </a:ext>
            </a:extLst>
          </p:cNvPr>
          <p:cNvSpPr>
            <a:spLocks xmlns:a="http://schemas.openxmlformats.org/drawingml/2006/main" noGrp="1"/>
          </p:cNvSpPr>
          <p:nvPr/>
        </p:nvSpPr>
        <p:spPr>
          <a:xfrm xmlns:a="http://schemas.openxmlformats.org/drawingml/2006/main">
            <a:off x="8458200" y="3133725"/>
            <a:ext cx="466725" cy="19050"/>
          </a:xfrm>
          <a:prstGeom xmlns:a="http://schemas.openxmlformats.org/drawingml/2006/main" prst="rect">
            <a:avLst/>
          </a:prstGeom>
          <a:solidFill xmlns:a="http://schemas.openxmlformats.org/drawingml/2006/main">
            <a:srgbClr val="6F6D9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9D344C8-902B-431E-9F54-3BB490957ADE}"/>
              </a:ext>
            </a:extLst>
          </p:cNvPr>
          <p:cNvSpPr>
            <a:spLocks xmlns:a="http://schemas.openxmlformats.org/drawingml/2006/main" noGrp="1"/>
          </p:cNvSpPr>
          <p:nvPr/>
        </p:nvSpPr>
        <p:spPr>
          <a:xfrm xmlns:a="http://schemas.openxmlformats.org/drawingml/2006/main">
            <a:off x="8934450" y="2628900"/>
            <a:ext cx="2190750" cy="1047750"/>
          </a:xfrm>
          <a:prstGeom xmlns:a="http://schemas.openxmlformats.org/drawingml/2006/main" prst="roundRect">
            <a:avLst>
              <a:gd name="adj" fmla="val 13636"/>
            </a:avLst>
          </a:prstGeom>
          <a:solidFill xmlns:a="http://schemas.openxmlformats.org/drawingml/2006/main">
            <a:srgbClr val="20C6B2"/>
          </a:solidFill>
          <a:ln xmlns:a="http://schemas.openxmlformats.org/drawingml/2006/main" w="9525">
            <a:solidFill>
              <a:srgbClr val="20C6B2"/>
            </a:solidFill>
            <a:prstDash val="solid"/>
          </a:ln>
        </p:spPr>
      </p:sp>
      <p:sp>
        <p:nvSpPr>
          <p:cNvPr id="25" name="">
            <a:extLst xmlns:a="http://schemas.openxmlformats.org/drawingml/2006/main">
              <a:ext uri="{FF2B5EF4-FFF2-40B4-BE49-F238E27FC236}">
                <a16:creationId xmlns:a16="http://schemas.microsoft.com/office/drawing/2014/main" id="{90D112B9-D7CB-4B33-9E8C-52EFF500E2F2}"/>
              </a:ext>
            </a:extLst>
          </p:cNvPr>
          <p:cNvSpPr>
            <a:spLocks xmlns:a="http://schemas.openxmlformats.org/drawingml/2006/main" noGrp="1"/>
          </p:cNvSpPr>
          <p:nvPr/>
        </p:nvSpPr>
        <p:spPr>
          <a:xfrm xmlns:a="http://schemas.openxmlformats.org/drawingml/2006/main">
            <a:off x="912495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10132B"/>
                </a:solidFill>
                <a:latin typeface="Segoe UI"/>
                <a:ea typeface="Segoe UI"/>
                <a:cs typeface="Segoe UI"/>
              </a:defRPr>
            </a:defPPr>
          </a:lstStyle>
          <a:p xmlns:a="http://schemas.openxmlformats.org/drawingml/2006/main">
            <a:pPr algn="l">
              <a:defRPr sz="1350" b="1">
                <a:solidFill>
                  <a:srgbClr val="10132B"/>
                </a:solidFill>
                <a:latin typeface="Segoe UI"/>
                <a:ea typeface="Segoe UI"/>
                <a:cs typeface="Segoe UI"/>
              </a:defRPr>
            </a:pPr>
            <a:r>
              <a:rPr sz="1350" b="1">
                <a:solidFill>
                  <a:srgbClr val="10132B"/>
                </a:solidFill>
                <a:latin typeface="Segoe UI"/>
                <a:ea typeface="Segoe UI"/>
                <a:cs typeface="Segoe UI"/>
              </a:rPr>
              <a:t>04</a:t>
            </a:r>
          </a:p>
        </p:txBody>
      </p:sp>
      <p:sp>
        <p:nvSpPr>
          <p:cNvPr id="26" name="">
            <a:extLst xmlns:a="http://schemas.openxmlformats.org/drawingml/2006/main">
              <a:ext uri="{FF2B5EF4-FFF2-40B4-BE49-F238E27FC236}">
                <a16:creationId xmlns:a16="http://schemas.microsoft.com/office/drawing/2014/main" id="{E84A969A-2F2E-4924-B409-EFC369F6FD46}"/>
              </a:ext>
            </a:extLst>
          </p:cNvPr>
          <p:cNvSpPr>
            <a:spLocks xmlns:a="http://schemas.openxmlformats.org/drawingml/2006/main" noGrp="1"/>
          </p:cNvSpPr>
          <p:nvPr/>
        </p:nvSpPr>
        <p:spPr>
          <a:xfrm xmlns:a="http://schemas.openxmlformats.org/drawingml/2006/main">
            <a:off x="912495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My Orders</a:t>
            </a:r>
          </a:p>
        </p:txBody>
      </p:sp>
      <p:sp>
        <p:nvSpPr>
          <p:cNvPr id="27" name="">
            <a:extLst xmlns:a="http://schemas.openxmlformats.org/drawingml/2006/main">
              <a:ext uri="{FF2B5EF4-FFF2-40B4-BE49-F238E27FC236}">
                <a16:creationId xmlns:a16="http://schemas.microsoft.com/office/drawing/2014/main" id="{26AF922C-B091-4BBB-B2B5-A646A4708B6B}"/>
              </a:ext>
            </a:extLst>
          </p:cNvPr>
          <p:cNvSpPr>
            <a:spLocks xmlns:a="http://schemas.openxmlformats.org/drawingml/2006/main" noGrp="1"/>
          </p:cNvSpPr>
          <p:nvPr/>
        </p:nvSpPr>
        <p:spPr>
          <a:xfrm xmlns:a="http://schemas.openxmlformats.org/drawingml/2006/main">
            <a:off x="895350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Check order and payment status</a:t>
            </a:r>
          </a:p>
        </p:txBody>
      </p:sp>
      <p:sp>
        <p:nvSpPr>
          <p:cNvPr id="28" name="">
            <a:extLst xmlns:a="http://schemas.openxmlformats.org/drawingml/2006/main">
              <a:ext uri="{FF2B5EF4-FFF2-40B4-BE49-F238E27FC236}">
                <a16:creationId xmlns:a16="http://schemas.microsoft.com/office/drawing/2014/main" id="{B167BF26-6CDB-4DA8-9BA1-465E694B741C}"/>
              </a:ext>
            </a:extLst>
          </p:cNvPr>
          <p:cNvSpPr>
            <a:spLocks xmlns:a="http://schemas.openxmlformats.org/drawingml/2006/main" noGrp="1"/>
          </p:cNvSpPr>
          <p:nvPr/>
        </p:nvSpPr>
        <p:spPr>
          <a:xfrm xmlns:a="http://schemas.openxmlformats.org/drawingml/2006/main">
            <a:off x="876300" y="50482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FFFFFF"/>
                </a:solidFill>
                <a:latin typeface="Segoe UI"/>
                <a:ea typeface="Segoe UI"/>
                <a:cs typeface="Segoe UI"/>
              </a:defRPr>
            </a:defPPr>
          </a:lstStyle>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Order tracking and service booking have their own status views.</a:t>
            </a:r>
          </a:p>
        </p:txBody>
      </p:sp>
    </p:spTree>
    <p:extLst>
      <p:ext uri="{BB962C8B-B14F-4D97-AF65-F5344CB8AC3E}">
        <p14:creationId xmlns:p14="http://schemas.microsoft.com/office/powerpoint/2010/main" val="1957515359"/>
      </p:ext>
    </p:extLst>
  </p:cSld>
</p:sld>
</file>

<file path=ppt/slides/slide7.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6C3B914-B38E-450B-A9BC-5B34F1E3EB42}"/>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C1CA18-71B2-4F96-A5E4-68DEB5935AF1}"/>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EBB5714-0323-45D5-89B6-A7716B908663}"/>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PAYMENTS AND BILLS</a:t>
            </a:r>
          </a:p>
        </p:txBody>
      </p:sp>
      <p:sp>
        <p:nvSpPr>
          <p:cNvPr id="4" name="">
            <a:extLst xmlns:a="http://schemas.openxmlformats.org/drawingml/2006/main">
              <a:ext uri="{FF2B5EF4-FFF2-40B4-BE49-F238E27FC236}">
                <a16:creationId xmlns:a16="http://schemas.microsoft.com/office/drawing/2014/main" id="{99B25E3F-EC8A-406E-8D8D-7F7FD709DEB6}"/>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UPI payment with manual admin verification</a:t>
            </a:r>
          </a:p>
        </p:txBody>
      </p:sp>
      <p:sp>
        <p:nvSpPr>
          <p:cNvPr id="5" name="">
            <a:extLst xmlns:a="http://schemas.openxmlformats.org/drawingml/2006/main">
              <a:ext uri="{FF2B5EF4-FFF2-40B4-BE49-F238E27FC236}">
                <a16:creationId xmlns:a16="http://schemas.microsoft.com/office/drawing/2014/main" id="{86D87A58-C4DC-44CA-B02C-CDA72BE60910}"/>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3E69678-17A6-4821-B85A-1278177649EB}"/>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6934226B-2A20-4133-B451-8CA7DD0F717E}"/>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07</a:t>
            </a:r>
          </a:p>
        </p:txBody>
      </p:sp>
      <p:sp>
        <p:nvSpPr>
          <p:cNvPr id="8" name="">
            <a:extLst xmlns:a="http://schemas.openxmlformats.org/drawingml/2006/main">
              <a:ext uri="{FF2B5EF4-FFF2-40B4-BE49-F238E27FC236}">
                <a16:creationId xmlns:a16="http://schemas.microsoft.com/office/drawing/2014/main" id="{0337C1FD-554A-4882-AB4F-9A6BC32D5039}"/>
              </a:ext>
            </a:extLst>
          </p:cNvPr>
          <p:cNvSpPr>
            <a:spLocks xmlns:a="http://schemas.openxmlformats.org/drawingml/2006/main" noGrp="1"/>
          </p:cNvSpPr>
          <p:nvPr/>
        </p:nvSpPr>
        <p:spPr>
          <a:xfrm xmlns:a="http://schemas.openxmlformats.org/drawingml/2006/main">
            <a:off x="781050" y="1581150"/>
            <a:ext cx="1019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The current payment flow records proof and review status</a:t>
            </a:r>
          </a:p>
        </p:txBody>
      </p:sp>
      <p:sp>
        <p:nvSpPr>
          <p:cNvPr id="9" name="">
            <a:extLst xmlns:a="http://schemas.openxmlformats.org/drawingml/2006/main">
              <a:ext uri="{FF2B5EF4-FFF2-40B4-BE49-F238E27FC236}">
                <a16:creationId xmlns:a16="http://schemas.microsoft.com/office/drawing/2014/main" id="{4551FD44-B9DA-45A7-9963-81623DC1CE4D}"/>
              </a:ext>
            </a:extLst>
          </p:cNvPr>
          <p:cNvSpPr>
            <a:spLocks xmlns:a="http://schemas.openxmlformats.org/drawingml/2006/main" noGrp="1"/>
          </p:cNvSpPr>
          <p:nvPr/>
        </p:nvSpPr>
        <p:spPr>
          <a:xfrm xmlns:a="http://schemas.openxmlformats.org/drawingml/2006/main">
            <a:off x="857250" y="22288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7055F5"/>
                </a:solidFill>
                <a:latin typeface="Segoe UI"/>
                <a:ea typeface="Segoe UI"/>
                <a:cs typeface="Segoe UI"/>
              </a:defRPr>
            </a:defPPr>
          </a:lstStyle>
          <a:p xmlns:a="http://schemas.openxmlformats.org/drawingml/2006/main">
            <a:pPr algn="l">
              <a:defRPr sz="1725" b="1">
                <a:solidFill>
                  <a:srgbClr val="7055F5"/>
                </a:solidFill>
                <a:latin typeface="Segoe UI"/>
                <a:ea typeface="Segoe UI"/>
                <a:cs typeface="Segoe UI"/>
              </a:defRPr>
            </a:pPr>
            <a:r>
              <a:rPr sz="1725"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AEC932CC-58F6-4ECC-8020-25883B56E439}"/>
              </a:ext>
            </a:extLst>
          </p:cNvPr>
          <p:cNvSpPr>
            <a:spLocks xmlns:a="http://schemas.openxmlformats.org/drawingml/2006/main" noGrp="1"/>
          </p:cNvSpPr>
          <p:nvPr/>
        </p:nvSpPr>
        <p:spPr>
          <a:xfrm xmlns:a="http://schemas.openxmlformats.org/drawingml/2006/main">
            <a:off x="1524000" y="22098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Admin</a:t>
            </a:r>
          </a:p>
        </p:txBody>
      </p:sp>
      <p:sp>
        <p:nvSpPr>
          <p:cNvPr id="11" name="">
            <a:extLst xmlns:a="http://schemas.openxmlformats.org/drawingml/2006/main">
              <a:ext uri="{FF2B5EF4-FFF2-40B4-BE49-F238E27FC236}">
                <a16:creationId xmlns:a16="http://schemas.microsoft.com/office/drawing/2014/main" id="{9171FBC0-6BB7-4305-B4C1-17B28E22BFDD}"/>
              </a:ext>
            </a:extLst>
          </p:cNvPr>
          <p:cNvSpPr>
            <a:spLocks xmlns:a="http://schemas.openxmlformats.org/drawingml/2006/main" noGrp="1"/>
          </p:cNvSpPr>
          <p:nvPr/>
        </p:nvSpPr>
        <p:spPr>
          <a:xfrm xmlns:a="http://schemas.openxmlformats.org/drawingml/2006/main">
            <a:off x="3362325" y="22098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Adds UPI ID or uploads QR</a:t>
            </a:r>
          </a:p>
        </p:txBody>
      </p:sp>
      <p:sp>
        <p:nvSpPr>
          <p:cNvPr id="12" name="">
            <a:extLst xmlns:a="http://schemas.openxmlformats.org/drawingml/2006/main">
              <a:ext uri="{FF2B5EF4-FFF2-40B4-BE49-F238E27FC236}">
                <a16:creationId xmlns:a16="http://schemas.microsoft.com/office/drawing/2014/main" id="{7FDAB12C-5BED-48F2-8903-0DC7F0D7E90A}"/>
              </a:ext>
            </a:extLst>
          </p:cNvPr>
          <p:cNvSpPr>
            <a:spLocks xmlns:a="http://schemas.openxmlformats.org/drawingml/2006/main" noGrp="1"/>
          </p:cNvSpPr>
          <p:nvPr/>
        </p:nvSpPr>
        <p:spPr>
          <a:xfrm xmlns:a="http://schemas.openxmlformats.org/drawingml/2006/main">
            <a:off x="1524000" y="2733675"/>
            <a:ext cx="8810625"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4DAE775-9ACE-4946-8F6B-12B5F7B7F37F}"/>
              </a:ext>
            </a:extLst>
          </p:cNvPr>
          <p:cNvSpPr>
            <a:spLocks xmlns:a="http://schemas.openxmlformats.org/drawingml/2006/main" noGrp="1"/>
          </p:cNvSpPr>
          <p:nvPr/>
        </p:nvSpPr>
        <p:spPr>
          <a:xfrm xmlns:a="http://schemas.openxmlformats.org/drawingml/2006/main">
            <a:off x="857250" y="31051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20C6B2"/>
                </a:solidFill>
                <a:latin typeface="Segoe UI"/>
                <a:ea typeface="Segoe UI"/>
                <a:cs typeface="Segoe UI"/>
              </a:defRPr>
            </a:defPPr>
          </a:lstStyle>
          <a:p xmlns:a="http://schemas.openxmlformats.org/drawingml/2006/main">
            <a:pPr algn="l">
              <a:defRPr sz="1725" b="1">
                <a:solidFill>
                  <a:srgbClr val="20C6B2"/>
                </a:solidFill>
                <a:latin typeface="Segoe UI"/>
                <a:ea typeface="Segoe UI"/>
                <a:cs typeface="Segoe UI"/>
              </a:defRPr>
            </a:pPr>
            <a:r>
              <a:rPr sz="1725" b="1">
                <a:solidFill>
                  <a:srgbClr val="20C6B2"/>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C8FB6B46-DFA9-41D0-BDC1-EC523A468A02}"/>
              </a:ext>
            </a:extLst>
          </p:cNvPr>
          <p:cNvSpPr>
            <a:spLocks xmlns:a="http://schemas.openxmlformats.org/drawingml/2006/main" noGrp="1"/>
          </p:cNvSpPr>
          <p:nvPr/>
        </p:nvSpPr>
        <p:spPr>
          <a:xfrm xmlns:a="http://schemas.openxmlformats.org/drawingml/2006/main">
            <a:off x="1524000" y="30861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Student</a:t>
            </a:r>
          </a:p>
        </p:txBody>
      </p:sp>
      <p:sp>
        <p:nvSpPr>
          <p:cNvPr id="15" name="">
            <a:extLst xmlns:a="http://schemas.openxmlformats.org/drawingml/2006/main">
              <a:ext uri="{FF2B5EF4-FFF2-40B4-BE49-F238E27FC236}">
                <a16:creationId xmlns:a16="http://schemas.microsoft.com/office/drawing/2014/main" id="{3571DF82-7806-4349-A327-82C15615F256}"/>
              </a:ext>
            </a:extLst>
          </p:cNvPr>
          <p:cNvSpPr>
            <a:spLocks xmlns:a="http://schemas.openxmlformats.org/drawingml/2006/main" noGrp="1"/>
          </p:cNvSpPr>
          <p:nvPr/>
        </p:nvSpPr>
        <p:spPr>
          <a:xfrm xmlns:a="http://schemas.openxmlformats.org/drawingml/2006/main">
            <a:off x="3362325" y="30861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Opens Pay Now for an order</a:t>
            </a:r>
          </a:p>
        </p:txBody>
      </p:sp>
      <p:sp>
        <p:nvSpPr>
          <p:cNvPr id="16" name="">
            <a:extLst xmlns:a="http://schemas.openxmlformats.org/drawingml/2006/main">
              <a:ext uri="{FF2B5EF4-FFF2-40B4-BE49-F238E27FC236}">
                <a16:creationId xmlns:a16="http://schemas.microsoft.com/office/drawing/2014/main" id="{117A52E9-B427-4D61-81E8-13C98156DD26}"/>
              </a:ext>
            </a:extLst>
          </p:cNvPr>
          <p:cNvSpPr>
            <a:spLocks xmlns:a="http://schemas.openxmlformats.org/drawingml/2006/main" noGrp="1"/>
          </p:cNvSpPr>
          <p:nvPr/>
        </p:nvSpPr>
        <p:spPr>
          <a:xfrm xmlns:a="http://schemas.openxmlformats.org/drawingml/2006/main">
            <a:off x="1524000" y="3609975"/>
            <a:ext cx="8810625"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634D1C3-C37F-4F5B-A92D-0A7A11C0A0B3}"/>
              </a:ext>
            </a:extLst>
          </p:cNvPr>
          <p:cNvSpPr>
            <a:spLocks xmlns:a="http://schemas.openxmlformats.org/drawingml/2006/main" noGrp="1"/>
          </p:cNvSpPr>
          <p:nvPr/>
        </p:nvSpPr>
        <p:spPr>
          <a:xfrm xmlns:a="http://schemas.openxmlformats.org/drawingml/2006/main">
            <a:off x="857250" y="39814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FFC857"/>
                </a:solidFill>
                <a:latin typeface="Segoe UI"/>
                <a:ea typeface="Segoe UI"/>
                <a:cs typeface="Segoe UI"/>
              </a:defRPr>
            </a:defPPr>
          </a:lstStyle>
          <a:p xmlns:a="http://schemas.openxmlformats.org/drawingml/2006/main">
            <a:pPr algn="l">
              <a:defRPr sz="1725" b="1">
                <a:solidFill>
                  <a:srgbClr val="FFC857"/>
                </a:solidFill>
                <a:latin typeface="Segoe UI"/>
                <a:ea typeface="Segoe UI"/>
                <a:cs typeface="Segoe UI"/>
              </a:defRPr>
            </a:pPr>
            <a:r>
              <a:rPr sz="1725" b="1">
                <a:solidFill>
                  <a:srgbClr val="FFC857"/>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76A64A5C-B54A-4652-9956-E4F769BE2D25}"/>
              </a:ext>
            </a:extLst>
          </p:cNvPr>
          <p:cNvSpPr>
            <a:spLocks xmlns:a="http://schemas.openxmlformats.org/drawingml/2006/main" noGrp="1"/>
          </p:cNvSpPr>
          <p:nvPr/>
        </p:nvSpPr>
        <p:spPr>
          <a:xfrm xmlns:a="http://schemas.openxmlformats.org/drawingml/2006/main">
            <a:off x="1524000" y="39624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Student</a:t>
            </a:r>
          </a:p>
        </p:txBody>
      </p:sp>
      <p:sp>
        <p:nvSpPr>
          <p:cNvPr id="19" name="">
            <a:extLst xmlns:a="http://schemas.openxmlformats.org/drawingml/2006/main">
              <a:ext uri="{FF2B5EF4-FFF2-40B4-BE49-F238E27FC236}">
                <a16:creationId xmlns:a16="http://schemas.microsoft.com/office/drawing/2014/main" id="{E1DEADEB-409B-4BEC-90E3-20562C757882}"/>
              </a:ext>
            </a:extLst>
          </p:cNvPr>
          <p:cNvSpPr>
            <a:spLocks xmlns:a="http://schemas.openxmlformats.org/drawingml/2006/main" noGrp="1"/>
          </p:cNvSpPr>
          <p:nvPr/>
        </p:nvSpPr>
        <p:spPr>
          <a:xfrm xmlns:a="http://schemas.openxmlformats.org/drawingml/2006/main">
            <a:off x="3362325" y="39624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Pays in their UPI app and submits reference</a:t>
            </a:r>
          </a:p>
        </p:txBody>
      </p:sp>
      <p:sp>
        <p:nvSpPr>
          <p:cNvPr id="20" name="">
            <a:extLst xmlns:a="http://schemas.openxmlformats.org/drawingml/2006/main">
              <a:ext uri="{FF2B5EF4-FFF2-40B4-BE49-F238E27FC236}">
                <a16:creationId xmlns:a16="http://schemas.microsoft.com/office/drawing/2014/main" id="{316EF1BE-BA8E-4359-A62A-EF0087F9B46E}"/>
              </a:ext>
            </a:extLst>
          </p:cNvPr>
          <p:cNvSpPr>
            <a:spLocks xmlns:a="http://schemas.openxmlformats.org/drawingml/2006/main" noGrp="1"/>
          </p:cNvSpPr>
          <p:nvPr/>
        </p:nvSpPr>
        <p:spPr>
          <a:xfrm xmlns:a="http://schemas.openxmlformats.org/drawingml/2006/main">
            <a:off x="1524000" y="4486275"/>
            <a:ext cx="8810625"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DC3EE38-B756-464D-8F2C-BA1F69FE70A1}"/>
              </a:ext>
            </a:extLst>
          </p:cNvPr>
          <p:cNvSpPr>
            <a:spLocks xmlns:a="http://schemas.openxmlformats.org/drawingml/2006/main" noGrp="1"/>
          </p:cNvSpPr>
          <p:nvPr/>
        </p:nvSpPr>
        <p:spPr>
          <a:xfrm xmlns:a="http://schemas.openxmlformats.org/drawingml/2006/main">
            <a:off x="857250" y="48577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FF796C"/>
                </a:solidFill>
                <a:latin typeface="Segoe UI"/>
                <a:ea typeface="Segoe UI"/>
                <a:cs typeface="Segoe UI"/>
              </a:defRPr>
            </a:defPPr>
          </a:lstStyle>
          <a:p xmlns:a="http://schemas.openxmlformats.org/drawingml/2006/main">
            <a:pPr algn="l">
              <a:defRPr sz="1725" b="1">
                <a:solidFill>
                  <a:srgbClr val="FF796C"/>
                </a:solidFill>
                <a:latin typeface="Segoe UI"/>
                <a:ea typeface="Segoe UI"/>
                <a:cs typeface="Segoe UI"/>
              </a:defRPr>
            </a:pPr>
            <a:r>
              <a:rPr sz="1725" b="1">
                <a:solidFill>
                  <a:srgbClr val="FF796C"/>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86C7DCF1-FF7E-494E-A936-3734FC645D00}"/>
              </a:ext>
            </a:extLst>
          </p:cNvPr>
          <p:cNvSpPr>
            <a:spLocks xmlns:a="http://schemas.openxmlformats.org/drawingml/2006/main" noGrp="1"/>
          </p:cNvSpPr>
          <p:nvPr/>
        </p:nvSpPr>
        <p:spPr>
          <a:xfrm xmlns:a="http://schemas.openxmlformats.org/drawingml/2006/main">
            <a:off x="1524000" y="48387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Admin</a:t>
            </a:r>
          </a:p>
        </p:txBody>
      </p:sp>
      <p:sp>
        <p:nvSpPr>
          <p:cNvPr id="23" name="">
            <a:extLst xmlns:a="http://schemas.openxmlformats.org/drawingml/2006/main">
              <a:ext uri="{FF2B5EF4-FFF2-40B4-BE49-F238E27FC236}">
                <a16:creationId xmlns:a16="http://schemas.microsoft.com/office/drawing/2014/main" id="{8231006F-B2E2-4637-8F3F-D5E7EDB9CD17}"/>
              </a:ext>
            </a:extLst>
          </p:cNvPr>
          <p:cNvSpPr>
            <a:spLocks xmlns:a="http://schemas.openxmlformats.org/drawingml/2006/main" noGrp="1"/>
          </p:cNvSpPr>
          <p:nvPr/>
        </p:nvSpPr>
        <p:spPr>
          <a:xfrm xmlns:a="http://schemas.openxmlformats.org/drawingml/2006/main">
            <a:off x="3362325" y="48387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Reviews and verifies the payment</a:t>
            </a:r>
          </a:p>
        </p:txBody>
      </p:sp>
      <p:sp>
        <p:nvSpPr>
          <p:cNvPr id="24" name="">
            <a:extLst xmlns:a="http://schemas.openxmlformats.org/drawingml/2006/main">
              <a:ext uri="{FF2B5EF4-FFF2-40B4-BE49-F238E27FC236}">
                <a16:creationId xmlns:a16="http://schemas.microsoft.com/office/drawing/2014/main" id="{F55FD962-F979-4825-B38A-905EF5DBC122}"/>
              </a:ext>
            </a:extLst>
          </p:cNvPr>
          <p:cNvSpPr>
            <a:spLocks xmlns:a="http://schemas.openxmlformats.org/drawingml/2006/main" noGrp="1"/>
          </p:cNvSpPr>
          <p:nvPr/>
        </p:nvSpPr>
        <p:spPr>
          <a:xfrm xmlns:a="http://schemas.openxmlformats.org/drawingml/2006/main">
            <a:off x="1524000" y="5791200"/>
            <a:ext cx="8810625" cy="371475"/>
          </a:xfrm>
          <a:prstGeom xmlns:a="http://schemas.openxmlformats.org/drawingml/2006/main" prst="roundRect">
            <a:avLst>
              <a:gd name="adj" fmla="val 25641"/>
            </a:avLst>
          </a:prstGeom>
          <a:solidFill xmlns:a="http://schemas.openxmlformats.org/drawingml/2006/main">
            <a:srgbClr val="FFF3D4"/>
          </a:solidFill>
          <a:ln xmlns:a="http://schemas.openxmlformats.org/drawingml/2006/main" w="0">
            <a:solidFill>
              <a:srgbClr val="FFF3D4"/>
            </a:solidFill>
            <a:prstDash val="solid"/>
          </a:ln>
        </p:spPr>
      </p:sp>
      <p:sp>
        <p:nvSpPr>
          <p:cNvPr id="25" name="">
            <a:extLst xmlns:a="http://schemas.openxmlformats.org/drawingml/2006/main">
              <a:ext uri="{FF2B5EF4-FFF2-40B4-BE49-F238E27FC236}">
                <a16:creationId xmlns:a16="http://schemas.microsoft.com/office/drawing/2014/main" id="{9C06A485-2F27-4FBC-8A22-99B1D4715979}"/>
              </a:ext>
            </a:extLst>
          </p:cNvPr>
          <p:cNvSpPr>
            <a:spLocks xmlns:a="http://schemas.openxmlformats.org/drawingml/2006/main" noGrp="1"/>
          </p:cNvSpPr>
          <p:nvPr/>
        </p:nvSpPr>
        <p:spPr>
          <a:xfrm xmlns:a="http://schemas.openxmlformats.org/drawingml/2006/main">
            <a:off x="1695450" y="58674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1">
                <a:solidFill>
                  <a:srgbClr val="75531A"/>
                </a:solidFill>
                <a:latin typeface="Segoe UI"/>
                <a:ea typeface="Segoe UI"/>
                <a:cs typeface="Segoe UI"/>
              </a:defRPr>
            </a:defPPr>
          </a:lstStyle>
          <a:p xmlns:a="http://schemas.openxmlformats.org/drawingml/2006/main">
            <a:pPr algn="l">
              <a:defRPr sz="1200" b="1">
                <a:solidFill>
                  <a:srgbClr val="75531A"/>
                </a:solidFill>
                <a:latin typeface="Segoe UI"/>
                <a:ea typeface="Segoe UI"/>
                <a:cs typeface="Segoe UI"/>
              </a:defRPr>
            </a:pPr>
            <a:r>
              <a:rPr sz="1200" b="1">
                <a:solidFill>
                  <a:srgbClr val="75531A"/>
                </a:solidFill>
                <a:latin typeface="Segoe UI"/>
                <a:ea typeface="Segoe UI"/>
                <a:cs typeface="Segoe UI"/>
              </a:rPr>
              <a:t>Status remains awaiting verification until an administrator confirms it.</a:t>
            </a:r>
          </a:p>
        </p:txBody>
      </p:sp>
    </p:spTree>
    <p:extLst>
      <p:ext uri="{BB962C8B-B14F-4D97-AF65-F5344CB8AC3E}">
        <p14:creationId xmlns:p14="http://schemas.microsoft.com/office/powerpoint/2010/main" val="2029600344"/>
      </p:ext>
    </p:extLst>
  </p:cSld>
</p:sld>
</file>

<file path=ppt/slides/slide8.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E29F1F8-54CC-433D-B3E9-5BFCDB9CEEE8}"/>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41C690-9959-4F08-94B1-D638D2B525A8}"/>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B81C626-976F-4BA3-99E0-F16D0DA86034}"/>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MEDICAL AND HEALTH</a:t>
            </a:r>
          </a:p>
        </p:txBody>
      </p:sp>
      <p:sp>
        <p:nvSpPr>
          <p:cNvPr id="4" name="">
            <a:extLst xmlns:a="http://schemas.openxmlformats.org/drawingml/2006/main">
              <a:ext uri="{FF2B5EF4-FFF2-40B4-BE49-F238E27FC236}">
                <a16:creationId xmlns:a16="http://schemas.microsoft.com/office/drawing/2014/main" id="{D3126D05-545F-4C9D-9D26-60D52353DEFE}"/>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Medical support for common campus needs</a:t>
            </a:r>
          </a:p>
        </p:txBody>
      </p:sp>
      <p:sp>
        <p:nvSpPr>
          <p:cNvPr id="5" name="">
            <a:extLst xmlns:a="http://schemas.openxmlformats.org/drawingml/2006/main">
              <a:ext uri="{FF2B5EF4-FFF2-40B4-BE49-F238E27FC236}">
                <a16:creationId xmlns:a16="http://schemas.microsoft.com/office/drawing/2014/main" id="{A0EBCFE5-AAF5-4DD8-888C-9AD479ABEC75}"/>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2E36C45-E3CB-4252-B51D-1733A69AC6AB}"/>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4748DB8A-32C1-4140-B17C-89712EF7F778}"/>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08</a:t>
            </a:r>
          </a:p>
        </p:txBody>
      </p:sp>
      <p:sp>
        <p:nvSpPr>
          <p:cNvPr id="8" name="">
            <a:extLst xmlns:a="http://schemas.openxmlformats.org/drawingml/2006/main">
              <a:ext uri="{FF2B5EF4-FFF2-40B4-BE49-F238E27FC236}">
                <a16:creationId xmlns:a16="http://schemas.microsoft.com/office/drawing/2014/main" id="{1D67CB26-1197-450D-9C84-C0BBDDE48052}"/>
              </a:ext>
            </a:extLst>
          </p:cNvPr>
          <p:cNvSpPr>
            <a:spLocks xmlns:a="http://schemas.openxmlformats.org/drawingml/2006/main" noGrp="1"/>
          </p:cNvSpPr>
          <p:nvPr/>
        </p:nvSpPr>
        <p:spPr>
          <a:xfrm xmlns:a="http://schemas.openxmlformats.org/drawingml/2006/main">
            <a:off x="781050" y="158115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Medical listings and appointment requests live in a dedicated area</a:t>
            </a:r>
          </a:p>
        </p:txBody>
      </p:sp>
      <p:sp>
        <p:nvSpPr>
          <p:cNvPr id="9" name="">
            <a:extLst xmlns:a="http://schemas.openxmlformats.org/drawingml/2006/main">
              <a:ext uri="{FF2B5EF4-FFF2-40B4-BE49-F238E27FC236}">
                <a16:creationId xmlns:a16="http://schemas.microsoft.com/office/drawing/2014/main" id="{407F8679-BDAF-4150-B45E-9032721B0C2E}"/>
              </a:ext>
            </a:extLst>
          </p:cNvPr>
          <p:cNvSpPr>
            <a:spLocks xmlns:a="http://schemas.openxmlformats.org/drawingml/2006/main" noGrp="1"/>
          </p:cNvSpPr>
          <p:nvPr/>
        </p:nvSpPr>
        <p:spPr>
          <a:xfrm xmlns:a="http://schemas.openxmlformats.org/drawingml/2006/main">
            <a:off x="6048375" y="2190750"/>
            <a:ext cx="19050" cy="3238500"/>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95DBC11-A711-4B43-A777-D742E2439A5F}"/>
              </a:ext>
            </a:extLst>
          </p:cNvPr>
          <p:cNvSpPr>
            <a:spLocks xmlns:a="http://schemas.openxmlformats.org/drawingml/2006/main" noGrp="1"/>
          </p:cNvSpPr>
          <p:nvPr/>
        </p:nvSpPr>
        <p:spPr>
          <a:xfrm xmlns:a="http://schemas.openxmlformats.org/drawingml/2006/main">
            <a:off x="800100" y="21717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7055F5"/>
                </a:solidFill>
                <a:latin typeface="Segoe UI"/>
                <a:ea typeface="Segoe UI"/>
                <a:cs typeface="Segoe UI"/>
              </a:defRPr>
            </a:defPPr>
          </a:lstStyle>
          <a:p xmlns:a="http://schemas.openxmlformats.org/drawingml/2006/main">
            <a:pPr algn="l">
              <a:defRPr sz="1125" b="1">
                <a:solidFill>
                  <a:srgbClr val="7055F5"/>
                </a:solidFill>
                <a:latin typeface="Segoe UI"/>
                <a:ea typeface="Segoe UI"/>
                <a:cs typeface="Segoe UI"/>
              </a:defRPr>
            </a:pPr>
            <a:r>
              <a:rPr sz="1125" b="1">
                <a:solidFill>
                  <a:srgbClr val="7055F5"/>
                </a:solidFill>
                <a:latin typeface="Segoe UI"/>
                <a:ea typeface="Segoe UI"/>
                <a:cs typeface="Segoe UI"/>
              </a:rPr>
              <a:t>MEDICINES</a:t>
            </a:r>
          </a:p>
        </p:txBody>
      </p:sp>
      <p:sp>
        <p:nvSpPr>
          <p:cNvPr id="11" name="">
            <a:extLst xmlns:a="http://schemas.openxmlformats.org/drawingml/2006/main">
              <a:ext uri="{FF2B5EF4-FFF2-40B4-BE49-F238E27FC236}">
                <a16:creationId xmlns:a16="http://schemas.microsoft.com/office/drawing/2014/main" id="{C9A6ED45-3C43-4D1B-ACCB-E0AF09C598B3}"/>
              </a:ext>
            </a:extLst>
          </p:cNvPr>
          <p:cNvSpPr>
            <a:spLocks xmlns:a="http://schemas.openxmlformats.org/drawingml/2006/main" noGrp="1"/>
          </p:cNvSpPr>
          <p:nvPr/>
        </p:nvSpPr>
        <p:spPr>
          <a:xfrm xmlns:a="http://schemas.openxmlformats.org/drawingml/2006/main">
            <a:off x="800100" y="2581275"/>
            <a:ext cx="466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Medical shops and medicine listings</a:t>
            </a:r>
          </a:p>
        </p:txBody>
      </p:sp>
      <p:sp>
        <p:nvSpPr>
          <p:cNvPr id="12" name="">
            <a:extLst xmlns:a="http://schemas.openxmlformats.org/drawingml/2006/main">
              <a:ext uri="{FF2B5EF4-FFF2-40B4-BE49-F238E27FC236}">
                <a16:creationId xmlns:a16="http://schemas.microsoft.com/office/drawing/2014/main" id="{F06C506D-4A26-4A58-855C-60834B3FB07A}"/>
              </a:ext>
            </a:extLst>
          </p:cNvPr>
          <p:cNvSpPr>
            <a:spLocks xmlns:a="http://schemas.openxmlformats.org/drawingml/2006/main" noGrp="1"/>
          </p:cNvSpPr>
          <p:nvPr/>
        </p:nvSpPr>
        <p:spPr>
          <a:xfrm xmlns:a="http://schemas.openxmlformats.org/drawingml/2006/main">
            <a:off x="800100" y="3343275"/>
            <a:ext cx="4572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Students can view item information, stock and price, then save to wishlist, add to cart or place an order.</a:t>
            </a:r>
          </a:p>
        </p:txBody>
      </p:sp>
      <p:sp>
        <p:nvSpPr>
          <p:cNvPr id="13" name="">
            <a:extLst xmlns:a="http://schemas.openxmlformats.org/drawingml/2006/main">
              <a:ext uri="{FF2B5EF4-FFF2-40B4-BE49-F238E27FC236}">
                <a16:creationId xmlns:a16="http://schemas.microsoft.com/office/drawing/2014/main" id="{E2753230-28D7-49BC-B4D5-1E36BB67D251}"/>
              </a:ext>
            </a:extLst>
          </p:cNvPr>
          <p:cNvSpPr>
            <a:spLocks xmlns:a="http://schemas.openxmlformats.org/drawingml/2006/main" noGrp="1"/>
          </p:cNvSpPr>
          <p:nvPr/>
        </p:nvSpPr>
        <p:spPr>
          <a:xfrm xmlns:a="http://schemas.openxmlformats.org/drawingml/2006/main">
            <a:off x="800100" y="4848225"/>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20264B"/>
                </a:solidFill>
                <a:latin typeface="Segoe UI"/>
                <a:ea typeface="Segoe UI"/>
                <a:cs typeface="Segoe UI"/>
              </a:defRPr>
            </a:defPPr>
          </a:lstStyle>
          <a:p xmlns:a="http://schemas.openxmlformats.org/drawingml/2006/main">
            <a:pPr algn="l">
              <a:defRPr sz="1350" b="1">
                <a:solidFill>
                  <a:srgbClr val="20264B"/>
                </a:solidFill>
                <a:latin typeface="Segoe UI"/>
                <a:ea typeface="Segoe UI"/>
                <a:cs typeface="Segoe UI"/>
              </a:defRPr>
            </a:pPr>
            <a:r>
              <a:rPr sz="1350" b="1">
                <a:solidFill>
                  <a:srgbClr val="20264B"/>
                </a:solidFill>
                <a:latin typeface="Segoe UI"/>
                <a:ea typeface="Segoe UI"/>
                <a:cs typeface="Segoe UI"/>
              </a:rPr>
              <a:t>Admins can add medicine details and upload an item image.</a:t>
            </a:r>
          </a:p>
        </p:txBody>
      </p:sp>
      <p:sp>
        <p:nvSpPr>
          <p:cNvPr id="14" name="">
            <a:extLst xmlns:a="http://schemas.openxmlformats.org/drawingml/2006/main">
              <a:ext uri="{FF2B5EF4-FFF2-40B4-BE49-F238E27FC236}">
                <a16:creationId xmlns:a16="http://schemas.microsoft.com/office/drawing/2014/main" id="{D08868CD-B4CF-4969-AA4E-505539FC51A5}"/>
              </a:ext>
            </a:extLst>
          </p:cNvPr>
          <p:cNvSpPr>
            <a:spLocks xmlns:a="http://schemas.openxmlformats.org/drawingml/2006/main" noGrp="1"/>
          </p:cNvSpPr>
          <p:nvPr/>
        </p:nvSpPr>
        <p:spPr>
          <a:xfrm xmlns:a="http://schemas.openxmlformats.org/drawingml/2006/main">
            <a:off x="6648450" y="21717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CARE</a:t>
            </a:r>
          </a:p>
        </p:txBody>
      </p:sp>
      <p:sp>
        <p:nvSpPr>
          <p:cNvPr id="15" name="">
            <a:extLst xmlns:a="http://schemas.openxmlformats.org/drawingml/2006/main">
              <a:ext uri="{FF2B5EF4-FFF2-40B4-BE49-F238E27FC236}">
                <a16:creationId xmlns:a16="http://schemas.microsoft.com/office/drawing/2014/main" id="{AF52574B-E683-4F57-B581-67BB395FFAF8}"/>
              </a:ext>
            </a:extLst>
          </p:cNvPr>
          <p:cNvSpPr>
            <a:spLocks xmlns:a="http://schemas.openxmlformats.org/drawingml/2006/main" noGrp="1"/>
          </p:cNvSpPr>
          <p:nvPr/>
        </p:nvSpPr>
        <p:spPr>
          <a:xfrm xmlns:a="http://schemas.openxmlformats.org/drawingml/2006/main">
            <a:off x="6648450" y="2581275"/>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Clinics, doctors and health requests</a:t>
            </a:r>
          </a:p>
        </p:txBody>
      </p:sp>
      <p:sp>
        <p:nvSpPr>
          <p:cNvPr id="16" name="">
            <a:extLst xmlns:a="http://schemas.openxmlformats.org/drawingml/2006/main">
              <a:ext uri="{FF2B5EF4-FFF2-40B4-BE49-F238E27FC236}">
                <a16:creationId xmlns:a16="http://schemas.microsoft.com/office/drawing/2014/main" id="{67F51466-67BC-40B5-BCBE-4BDEEDA27E5F}"/>
              </a:ext>
            </a:extLst>
          </p:cNvPr>
          <p:cNvSpPr>
            <a:spLocks xmlns:a="http://schemas.openxmlformats.org/drawingml/2006/main" noGrp="1"/>
          </p:cNvSpPr>
          <p:nvPr/>
        </p:nvSpPr>
        <p:spPr>
          <a:xfrm xmlns:a="http://schemas.openxmlformats.org/drawingml/2006/main">
            <a:off x="6648450" y="3343275"/>
            <a:ext cx="452437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View hospital and clinic information, request a doctor appointment, or submit a medical help request and check its status.</a:t>
            </a:r>
          </a:p>
        </p:txBody>
      </p:sp>
      <p:sp>
        <p:nvSpPr>
          <p:cNvPr id="17" name="">
            <a:extLst xmlns:a="http://schemas.openxmlformats.org/drawingml/2006/main">
              <a:ext uri="{FF2B5EF4-FFF2-40B4-BE49-F238E27FC236}">
                <a16:creationId xmlns:a16="http://schemas.microsoft.com/office/drawing/2014/main" id="{9DB5E6A8-CD15-41F4-952C-58014579130A}"/>
              </a:ext>
            </a:extLst>
          </p:cNvPr>
          <p:cNvSpPr>
            <a:spLocks xmlns:a="http://schemas.openxmlformats.org/drawingml/2006/main" noGrp="1"/>
          </p:cNvSpPr>
          <p:nvPr/>
        </p:nvSpPr>
        <p:spPr>
          <a:xfrm xmlns:a="http://schemas.openxmlformats.org/drawingml/2006/main">
            <a:off x="6648450" y="4857750"/>
            <a:ext cx="4448175" cy="533400"/>
          </a:xfrm>
          <a:prstGeom xmlns:a="http://schemas.openxmlformats.org/drawingml/2006/main" prst="roundRect">
            <a:avLst>
              <a:gd name="adj" fmla="val 21429"/>
            </a:avLst>
          </a:prstGeom>
          <a:solidFill xmlns:a="http://schemas.openxmlformats.org/drawingml/2006/main">
            <a:srgbClr val="DDF8F3"/>
          </a:solidFill>
          <a:ln xmlns:a="http://schemas.openxmlformats.org/drawingml/2006/main" w="0">
            <a:solidFill>
              <a:srgbClr val="DDF8F3"/>
            </a:solidFill>
            <a:prstDash val="solid"/>
          </a:ln>
        </p:spPr>
      </p:sp>
      <p:sp>
        <p:nvSpPr>
          <p:cNvPr id="18" name="">
            <a:extLst xmlns:a="http://schemas.openxmlformats.org/drawingml/2006/main">
              <a:ext uri="{FF2B5EF4-FFF2-40B4-BE49-F238E27FC236}">
                <a16:creationId xmlns:a16="http://schemas.microsoft.com/office/drawing/2014/main" id="{59DFAF4D-8196-4987-B097-1BEC9DC427E6}"/>
              </a:ext>
            </a:extLst>
          </p:cNvPr>
          <p:cNvSpPr>
            <a:spLocks xmlns:a="http://schemas.openxmlformats.org/drawingml/2006/main" noGrp="1"/>
          </p:cNvSpPr>
          <p:nvPr/>
        </p:nvSpPr>
        <p:spPr>
          <a:xfrm xmlns:a="http://schemas.openxmlformats.org/drawingml/2006/main">
            <a:off x="6819900" y="50101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166E5D"/>
                </a:solidFill>
                <a:latin typeface="Segoe UI"/>
                <a:ea typeface="Segoe UI"/>
                <a:cs typeface="Segoe UI"/>
              </a:defRPr>
            </a:defPPr>
          </a:lstStyle>
          <a:p xmlns:a="http://schemas.openxmlformats.org/drawingml/2006/main">
            <a:pPr algn="l">
              <a:defRPr sz="1350" b="1">
                <a:solidFill>
                  <a:srgbClr val="166E5D"/>
                </a:solidFill>
                <a:latin typeface="Segoe UI"/>
                <a:ea typeface="Segoe UI"/>
                <a:cs typeface="Segoe UI"/>
              </a:defRPr>
            </a:pPr>
            <a:r>
              <a:rPr sz="1350" b="1">
                <a:solidFill>
                  <a:srgbClr val="166E5D"/>
                </a:solidFill>
                <a:latin typeface="Segoe UI"/>
                <a:ea typeface="Segoe UI"/>
                <a:cs typeface="Segoe UI"/>
              </a:rPr>
              <a:t>Immediate emergency in India: call 112</a:t>
            </a:r>
          </a:p>
        </p:txBody>
      </p:sp>
    </p:spTree>
    <p:extLst>
      <p:ext uri="{BB962C8B-B14F-4D97-AF65-F5344CB8AC3E}">
        <p14:creationId xmlns:p14="http://schemas.microsoft.com/office/powerpoint/2010/main" val="287260986"/>
      </p:ext>
    </p:extLst>
  </p:cSld>
</p:sld>
</file>

<file path=ppt/slides/slide9.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E4EC4F4-05F0-42BB-BC28-145CE4603E6F}"/>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433F9D-D878-45A1-8F34-1E16C5DBB27D}"/>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052495D-6C1D-45A7-AFBA-18CBFD089706}"/>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20C6B2"/>
                </a:solidFill>
                <a:latin typeface="Bahnschrift"/>
                <a:ea typeface="Bahnschrift"/>
                <a:cs typeface="Bahnschrift"/>
              </a:defRPr>
            </a:defPPr>
          </a:lstStyle>
          <a:p xmlns:a="http://schemas.openxmlformats.org/drawingml/2006/main">
            <a:pPr algn="l">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SERVICES</a:t>
            </a:r>
          </a:p>
        </p:txBody>
      </p:sp>
      <p:sp>
        <p:nvSpPr>
          <p:cNvPr id="4" name="">
            <a:extLst xmlns:a="http://schemas.openxmlformats.org/drawingml/2006/main">
              <a:ext uri="{FF2B5EF4-FFF2-40B4-BE49-F238E27FC236}">
                <a16:creationId xmlns:a16="http://schemas.microsoft.com/office/drawing/2014/main" id="{7272260E-716C-440E-B1CE-67A6E7F07CC7}"/>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FFFFFF"/>
                </a:solidFill>
                <a:latin typeface="Bahnschrift"/>
                <a:ea typeface="Bahnschrift"/>
                <a:cs typeface="Bahnschrift"/>
              </a:defRPr>
            </a:defPPr>
          </a:lstStyle>
          <a:p xmlns:a="http://schemas.openxmlformats.org/drawingml/2006/main">
            <a:pPr algn="l">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Campus services with a trackable request</a:t>
            </a:r>
          </a:p>
        </p:txBody>
      </p:sp>
      <p:sp>
        <p:nvSpPr>
          <p:cNvPr id="5" name="">
            <a:extLst xmlns:a="http://schemas.openxmlformats.org/drawingml/2006/main">
              <a:ext uri="{FF2B5EF4-FFF2-40B4-BE49-F238E27FC236}">
                <a16:creationId xmlns:a16="http://schemas.microsoft.com/office/drawing/2014/main" id="{8D3AA07C-EF80-4304-B4F0-8028E954994C}"/>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39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37F09B8-4F16-46C2-93BB-A6F03BED0DC5}"/>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AAA9C4"/>
                </a:solidFill>
                <a:latin typeface="Bahnschrift"/>
                <a:ea typeface="Bahnschrift"/>
                <a:cs typeface="Bahnschrift"/>
              </a:defRPr>
            </a:defPPr>
          </a:lstStyle>
          <a:p xmlns:a="http://schemas.openxmlformats.org/drawingml/2006/main">
            <a:pPr algn="l">
              <a:defRPr sz="900" b="1">
                <a:solidFill>
                  <a:srgbClr val="AAA9C4"/>
                </a:solidFill>
                <a:latin typeface="Bahnschrift"/>
                <a:ea typeface="Bahnschrift"/>
                <a:cs typeface="Bahnschrift"/>
              </a:defRPr>
            </a:pPr>
            <a:r>
              <a:rPr sz="900" b="1">
                <a:solidFill>
                  <a:srgbClr val="AAA9C4"/>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6DC18FF1-67C3-40B4-937E-D9F60A534025}"/>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A998FF"/>
                </a:solidFill>
                <a:latin typeface="Segoe UI"/>
                <a:ea typeface="Segoe UI"/>
                <a:cs typeface="Segoe UI"/>
              </a:defRPr>
            </a:defPPr>
          </a:lstStyle>
          <a:p xmlns:a="http://schemas.openxmlformats.org/drawingml/2006/main">
            <a:pPr algn="r">
              <a:defRPr sz="1050" b="1">
                <a:solidFill>
                  <a:srgbClr val="A998FF"/>
                </a:solidFill>
                <a:latin typeface="Segoe UI"/>
                <a:ea typeface="Segoe UI"/>
                <a:cs typeface="Segoe UI"/>
              </a:defRPr>
            </a:pPr>
            <a:r>
              <a:rPr sz="1050" b="1">
                <a:solidFill>
                  <a:srgbClr val="A998FF"/>
                </a:solidFill>
                <a:latin typeface="Segoe UI"/>
                <a:ea typeface="Segoe UI"/>
                <a:cs typeface="Segoe UI"/>
              </a:rPr>
              <a:t>09</a:t>
            </a:r>
          </a:p>
        </p:txBody>
      </p:sp>
      <p:sp>
        <p:nvSpPr>
          <p:cNvPr id="8" name="">
            <a:extLst xmlns:a="http://schemas.openxmlformats.org/drawingml/2006/main">
              <a:ext uri="{FF2B5EF4-FFF2-40B4-BE49-F238E27FC236}">
                <a16:creationId xmlns:a16="http://schemas.microsoft.com/office/drawing/2014/main" id="{357FCB19-9976-4B48-8BB9-A934B2D9156E}"/>
              </a:ext>
            </a:extLst>
          </p:cNvPr>
          <p:cNvSpPr>
            <a:spLocks xmlns:a="http://schemas.openxmlformats.org/drawingml/2006/main" noGrp="1"/>
          </p:cNvSpPr>
          <p:nvPr/>
        </p:nvSpPr>
        <p:spPr>
          <a:xfrm xmlns:a="http://schemas.openxmlformats.org/drawingml/2006/main">
            <a:off x="781050" y="1581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C5C4DC"/>
                </a:solidFill>
                <a:latin typeface="Segoe UI"/>
                <a:ea typeface="Segoe UI"/>
                <a:cs typeface="Segoe UI"/>
              </a:defRPr>
            </a:defPPr>
          </a:lstStyle>
          <a:p xmlns:a="http://schemas.openxmlformats.org/drawingml/2006/main">
            <a:pPr algn="l">
              <a:defRPr sz="1650" b="0">
                <a:solidFill>
                  <a:srgbClr val="C5C4DC"/>
                </a:solidFill>
                <a:latin typeface="Segoe UI"/>
                <a:ea typeface="Segoe UI"/>
                <a:cs typeface="Segoe UI"/>
              </a:defRPr>
            </a:pPr>
            <a:r>
              <a:rPr sz="1650" b="0">
                <a:solidFill>
                  <a:srgbClr val="C5C4DC"/>
                </a:solidFill>
                <a:latin typeface="Segoe UI"/>
                <a:ea typeface="Segoe UI"/>
                <a:cs typeface="Segoe UI"/>
              </a:rPr>
              <a:t>Students select a service, submit a booking and follow updates</a:t>
            </a:r>
          </a:p>
        </p:txBody>
      </p:sp>
      <p:sp>
        <p:nvSpPr>
          <p:cNvPr id="9" name="">
            <a:extLst xmlns:a="http://schemas.openxmlformats.org/drawingml/2006/main">
              <a:ext uri="{FF2B5EF4-FFF2-40B4-BE49-F238E27FC236}">
                <a16:creationId xmlns:a16="http://schemas.microsoft.com/office/drawing/2014/main" id="{7056CC2E-27DB-412A-9275-6924527314A6}"/>
              </a:ext>
            </a:extLst>
          </p:cNvPr>
          <p:cNvSpPr>
            <a:spLocks xmlns:a="http://schemas.openxmlformats.org/drawingml/2006/main" noGrp="1"/>
          </p:cNvSpPr>
          <p:nvPr/>
        </p:nvSpPr>
        <p:spPr>
          <a:xfrm xmlns:a="http://schemas.openxmlformats.org/drawingml/2006/main">
            <a:off x="819150" y="22479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A998FF"/>
                </a:solidFill>
                <a:latin typeface="Segoe UI"/>
                <a:ea typeface="Segoe UI"/>
                <a:cs typeface="Segoe UI"/>
              </a:defRPr>
            </a:defPPr>
          </a:lstStyle>
          <a:p xmlns:a="http://schemas.openxmlformats.org/drawingml/2006/main">
            <a:pPr algn="l">
              <a:defRPr sz="1125" b="1">
                <a:solidFill>
                  <a:srgbClr val="A998FF"/>
                </a:solidFill>
                <a:latin typeface="Segoe UI"/>
                <a:ea typeface="Segoe UI"/>
                <a:cs typeface="Segoe UI"/>
              </a:defRPr>
            </a:pPr>
            <a:r>
              <a:rPr sz="1125" b="1">
                <a:solidFill>
                  <a:srgbClr val="A998FF"/>
                </a:solidFill>
                <a:latin typeface="Segoe UI"/>
                <a:ea typeface="Segoe UI"/>
                <a:cs typeface="Segoe UI"/>
              </a:rPr>
              <a:t>AVAILABLE CATEGORIES</a:t>
            </a:r>
          </a:p>
        </p:txBody>
      </p:sp>
      <p:sp>
        <p:nvSpPr>
          <p:cNvPr id="10" name="">
            <a:extLst xmlns:a="http://schemas.openxmlformats.org/drawingml/2006/main">
              <a:ext uri="{FF2B5EF4-FFF2-40B4-BE49-F238E27FC236}">
                <a16:creationId xmlns:a16="http://schemas.microsoft.com/office/drawing/2014/main" id="{C1F130A4-5BFC-4E53-B97D-DA79E05B59F2}"/>
              </a:ext>
            </a:extLst>
          </p:cNvPr>
          <p:cNvSpPr>
            <a:spLocks xmlns:a="http://schemas.openxmlformats.org/drawingml/2006/main" noGrp="1"/>
          </p:cNvSpPr>
          <p:nvPr/>
        </p:nvSpPr>
        <p:spPr>
          <a:xfrm xmlns:a="http://schemas.openxmlformats.org/drawingml/2006/main">
            <a:off x="819150" y="26955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Print and Xerox</a:t>
            </a:r>
          </a:p>
        </p:txBody>
      </p:sp>
      <p:sp>
        <p:nvSpPr>
          <p:cNvPr id="11" name="">
            <a:extLst xmlns:a="http://schemas.openxmlformats.org/drawingml/2006/main">
              <a:ext uri="{FF2B5EF4-FFF2-40B4-BE49-F238E27FC236}">
                <a16:creationId xmlns:a16="http://schemas.microsoft.com/office/drawing/2014/main" id="{1D8777F2-D180-47D8-89C3-97687D32603B}"/>
              </a:ext>
            </a:extLst>
          </p:cNvPr>
          <p:cNvSpPr>
            <a:spLocks xmlns:a="http://schemas.openxmlformats.org/drawingml/2006/main" noGrp="1"/>
          </p:cNvSpPr>
          <p:nvPr/>
        </p:nvSpPr>
        <p:spPr>
          <a:xfrm xmlns:a="http://schemas.openxmlformats.org/drawingml/2006/main">
            <a:off x="819150" y="3152775"/>
            <a:ext cx="1666875" cy="28575"/>
          </a:xfrm>
          <a:prstGeom xmlns:a="http://schemas.openxmlformats.org/drawingml/2006/main" prst="rect">
            <a:avLst/>
          </a:prstGeom>
          <a:solidFill xmlns:a="http://schemas.openxmlformats.org/drawingml/2006/main">
            <a:srgbClr val="A998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EC477F-20E7-46B8-A2E6-6336A0045525}"/>
              </a:ext>
            </a:extLst>
          </p:cNvPr>
          <p:cNvSpPr>
            <a:spLocks xmlns:a="http://schemas.openxmlformats.org/drawingml/2006/main" noGrp="1"/>
          </p:cNvSpPr>
          <p:nvPr/>
        </p:nvSpPr>
        <p:spPr>
          <a:xfrm xmlns:a="http://schemas.openxmlformats.org/drawingml/2006/main">
            <a:off x="2895600" y="26955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Laundry</a:t>
            </a:r>
          </a:p>
        </p:txBody>
      </p:sp>
      <p:sp>
        <p:nvSpPr>
          <p:cNvPr id="13" name="">
            <a:extLst xmlns:a="http://schemas.openxmlformats.org/drawingml/2006/main">
              <a:ext uri="{FF2B5EF4-FFF2-40B4-BE49-F238E27FC236}">
                <a16:creationId xmlns:a16="http://schemas.microsoft.com/office/drawing/2014/main" id="{CA21DF79-B6D5-410C-AED9-0781FC917F99}"/>
              </a:ext>
            </a:extLst>
          </p:cNvPr>
          <p:cNvSpPr>
            <a:spLocks xmlns:a="http://schemas.openxmlformats.org/drawingml/2006/main" noGrp="1"/>
          </p:cNvSpPr>
          <p:nvPr/>
        </p:nvSpPr>
        <p:spPr>
          <a:xfrm xmlns:a="http://schemas.openxmlformats.org/drawingml/2006/main">
            <a:off x="2895600" y="3152775"/>
            <a:ext cx="1666875" cy="28575"/>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0FF89ED-A5AE-4F53-A338-B507D5EACBBC}"/>
              </a:ext>
            </a:extLst>
          </p:cNvPr>
          <p:cNvSpPr>
            <a:spLocks xmlns:a="http://schemas.openxmlformats.org/drawingml/2006/main" noGrp="1"/>
          </p:cNvSpPr>
          <p:nvPr/>
        </p:nvSpPr>
        <p:spPr>
          <a:xfrm xmlns:a="http://schemas.openxmlformats.org/drawingml/2006/main">
            <a:off x="819150" y="34956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Repairs</a:t>
            </a:r>
          </a:p>
        </p:txBody>
      </p:sp>
      <p:sp>
        <p:nvSpPr>
          <p:cNvPr id="15" name="">
            <a:extLst xmlns:a="http://schemas.openxmlformats.org/drawingml/2006/main">
              <a:ext uri="{FF2B5EF4-FFF2-40B4-BE49-F238E27FC236}">
                <a16:creationId xmlns:a16="http://schemas.microsoft.com/office/drawing/2014/main" id="{27A9E030-A9D2-4BC7-B674-89D9866310F8}"/>
              </a:ext>
            </a:extLst>
          </p:cNvPr>
          <p:cNvSpPr>
            <a:spLocks xmlns:a="http://schemas.openxmlformats.org/drawingml/2006/main" noGrp="1"/>
          </p:cNvSpPr>
          <p:nvPr/>
        </p:nvSpPr>
        <p:spPr>
          <a:xfrm xmlns:a="http://schemas.openxmlformats.org/drawingml/2006/main">
            <a:off x="819150" y="3952875"/>
            <a:ext cx="1666875" cy="28575"/>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8639A4D-76EF-44FD-9996-E3095265EE22}"/>
              </a:ext>
            </a:extLst>
          </p:cNvPr>
          <p:cNvSpPr>
            <a:spLocks xmlns:a="http://schemas.openxmlformats.org/drawingml/2006/main" noGrp="1"/>
          </p:cNvSpPr>
          <p:nvPr/>
        </p:nvSpPr>
        <p:spPr>
          <a:xfrm xmlns:a="http://schemas.openxmlformats.org/drawingml/2006/main">
            <a:off x="2895600" y="34956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Tailoring</a:t>
            </a:r>
          </a:p>
        </p:txBody>
      </p:sp>
      <p:sp>
        <p:nvSpPr>
          <p:cNvPr id="17" name="">
            <a:extLst xmlns:a="http://schemas.openxmlformats.org/drawingml/2006/main">
              <a:ext uri="{FF2B5EF4-FFF2-40B4-BE49-F238E27FC236}">
                <a16:creationId xmlns:a16="http://schemas.microsoft.com/office/drawing/2014/main" id="{0D6BCE65-16BC-4E7A-B517-9A9B2C4B1B6C}"/>
              </a:ext>
            </a:extLst>
          </p:cNvPr>
          <p:cNvSpPr>
            <a:spLocks xmlns:a="http://schemas.openxmlformats.org/drawingml/2006/main" noGrp="1"/>
          </p:cNvSpPr>
          <p:nvPr/>
        </p:nvSpPr>
        <p:spPr>
          <a:xfrm xmlns:a="http://schemas.openxmlformats.org/drawingml/2006/main">
            <a:off x="2895600" y="3952875"/>
            <a:ext cx="1666875" cy="28575"/>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A64CC5-B361-4827-9A28-2446A2894817}"/>
              </a:ext>
            </a:extLst>
          </p:cNvPr>
          <p:cNvSpPr>
            <a:spLocks xmlns:a="http://schemas.openxmlformats.org/drawingml/2006/main" noGrp="1"/>
          </p:cNvSpPr>
          <p:nvPr/>
        </p:nvSpPr>
        <p:spPr>
          <a:xfrm xmlns:a="http://schemas.openxmlformats.org/drawingml/2006/main">
            <a:off x="5219700" y="2133600"/>
            <a:ext cx="19050" cy="3238500"/>
          </a:xfrm>
          <a:prstGeom xmlns:a="http://schemas.openxmlformats.org/drawingml/2006/main" prst="rect">
            <a:avLst/>
          </a:prstGeom>
          <a:solidFill xmlns:a="http://schemas.openxmlformats.org/drawingml/2006/main">
            <a:srgbClr val="42415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E0C8714-9177-4236-899C-030DE8350765}"/>
              </a:ext>
            </a:extLst>
          </p:cNvPr>
          <p:cNvSpPr>
            <a:spLocks xmlns:a="http://schemas.openxmlformats.org/drawingml/2006/main" noGrp="1"/>
          </p:cNvSpPr>
          <p:nvPr/>
        </p:nvSpPr>
        <p:spPr>
          <a:xfrm xmlns:a="http://schemas.openxmlformats.org/drawingml/2006/main">
            <a:off x="5772150" y="2247900"/>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SERVICE REQUEST STATUS</a:t>
            </a:r>
          </a:p>
        </p:txBody>
      </p:sp>
      <p:sp>
        <p:nvSpPr>
          <p:cNvPr id="20" name="">
            <a:extLst xmlns:a="http://schemas.openxmlformats.org/drawingml/2006/main">
              <a:ext uri="{FF2B5EF4-FFF2-40B4-BE49-F238E27FC236}">
                <a16:creationId xmlns:a16="http://schemas.microsoft.com/office/drawing/2014/main" id="{9A825C33-ACDA-4ABC-915D-54AA3C6FA3BA}"/>
              </a:ext>
            </a:extLst>
          </p:cNvPr>
          <p:cNvSpPr>
            <a:spLocks xmlns:a="http://schemas.openxmlformats.org/drawingml/2006/main" noGrp="1"/>
          </p:cNvSpPr>
          <p:nvPr/>
        </p:nvSpPr>
        <p:spPr>
          <a:xfrm xmlns:a="http://schemas.openxmlformats.org/drawingml/2006/main">
            <a:off x="5772150" y="2686050"/>
            <a:ext cx="219075" cy="219075"/>
          </a:xfrm>
          <a:prstGeom xmlns:a="http://schemas.openxmlformats.org/drawingml/2006/main" prst="ellipse">
            <a:avLst/>
          </a:prstGeom>
          <a:solidFill xmlns:a="http://schemas.openxmlformats.org/drawingml/2006/main">
            <a:srgbClr val="A998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E33C57A-3C06-4DC4-A580-E03EB21D2CA6}"/>
              </a:ext>
            </a:extLst>
          </p:cNvPr>
          <p:cNvSpPr>
            <a:spLocks xmlns:a="http://schemas.openxmlformats.org/drawingml/2006/main" noGrp="1"/>
          </p:cNvSpPr>
          <p:nvPr/>
        </p:nvSpPr>
        <p:spPr>
          <a:xfrm xmlns:a="http://schemas.openxmlformats.org/drawingml/2006/main">
            <a:off x="6191250" y="2647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Order placed</a:t>
            </a:r>
          </a:p>
        </p:txBody>
      </p:sp>
      <p:sp>
        <p:nvSpPr>
          <p:cNvPr id="22" name="">
            <a:extLst xmlns:a="http://schemas.openxmlformats.org/drawingml/2006/main">
              <a:ext uri="{FF2B5EF4-FFF2-40B4-BE49-F238E27FC236}">
                <a16:creationId xmlns:a16="http://schemas.microsoft.com/office/drawing/2014/main" id="{04707E3A-D6BC-4CC3-A54D-54C80B35F95A}"/>
              </a:ext>
            </a:extLst>
          </p:cNvPr>
          <p:cNvSpPr>
            <a:spLocks xmlns:a="http://schemas.openxmlformats.org/drawingml/2006/main" noGrp="1"/>
          </p:cNvSpPr>
          <p:nvPr/>
        </p:nvSpPr>
        <p:spPr>
          <a:xfrm xmlns:a="http://schemas.openxmlformats.org/drawingml/2006/main">
            <a:off x="5867400" y="2914650"/>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57A9EF7-6F2A-4B6B-87C9-81EB0DBA8826}"/>
              </a:ext>
            </a:extLst>
          </p:cNvPr>
          <p:cNvSpPr>
            <a:spLocks xmlns:a="http://schemas.openxmlformats.org/drawingml/2006/main" noGrp="1"/>
          </p:cNvSpPr>
          <p:nvPr/>
        </p:nvSpPr>
        <p:spPr>
          <a:xfrm xmlns:a="http://schemas.openxmlformats.org/drawingml/2006/main">
            <a:off x="5772150" y="3190875"/>
            <a:ext cx="219075" cy="219075"/>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FD0C6FB-4A3E-4C39-939B-711541236706}"/>
              </a:ext>
            </a:extLst>
          </p:cNvPr>
          <p:cNvSpPr>
            <a:spLocks xmlns:a="http://schemas.openxmlformats.org/drawingml/2006/main" noGrp="1"/>
          </p:cNvSpPr>
          <p:nvPr/>
        </p:nvSpPr>
        <p:spPr>
          <a:xfrm xmlns:a="http://schemas.openxmlformats.org/drawingml/2006/main">
            <a:off x="6191250" y="31527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Verified</a:t>
            </a:r>
          </a:p>
        </p:txBody>
      </p:sp>
      <p:sp>
        <p:nvSpPr>
          <p:cNvPr id="25" name="">
            <a:extLst xmlns:a="http://schemas.openxmlformats.org/drawingml/2006/main">
              <a:ext uri="{FF2B5EF4-FFF2-40B4-BE49-F238E27FC236}">
                <a16:creationId xmlns:a16="http://schemas.microsoft.com/office/drawing/2014/main" id="{9AE53B0E-2014-4E86-9F5F-4BB16503C794}"/>
              </a:ext>
            </a:extLst>
          </p:cNvPr>
          <p:cNvSpPr>
            <a:spLocks xmlns:a="http://schemas.openxmlformats.org/drawingml/2006/main" noGrp="1"/>
          </p:cNvSpPr>
          <p:nvPr/>
        </p:nvSpPr>
        <p:spPr>
          <a:xfrm xmlns:a="http://schemas.openxmlformats.org/drawingml/2006/main">
            <a:off x="5867400" y="3419475"/>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E7B6F25-55EF-4A56-AE60-4143DCA1BC58}"/>
              </a:ext>
            </a:extLst>
          </p:cNvPr>
          <p:cNvSpPr>
            <a:spLocks xmlns:a="http://schemas.openxmlformats.org/drawingml/2006/main" noGrp="1"/>
          </p:cNvSpPr>
          <p:nvPr/>
        </p:nvSpPr>
        <p:spPr>
          <a:xfrm xmlns:a="http://schemas.openxmlformats.org/drawingml/2006/main">
            <a:off x="5772150" y="3695700"/>
            <a:ext cx="219075" cy="219075"/>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BBAD1C7-EDC7-466D-812D-4612E7762DED}"/>
              </a:ext>
            </a:extLst>
          </p:cNvPr>
          <p:cNvSpPr>
            <a:spLocks xmlns:a="http://schemas.openxmlformats.org/drawingml/2006/main" noGrp="1"/>
          </p:cNvSpPr>
          <p:nvPr/>
        </p:nvSpPr>
        <p:spPr>
          <a:xfrm xmlns:a="http://schemas.openxmlformats.org/drawingml/2006/main">
            <a:off x="6191250" y="36576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Ready for pickup</a:t>
            </a:r>
          </a:p>
        </p:txBody>
      </p:sp>
      <p:sp>
        <p:nvSpPr>
          <p:cNvPr id="28" name="">
            <a:extLst xmlns:a="http://schemas.openxmlformats.org/drawingml/2006/main">
              <a:ext uri="{FF2B5EF4-FFF2-40B4-BE49-F238E27FC236}">
                <a16:creationId xmlns:a16="http://schemas.microsoft.com/office/drawing/2014/main" id="{6E2098B5-D478-4612-8C83-8A46B6EE6EAF}"/>
              </a:ext>
            </a:extLst>
          </p:cNvPr>
          <p:cNvSpPr>
            <a:spLocks xmlns:a="http://schemas.openxmlformats.org/drawingml/2006/main" noGrp="1"/>
          </p:cNvSpPr>
          <p:nvPr/>
        </p:nvSpPr>
        <p:spPr>
          <a:xfrm xmlns:a="http://schemas.openxmlformats.org/drawingml/2006/main">
            <a:off x="5867400" y="3924300"/>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A12BAB8-D7DB-4848-8EF5-71C052E266FD}"/>
              </a:ext>
            </a:extLst>
          </p:cNvPr>
          <p:cNvSpPr>
            <a:spLocks xmlns:a="http://schemas.openxmlformats.org/drawingml/2006/main" noGrp="1"/>
          </p:cNvSpPr>
          <p:nvPr/>
        </p:nvSpPr>
        <p:spPr>
          <a:xfrm xmlns:a="http://schemas.openxmlformats.org/drawingml/2006/main">
            <a:off x="5772150" y="4200525"/>
            <a:ext cx="219075" cy="219075"/>
          </a:xfrm>
          <a:prstGeom xmlns:a="http://schemas.openxmlformats.org/drawingml/2006/main" prst="ellipse">
            <a:avLst/>
          </a:prstGeom>
          <a:solidFill xmlns:a="http://schemas.openxmlformats.org/drawingml/2006/main">
            <a:srgbClr val="55537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C123708-188A-4488-B3CC-C6507663EE7C}"/>
              </a:ext>
            </a:extLst>
          </p:cNvPr>
          <p:cNvSpPr>
            <a:spLocks xmlns:a="http://schemas.openxmlformats.org/drawingml/2006/main" noGrp="1"/>
          </p:cNvSpPr>
          <p:nvPr/>
        </p:nvSpPr>
        <p:spPr>
          <a:xfrm xmlns:a="http://schemas.openxmlformats.org/drawingml/2006/main">
            <a:off x="6191250" y="41624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FFFFFF"/>
                </a:solidFill>
                <a:latin typeface="Segoe UI"/>
                <a:ea typeface="Segoe UI"/>
                <a:cs typeface="Segoe UI"/>
              </a:defRPr>
            </a:defPPr>
          </a:lstStyle>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Service done</a:t>
            </a:r>
          </a:p>
        </p:txBody>
      </p:sp>
      <p:sp>
        <p:nvSpPr>
          <p:cNvPr id="31" name="">
            <a:extLst xmlns:a="http://schemas.openxmlformats.org/drawingml/2006/main">
              <a:ext uri="{FF2B5EF4-FFF2-40B4-BE49-F238E27FC236}">
                <a16:creationId xmlns:a16="http://schemas.microsoft.com/office/drawing/2014/main" id="{EA806F82-6AF5-42B3-BA5D-67EA550389DD}"/>
              </a:ext>
            </a:extLst>
          </p:cNvPr>
          <p:cNvSpPr>
            <a:spLocks xmlns:a="http://schemas.openxmlformats.org/drawingml/2006/main" noGrp="1"/>
          </p:cNvSpPr>
          <p:nvPr/>
        </p:nvSpPr>
        <p:spPr>
          <a:xfrm xmlns:a="http://schemas.openxmlformats.org/drawingml/2006/main">
            <a:off x="5867400" y="4429125"/>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0E1CB7D-9442-46DD-AD1B-4AD2BBEFB784}"/>
              </a:ext>
            </a:extLst>
          </p:cNvPr>
          <p:cNvSpPr>
            <a:spLocks xmlns:a="http://schemas.openxmlformats.org/drawingml/2006/main" noGrp="1"/>
          </p:cNvSpPr>
          <p:nvPr/>
        </p:nvSpPr>
        <p:spPr>
          <a:xfrm xmlns:a="http://schemas.openxmlformats.org/drawingml/2006/main">
            <a:off x="5772150" y="4705350"/>
            <a:ext cx="219075" cy="219075"/>
          </a:xfrm>
          <a:prstGeom xmlns:a="http://schemas.openxmlformats.org/drawingml/2006/main" prst="ellipse">
            <a:avLst/>
          </a:prstGeom>
          <a:solidFill xmlns:a="http://schemas.openxmlformats.org/drawingml/2006/main">
            <a:srgbClr val="55537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8ACCF43-851E-4FEB-8E9C-EB3BE1569D2F}"/>
              </a:ext>
            </a:extLst>
          </p:cNvPr>
          <p:cNvSpPr>
            <a:spLocks xmlns:a="http://schemas.openxmlformats.org/drawingml/2006/main" noGrp="1"/>
          </p:cNvSpPr>
          <p:nvPr/>
        </p:nvSpPr>
        <p:spPr>
          <a:xfrm xmlns:a="http://schemas.openxmlformats.org/drawingml/2006/main">
            <a:off x="6191250" y="46672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FFFFFF"/>
                </a:solidFill>
                <a:latin typeface="Segoe UI"/>
                <a:ea typeface="Segoe UI"/>
                <a:cs typeface="Segoe UI"/>
              </a:defRPr>
            </a:defPPr>
          </a:lstStyle>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Out for delivery</a:t>
            </a:r>
          </a:p>
        </p:txBody>
      </p:sp>
    </p:spTree>
    <p:extLst>
      <p:ext uri="{BB962C8B-B14F-4D97-AF65-F5344CB8AC3E}">
        <p14:creationId xmlns:p14="http://schemas.microsoft.com/office/powerpoint/2010/main" val="952167841"/>
      </p:ext>
    </p:extLst>
  </p:cSld>
</p:sld>
</file>

<file path=ppt/slides/slide10.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8E32A34-9676-4B83-BCC2-4C8E70C4B6E9}"/>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4F0CC5-3858-4CF7-802F-2437430C9346}"/>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63EB732-0674-4A1D-B44E-8C1A89EFD206}"/>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HOSTEL AND MESS</a:t>
            </a:r>
          </a:p>
        </p:txBody>
      </p:sp>
      <p:sp>
        <p:nvSpPr>
          <p:cNvPr id="4" name="">
            <a:extLst xmlns:a="http://schemas.openxmlformats.org/drawingml/2006/main">
              <a:ext uri="{FF2B5EF4-FFF2-40B4-BE49-F238E27FC236}">
                <a16:creationId xmlns:a16="http://schemas.microsoft.com/office/drawing/2014/main" id="{B5337C07-4274-4C64-8AE8-3DA69F32EA28}"/>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Hostel and mess information has its own pages</a:t>
            </a:r>
          </a:p>
        </p:txBody>
      </p:sp>
      <p:sp>
        <p:nvSpPr>
          <p:cNvPr id="5" name="">
            <a:extLst xmlns:a="http://schemas.openxmlformats.org/drawingml/2006/main">
              <a:ext uri="{FF2B5EF4-FFF2-40B4-BE49-F238E27FC236}">
                <a16:creationId xmlns:a16="http://schemas.microsoft.com/office/drawing/2014/main" id="{E8D631F6-0D0C-4D7E-98D3-2BDBDB5D0A7A}"/>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1CC038-58B6-436C-AEDF-AC07DB2D305C}"/>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3E7EC3E5-F771-4C9C-B560-C7990E8C0938}"/>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10</a:t>
            </a:r>
          </a:p>
        </p:txBody>
      </p:sp>
      <p:sp>
        <p:nvSpPr>
          <p:cNvPr id="8" name="">
            <a:extLst xmlns:a="http://schemas.openxmlformats.org/drawingml/2006/main">
              <a:ext uri="{FF2B5EF4-FFF2-40B4-BE49-F238E27FC236}">
                <a16:creationId xmlns:a16="http://schemas.microsoft.com/office/drawing/2014/main" id="{052DC85A-F081-4391-86F2-ECFF905F71BF}"/>
              </a:ext>
            </a:extLst>
          </p:cNvPr>
          <p:cNvSpPr>
            <a:spLocks xmlns:a="http://schemas.openxmlformats.org/drawingml/2006/main" noGrp="1"/>
          </p:cNvSpPr>
          <p:nvPr/>
        </p:nvSpPr>
        <p:spPr>
          <a:xfrm xmlns:a="http://schemas.openxmlformats.org/drawingml/2006/main">
            <a:off x="781050" y="1581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Students can open each area separately from Hostel &amp; Mess Services</a:t>
            </a:r>
          </a:p>
        </p:txBody>
      </p:sp>
      <p:sp>
        <p:nvSpPr>
          <p:cNvPr id="9" name="">
            <a:extLst xmlns:a="http://schemas.openxmlformats.org/drawingml/2006/main">
              <a:ext uri="{FF2B5EF4-FFF2-40B4-BE49-F238E27FC236}">
                <a16:creationId xmlns:a16="http://schemas.microsoft.com/office/drawing/2014/main" id="{5EF18FBE-216C-40B0-AC2A-2D233C9180C9}"/>
              </a:ext>
            </a:extLst>
          </p:cNvPr>
          <p:cNvSpPr>
            <a:spLocks xmlns:a="http://schemas.openxmlformats.org/drawingml/2006/main" noGrp="1"/>
          </p:cNvSpPr>
          <p:nvPr/>
        </p:nvSpPr>
        <p:spPr>
          <a:xfrm xmlns:a="http://schemas.openxmlformats.org/drawingml/2006/main">
            <a:off x="895350" y="22669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7055F5"/>
                </a:solidFill>
                <a:latin typeface="Segoe UI"/>
                <a:ea typeface="Segoe UI"/>
                <a:cs typeface="Segoe UI"/>
              </a:defRPr>
            </a:defPPr>
          </a:lstStyle>
          <a:p xmlns:a="http://schemas.openxmlformats.org/drawingml/2006/main">
            <a:pPr algn="l">
              <a:defRPr sz="1650" b="1">
                <a:solidFill>
                  <a:srgbClr val="7055F5"/>
                </a:solidFill>
                <a:latin typeface="Segoe UI"/>
                <a:ea typeface="Segoe UI"/>
                <a:cs typeface="Segoe UI"/>
              </a:defRPr>
            </a:pPr>
            <a:r>
              <a:rPr sz="1650"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9AB2B4C8-6A59-49F7-B703-865035B5755C}"/>
              </a:ext>
            </a:extLst>
          </p:cNvPr>
          <p:cNvSpPr>
            <a:spLocks xmlns:a="http://schemas.openxmlformats.org/drawingml/2006/main" noGrp="1"/>
          </p:cNvSpPr>
          <p:nvPr/>
        </p:nvSpPr>
        <p:spPr>
          <a:xfrm xmlns:a="http://schemas.openxmlformats.org/drawingml/2006/main">
            <a:off x="1600200" y="226695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Room details</a:t>
            </a:r>
          </a:p>
        </p:txBody>
      </p:sp>
      <p:sp>
        <p:nvSpPr>
          <p:cNvPr id="11" name="">
            <a:extLst xmlns:a="http://schemas.openxmlformats.org/drawingml/2006/main">
              <a:ext uri="{FF2B5EF4-FFF2-40B4-BE49-F238E27FC236}">
                <a16:creationId xmlns:a16="http://schemas.microsoft.com/office/drawing/2014/main" id="{BA4A0BAF-819A-47E9-A259-F376CBD33E89}"/>
              </a:ext>
            </a:extLst>
          </p:cNvPr>
          <p:cNvSpPr>
            <a:spLocks xmlns:a="http://schemas.openxmlformats.org/drawingml/2006/main" noGrp="1"/>
          </p:cNvSpPr>
          <p:nvPr/>
        </p:nvSpPr>
        <p:spPr>
          <a:xfrm xmlns:a="http://schemas.openxmlformats.org/drawingml/2006/main">
            <a:off x="4095750" y="226695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See the room currently assigned by the warden.</a:t>
            </a:r>
          </a:p>
        </p:txBody>
      </p:sp>
      <p:sp>
        <p:nvSpPr>
          <p:cNvPr id="12" name="">
            <a:extLst xmlns:a="http://schemas.openxmlformats.org/drawingml/2006/main">
              <a:ext uri="{FF2B5EF4-FFF2-40B4-BE49-F238E27FC236}">
                <a16:creationId xmlns:a16="http://schemas.microsoft.com/office/drawing/2014/main" id="{75589078-1A7E-478E-A0EA-F97CABC31CA4}"/>
              </a:ext>
            </a:extLst>
          </p:cNvPr>
          <p:cNvSpPr>
            <a:spLocks xmlns:a="http://schemas.openxmlformats.org/drawingml/2006/main" noGrp="1"/>
          </p:cNvSpPr>
          <p:nvPr/>
        </p:nvSpPr>
        <p:spPr>
          <a:xfrm xmlns:a="http://schemas.openxmlformats.org/drawingml/2006/main">
            <a:off x="1600200" y="2924175"/>
            <a:ext cx="90297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6F8AFAE-3107-4BB8-9DDA-7FB86E1BFF5C}"/>
              </a:ext>
            </a:extLst>
          </p:cNvPr>
          <p:cNvSpPr>
            <a:spLocks xmlns:a="http://schemas.openxmlformats.org/drawingml/2006/main" noGrp="1"/>
          </p:cNvSpPr>
          <p:nvPr/>
        </p:nvSpPr>
        <p:spPr>
          <a:xfrm xmlns:a="http://schemas.openxmlformats.org/drawingml/2006/main">
            <a:off x="895350" y="31623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F76B6D0B-E810-4C8E-A5CB-73F23CC083FF}"/>
              </a:ext>
            </a:extLst>
          </p:cNvPr>
          <p:cNvSpPr>
            <a:spLocks xmlns:a="http://schemas.openxmlformats.org/drawingml/2006/main" noGrp="1"/>
          </p:cNvSpPr>
          <p:nvPr/>
        </p:nvSpPr>
        <p:spPr>
          <a:xfrm xmlns:a="http://schemas.openxmlformats.org/drawingml/2006/main">
            <a:off x="1600200" y="316230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Mess schedule</a:t>
            </a:r>
          </a:p>
        </p:txBody>
      </p:sp>
      <p:sp>
        <p:nvSpPr>
          <p:cNvPr id="15" name="">
            <a:extLst xmlns:a="http://schemas.openxmlformats.org/drawingml/2006/main">
              <a:ext uri="{FF2B5EF4-FFF2-40B4-BE49-F238E27FC236}">
                <a16:creationId xmlns:a16="http://schemas.microsoft.com/office/drawing/2014/main" id="{69E08554-DE0F-4640-A414-B37E0F2091DC}"/>
              </a:ext>
            </a:extLst>
          </p:cNvPr>
          <p:cNvSpPr>
            <a:spLocks xmlns:a="http://schemas.openxmlformats.org/drawingml/2006/main" noGrp="1"/>
          </p:cNvSpPr>
          <p:nvPr/>
        </p:nvSpPr>
        <p:spPr>
          <a:xfrm xmlns:a="http://schemas.openxmlformats.org/drawingml/2006/main">
            <a:off x="4095750" y="316230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Read the published weekly meal plan.</a:t>
            </a:r>
          </a:p>
        </p:txBody>
      </p:sp>
      <p:sp>
        <p:nvSpPr>
          <p:cNvPr id="16" name="">
            <a:extLst xmlns:a="http://schemas.openxmlformats.org/drawingml/2006/main">
              <a:ext uri="{FF2B5EF4-FFF2-40B4-BE49-F238E27FC236}">
                <a16:creationId xmlns:a16="http://schemas.microsoft.com/office/drawing/2014/main" id="{A824A881-1142-43BF-B142-7053DADA2921}"/>
              </a:ext>
            </a:extLst>
          </p:cNvPr>
          <p:cNvSpPr>
            <a:spLocks xmlns:a="http://schemas.openxmlformats.org/drawingml/2006/main" noGrp="1"/>
          </p:cNvSpPr>
          <p:nvPr/>
        </p:nvSpPr>
        <p:spPr>
          <a:xfrm xmlns:a="http://schemas.openxmlformats.org/drawingml/2006/main">
            <a:off x="1600200" y="3819525"/>
            <a:ext cx="90297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B68A287-3E65-400B-81FB-764DA555C557}"/>
              </a:ext>
            </a:extLst>
          </p:cNvPr>
          <p:cNvSpPr>
            <a:spLocks xmlns:a="http://schemas.openxmlformats.org/drawingml/2006/main" noGrp="1"/>
          </p:cNvSpPr>
          <p:nvPr/>
        </p:nvSpPr>
        <p:spPr>
          <a:xfrm xmlns:a="http://schemas.openxmlformats.org/drawingml/2006/main">
            <a:off x="895350" y="40576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FFC857"/>
                </a:solidFill>
                <a:latin typeface="Segoe UI"/>
                <a:ea typeface="Segoe UI"/>
                <a:cs typeface="Segoe UI"/>
              </a:defRPr>
            </a:defPPr>
          </a:lstStyle>
          <a:p xmlns:a="http://schemas.openxmlformats.org/drawingml/2006/main">
            <a:pPr algn="l">
              <a:defRPr sz="1650" b="1">
                <a:solidFill>
                  <a:srgbClr val="FFC857"/>
                </a:solidFill>
                <a:latin typeface="Segoe UI"/>
                <a:ea typeface="Segoe UI"/>
                <a:cs typeface="Segoe UI"/>
              </a:defRPr>
            </a:pPr>
            <a:r>
              <a:rPr sz="1650" b="1">
                <a:solidFill>
                  <a:srgbClr val="FFC857"/>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C2E3E655-C9F1-475B-B7E1-BE6D080A244A}"/>
              </a:ext>
            </a:extLst>
          </p:cNvPr>
          <p:cNvSpPr>
            <a:spLocks xmlns:a="http://schemas.openxmlformats.org/drawingml/2006/main" noGrp="1"/>
          </p:cNvSpPr>
          <p:nvPr/>
        </p:nvSpPr>
        <p:spPr>
          <a:xfrm xmlns:a="http://schemas.openxmlformats.org/drawingml/2006/main">
            <a:off x="1600200" y="405765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Service requests</a:t>
            </a:r>
          </a:p>
        </p:txBody>
      </p:sp>
      <p:sp>
        <p:nvSpPr>
          <p:cNvPr id="19" name="">
            <a:extLst xmlns:a="http://schemas.openxmlformats.org/drawingml/2006/main">
              <a:ext uri="{FF2B5EF4-FFF2-40B4-BE49-F238E27FC236}">
                <a16:creationId xmlns:a16="http://schemas.microsoft.com/office/drawing/2014/main" id="{35FBD2F5-D09C-41C8-A5D0-C91E05D2A2DF}"/>
              </a:ext>
            </a:extLst>
          </p:cNvPr>
          <p:cNvSpPr>
            <a:spLocks xmlns:a="http://schemas.openxmlformats.org/drawingml/2006/main" noGrp="1"/>
          </p:cNvSpPr>
          <p:nvPr/>
        </p:nvSpPr>
        <p:spPr>
          <a:xfrm xmlns:a="http://schemas.openxmlformats.org/drawingml/2006/main">
            <a:off x="4095750" y="405765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Report Wi-Fi, maintenance, water, safety or food issues; follow status and replies.</a:t>
            </a:r>
          </a:p>
        </p:txBody>
      </p:sp>
      <p:sp>
        <p:nvSpPr>
          <p:cNvPr id="20" name="">
            <a:extLst xmlns:a="http://schemas.openxmlformats.org/drawingml/2006/main">
              <a:ext uri="{FF2B5EF4-FFF2-40B4-BE49-F238E27FC236}">
                <a16:creationId xmlns:a16="http://schemas.microsoft.com/office/drawing/2014/main" id="{2BE0C49B-1111-4C11-B854-F4D457D287D5}"/>
              </a:ext>
            </a:extLst>
          </p:cNvPr>
          <p:cNvSpPr>
            <a:spLocks xmlns:a="http://schemas.openxmlformats.org/drawingml/2006/main" noGrp="1"/>
          </p:cNvSpPr>
          <p:nvPr/>
        </p:nvSpPr>
        <p:spPr>
          <a:xfrm xmlns:a="http://schemas.openxmlformats.org/drawingml/2006/main">
            <a:off x="1600200" y="4714875"/>
            <a:ext cx="90297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D67ABD7-4DA3-4F8B-8D67-32EE0FA2C25C}"/>
              </a:ext>
            </a:extLst>
          </p:cNvPr>
          <p:cNvSpPr>
            <a:spLocks xmlns:a="http://schemas.openxmlformats.org/drawingml/2006/main" noGrp="1"/>
          </p:cNvSpPr>
          <p:nvPr/>
        </p:nvSpPr>
        <p:spPr>
          <a:xfrm xmlns:a="http://schemas.openxmlformats.org/drawingml/2006/main">
            <a:off x="895350" y="49530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FF796C"/>
                </a:solidFill>
                <a:latin typeface="Segoe UI"/>
                <a:ea typeface="Segoe UI"/>
                <a:cs typeface="Segoe UI"/>
              </a:defRPr>
            </a:defPPr>
          </a:lstStyle>
          <a:p xmlns:a="http://schemas.openxmlformats.org/drawingml/2006/main">
            <a:pPr algn="l">
              <a:defRPr sz="1650" b="1">
                <a:solidFill>
                  <a:srgbClr val="FF796C"/>
                </a:solidFill>
                <a:latin typeface="Segoe UI"/>
                <a:ea typeface="Segoe UI"/>
                <a:cs typeface="Segoe UI"/>
              </a:defRPr>
            </a:pPr>
            <a:r>
              <a:rPr sz="1650" b="1">
                <a:solidFill>
                  <a:srgbClr val="FF796C"/>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86564758-4F0D-4A94-BD4E-377E5D863D8D}"/>
              </a:ext>
            </a:extLst>
          </p:cNvPr>
          <p:cNvSpPr>
            <a:spLocks xmlns:a="http://schemas.openxmlformats.org/drawingml/2006/main" noGrp="1"/>
          </p:cNvSpPr>
          <p:nvPr/>
        </p:nvSpPr>
        <p:spPr>
          <a:xfrm xmlns:a="http://schemas.openxmlformats.org/drawingml/2006/main">
            <a:off x="1600200" y="495300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Notices</a:t>
            </a:r>
          </a:p>
        </p:txBody>
      </p:sp>
      <p:sp>
        <p:nvSpPr>
          <p:cNvPr id="23" name="">
            <a:extLst xmlns:a="http://schemas.openxmlformats.org/drawingml/2006/main">
              <a:ext uri="{FF2B5EF4-FFF2-40B4-BE49-F238E27FC236}">
                <a16:creationId xmlns:a16="http://schemas.microsoft.com/office/drawing/2014/main" id="{AEB038FE-B923-4006-9D7C-8A1612529178}"/>
              </a:ext>
            </a:extLst>
          </p:cNvPr>
          <p:cNvSpPr>
            <a:spLocks xmlns:a="http://schemas.openxmlformats.org/drawingml/2006/main" noGrp="1"/>
          </p:cNvSpPr>
          <p:nvPr/>
        </p:nvSpPr>
        <p:spPr>
          <a:xfrm xmlns:a="http://schemas.openxmlformats.org/drawingml/2006/main">
            <a:off x="4095750" y="495300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Read active announcements published by the warden.</a:t>
            </a:r>
          </a:p>
        </p:txBody>
      </p:sp>
    </p:spTree>
    <p:extLst>
      <p:ext uri="{BB962C8B-B14F-4D97-AF65-F5344CB8AC3E}">
        <p14:creationId xmlns:p14="http://schemas.microsoft.com/office/powerpoint/2010/main" val="1769337984"/>
      </p:ext>
    </p:extLst>
  </p:cSld>
</p:sld>
</file>

<file path=ppt/slides/slide11.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D8866D5-BBF8-4B34-B1A5-B3788E01CECC}"/>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4C957E-FF53-4288-A8DD-067CA1096589}"/>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185FDEA-2006-42C9-A387-39828A9CD8E9}"/>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ROLE DASHBOARDS</a:t>
            </a:r>
          </a:p>
        </p:txBody>
      </p:sp>
      <p:sp>
        <p:nvSpPr>
          <p:cNvPr id="4" name="">
            <a:extLst xmlns:a="http://schemas.openxmlformats.org/drawingml/2006/main">
              <a:ext uri="{FF2B5EF4-FFF2-40B4-BE49-F238E27FC236}">
                <a16:creationId xmlns:a16="http://schemas.microsoft.com/office/drawing/2014/main" id="{69080F1B-6ABA-4086-A2B5-6D40627E6F3C}"/>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Each role has a defined job in the workflow</a:t>
            </a:r>
          </a:p>
        </p:txBody>
      </p:sp>
      <p:sp>
        <p:nvSpPr>
          <p:cNvPr id="5" name="">
            <a:extLst xmlns:a="http://schemas.openxmlformats.org/drawingml/2006/main">
              <a:ext uri="{FF2B5EF4-FFF2-40B4-BE49-F238E27FC236}">
                <a16:creationId xmlns:a16="http://schemas.microsoft.com/office/drawing/2014/main" id="{1FA8F0E1-C492-462B-844E-84FFC8157508}"/>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0028F4-246B-407C-BAA1-560A1B6F7966}"/>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B80FA67C-A63A-432C-A2E2-8B8BDA86CA97}"/>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11</a:t>
            </a:r>
          </a:p>
        </p:txBody>
      </p:sp>
      <p:sp>
        <p:nvSpPr>
          <p:cNvPr id="8" name="">
            <a:extLst xmlns:a="http://schemas.openxmlformats.org/drawingml/2006/main">
              <a:ext uri="{FF2B5EF4-FFF2-40B4-BE49-F238E27FC236}">
                <a16:creationId xmlns:a16="http://schemas.microsoft.com/office/drawing/2014/main" id="{37F44DC3-E550-46D0-AECE-AD04BDDD3621}"/>
              </a:ext>
            </a:extLst>
          </p:cNvPr>
          <p:cNvSpPr>
            <a:spLocks xmlns:a="http://schemas.openxmlformats.org/drawingml/2006/main" noGrp="1"/>
          </p:cNvSpPr>
          <p:nvPr/>
        </p:nvSpPr>
        <p:spPr>
          <a:xfrm xmlns:a="http://schemas.openxmlformats.org/drawingml/2006/main">
            <a:off x="781050" y="17907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7055F5"/>
                </a:solidFill>
                <a:latin typeface="Segoe UI"/>
                <a:ea typeface="Segoe UI"/>
                <a:cs typeface="Segoe UI"/>
              </a:defRPr>
            </a:defPPr>
          </a:lstStyle>
          <a:p xmlns:a="http://schemas.openxmlformats.org/drawingml/2006/main">
            <a:pPr algn="l">
              <a:defRPr sz="1125" b="1">
                <a:solidFill>
                  <a:srgbClr val="7055F5"/>
                </a:solidFill>
                <a:latin typeface="Segoe UI"/>
                <a:ea typeface="Segoe UI"/>
                <a:cs typeface="Segoe UI"/>
              </a:defRPr>
            </a:pPr>
            <a:r>
              <a:rPr sz="1125" b="1">
                <a:solidFill>
                  <a:srgbClr val="7055F5"/>
                </a:solidFill>
                <a:latin typeface="Segoe UI"/>
                <a:ea typeface="Segoe UI"/>
                <a:cs typeface="Segoe UI"/>
              </a:rPr>
              <a:t>STUDENT</a:t>
            </a:r>
          </a:p>
        </p:txBody>
      </p:sp>
      <p:sp>
        <p:nvSpPr>
          <p:cNvPr id="9" name="">
            <a:extLst xmlns:a="http://schemas.openxmlformats.org/drawingml/2006/main">
              <a:ext uri="{FF2B5EF4-FFF2-40B4-BE49-F238E27FC236}">
                <a16:creationId xmlns:a16="http://schemas.microsoft.com/office/drawing/2014/main" id="{4A176EE2-4D90-4C9C-A7C4-24C054563921}"/>
              </a:ext>
            </a:extLst>
          </p:cNvPr>
          <p:cNvSpPr>
            <a:spLocks xmlns:a="http://schemas.openxmlformats.org/drawingml/2006/main" noGrp="1"/>
          </p:cNvSpPr>
          <p:nvPr/>
        </p:nvSpPr>
        <p:spPr>
          <a:xfrm xmlns:a="http://schemas.openxmlformats.org/drawingml/2006/main">
            <a:off x="781050" y="2238375"/>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Browse, save and order products</a:t>
            </a:r>
          </a:p>
        </p:txBody>
      </p:sp>
      <p:sp>
        <p:nvSpPr>
          <p:cNvPr id="10" name="">
            <a:extLst xmlns:a="http://schemas.openxmlformats.org/drawingml/2006/main">
              <a:ext uri="{FF2B5EF4-FFF2-40B4-BE49-F238E27FC236}">
                <a16:creationId xmlns:a16="http://schemas.microsoft.com/office/drawing/2014/main" id="{A16936CB-3699-49DC-8DD1-EB6B293B6CF1}"/>
              </a:ext>
            </a:extLst>
          </p:cNvPr>
          <p:cNvSpPr>
            <a:spLocks xmlns:a="http://schemas.openxmlformats.org/drawingml/2006/main" noGrp="1"/>
          </p:cNvSpPr>
          <p:nvPr/>
        </p:nvSpPr>
        <p:spPr>
          <a:xfrm xmlns:a="http://schemas.openxmlformats.org/drawingml/2006/main">
            <a:off x="781050" y="26574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Book services and track requests</a:t>
            </a:r>
          </a:p>
        </p:txBody>
      </p:sp>
      <p:sp>
        <p:nvSpPr>
          <p:cNvPr id="11" name="">
            <a:extLst xmlns:a="http://schemas.openxmlformats.org/drawingml/2006/main">
              <a:ext uri="{FF2B5EF4-FFF2-40B4-BE49-F238E27FC236}">
                <a16:creationId xmlns:a16="http://schemas.microsoft.com/office/drawing/2014/main" id="{6104FDAA-9B49-4344-9A09-768F9B24A594}"/>
              </a:ext>
            </a:extLst>
          </p:cNvPr>
          <p:cNvSpPr>
            <a:spLocks xmlns:a="http://schemas.openxmlformats.org/drawingml/2006/main" noGrp="1"/>
          </p:cNvSpPr>
          <p:nvPr/>
        </p:nvSpPr>
        <p:spPr>
          <a:xfrm xmlns:a="http://schemas.openxmlformats.org/drawingml/2006/main">
            <a:off x="781050" y="30861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View room, mess and notices</a:t>
            </a:r>
          </a:p>
        </p:txBody>
      </p:sp>
      <p:sp>
        <p:nvSpPr>
          <p:cNvPr id="12" name="">
            <a:extLst xmlns:a="http://schemas.openxmlformats.org/drawingml/2006/main">
              <a:ext uri="{FF2B5EF4-FFF2-40B4-BE49-F238E27FC236}">
                <a16:creationId xmlns:a16="http://schemas.microsoft.com/office/drawing/2014/main" id="{A2637E26-372A-45C6-ACE1-F7EC9C833CA2}"/>
              </a:ext>
            </a:extLst>
          </p:cNvPr>
          <p:cNvSpPr>
            <a:spLocks xmlns:a="http://schemas.openxmlformats.org/drawingml/2006/main" noGrp="1"/>
          </p:cNvSpPr>
          <p:nvPr/>
        </p:nvSpPr>
        <p:spPr>
          <a:xfrm xmlns:a="http://schemas.openxmlformats.org/drawingml/2006/main">
            <a:off x="781050" y="3609975"/>
            <a:ext cx="47625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B0C708E-4E87-4960-AE2F-CD1E6E8A0D3D}"/>
              </a:ext>
            </a:extLst>
          </p:cNvPr>
          <p:cNvSpPr>
            <a:spLocks xmlns:a="http://schemas.openxmlformats.org/drawingml/2006/main" noGrp="1"/>
          </p:cNvSpPr>
          <p:nvPr/>
        </p:nvSpPr>
        <p:spPr>
          <a:xfrm xmlns:a="http://schemas.openxmlformats.org/drawingml/2006/main">
            <a:off x="6162675" y="17907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WARDEN</a:t>
            </a:r>
          </a:p>
        </p:txBody>
      </p:sp>
      <p:sp>
        <p:nvSpPr>
          <p:cNvPr id="14" name="">
            <a:extLst xmlns:a="http://schemas.openxmlformats.org/drawingml/2006/main">
              <a:ext uri="{FF2B5EF4-FFF2-40B4-BE49-F238E27FC236}">
                <a16:creationId xmlns:a16="http://schemas.microsoft.com/office/drawing/2014/main" id="{CA372E8F-7381-452A-8506-DF8A8094AC33}"/>
              </a:ext>
            </a:extLst>
          </p:cNvPr>
          <p:cNvSpPr>
            <a:spLocks xmlns:a="http://schemas.openxmlformats.org/drawingml/2006/main" noGrp="1"/>
          </p:cNvSpPr>
          <p:nvPr/>
        </p:nvSpPr>
        <p:spPr>
          <a:xfrm xmlns:a="http://schemas.openxmlformats.org/drawingml/2006/main">
            <a:off x="6162675" y="2238375"/>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Assign and release hostel rooms</a:t>
            </a:r>
          </a:p>
        </p:txBody>
      </p:sp>
      <p:sp>
        <p:nvSpPr>
          <p:cNvPr id="15" name="">
            <a:extLst xmlns:a="http://schemas.openxmlformats.org/drawingml/2006/main">
              <a:ext uri="{FF2B5EF4-FFF2-40B4-BE49-F238E27FC236}">
                <a16:creationId xmlns:a16="http://schemas.microsoft.com/office/drawing/2014/main" id="{ED01D70E-00DA-4ECD-A9E6-1DD3CB8CD8A5}"/>
              </a:ext>
            </a:extLst>
          </p:cNvPr>
          <p:cNvSpPr>
            <a:spLocks xmlns:a="http://schemas.openxmlformats.org/drawingml/2006/main" noGrp="1"/>
          </p:cNvSpPr>
          <p:nvPr/>
        </p:nvSpPr>
        <p:spPr>
          <a:xfrm xmlns:a="http://schemas.openxmlformats.org/drawingml/2006/main">
            <a:off x="6162675" y="26574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Update weekly mess schedule</a:t>
            </a:r>
          </a:p>
        </p:txBody>
      </p:sp>
      <p:sp>
        <p:nvSpPr>
          <p:cNvPr id="16" name="">
            <a:extLst xmlns:a="http://schemas.openxmlformats.org/drawingml/2006/main">
              <a:ext uri="{FF2B5EF4-FFF2-40B4-BE49-F238E27FC236}">
                <a16:creationId xmlns:a16="http://schemas.microsoft.com/office/drawing/2014/main" id="{77E9C49E-825F-465E-B804-D1DB22170D49}"/>
              </a:ext>
            </a:extLst>
          </p:cNvPr>
          <p:cNvSpPr>
            <a:spLocks xmlns:a="http://schemas.openxmlformats.org/drawingml/2006/main" noGrp="1"/>
          </p:cNvSpPr>
          <p:nvPr/>
        </p:nvSpPr>
        <p:spPr>
          <a:xfrm xmlns:a="http://schemas.openxmlformats.org/drawingml/2006/main">
            <a:off x="6162675" y="30861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Manage hostel requests and notices</a:t>
            </a:r>
          </a:p>
        </p:txBody>
      </p:sp>
      <p:sp>
        <p:nvSpPr>
          <p:cNvPr id="17" name="">
            <a:extLst xmlns:a="http://schemas.openxmlformats.org/drawingml/2006/main">
              <a:ext uri="{FF2B5EF4-FFF2-40B4-BE49-F238E27FC236}">
                <a16:creationId xmlns:a16="http://schemas.microsoft.com/office/drawing/2014/main" id="{3F2DBF0B-44BD-4481-8858-83980B44D4D5}"/>
              </a:ext>
            </a:extLst>
          </p:cNvPr>
          <p:cNvSpPr>
            <a:spLocks xmlns:a="http://schemas.openxmlformats.org/drawingml/2006/main" noGrp="1"/>
          </p:cNvSpPr>
          <p:nvPr/>
        </p:nvSpPr>
        <p:spPr>
          <a:xfrm xmlns:a="http://schemas.openxmlformats.org/drawingml/2006/main">
            <a:off x="781050" y="38957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FFC857"/>
                </a:solidFill>
                <a:latin typeface="Segoe UI"/>
                <a:ea typeface="Segoe UI"/>
                <a:cs typeface="Segoe UI"/>
              </a:defRPr>
            </a:defPPr>
          </a:lstStyle>
          <a:p xmlns:a="http://schemas.openxmlformats.org/drawingml/2006/main">
            <a:pPr algn="l">
              <a:defRPr sz="1125" b="1">
                <a:solidFill>
                  <a:srgbClr val="FFC857"/>
                </a:solidFill>
                <a:latin typeface="Segoe UI"/>
                <a:ea typeface="Segoe UI"/>
                <a:cs typeface="Segoe UI"/>
              </a:defRPr>
            </a:pPr>
            <a:r>
              <a:rPr sz="1125" b="1">
                <a:solidFill>
                  <a:srgbClr val="FFC857"/>
                </a:solidFill>
                <a:latin typeface="Segoe UI"/>
                <a:ea typeface="Segoe UI"/>
                <a:cs typeface="Segoe UI"/>
              </a:rPr>
              <a:t>ADMIN</a:t>
            </a:r>
          </a:p>
        </p:txBody>
      </p:sp>
      <p:sp>
        <p:nvSpPr>
          <p:cNvPr id="18" name="">
            <a:extLst xmlns:a="http://schemas.openxmlformats.org/drawingml/2006/main">
              <a:ext uri="{FF2B5EF4-FFF2-40B4-BE49-F238E27FC236}">
                <a16:creationId xmlns:a16="http://schemas.microsoft.com/office/drawing/2014/main" id="{C12BCDBB-3B8E-488A-B6E8-4D9D2C975DAC}"/>
              </a:ext>
            </a:extLst>
          </p:cNvPr>
          <p:cNvSpPr>
            <a:spLocks xmlns:a="http://schemas.openxmlformats.org/drawingml/2006/main" noGrp="1"/>
          </p:cNvSpPr>
          <p:nvPr/>
        </p:nvSpPr>
        <p:spPr>
          <a:xfrm xmlns:a="http://schemas.openxmlformats.org/drawingml/2006/main">
            <a:off x="781050" y="4343400"/>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Manage products, shops and accounts</a:t>
            </a:r>
          </a:p>
        </p:txBody>
      </p:sp>
      <p:sp>
        <p:nvSpPr>
          <p:cNvPr id="19" name="">
            <a:extLst xmlns:a="http://schemas.openxmlformats.org/drawingml/2006/main">
              <a:ext uri="{FF2B5EF4-FFF2-40B4-BE49-F238E27FC236}">
                <a16:creationId xmlns:a16="http://schemas.microsoft.com/office/drawing/2014/main" id="{8D7CAF36-8721-457E-8C07-7F2FC606535F}"/>
              </a:ext>
            </a:extLst>
          </p:cNvPr>
          <p:cNvSpPr>
            <a:spLocks xmlns:a="http://schemas.openxmlformats.org/drawingml/2006/main" noGrp="1"/>
          </p:cNvSpPr>
          <p:nvPr/>
        </p:nvSpPr>
        <p:spPr>
          <a:xfrm xmlns:a="http://schemas.openxmlformats.org/drawingml/2006/main">
            <a:off x="781050" y="4762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Review orders and payments</a:t>
            </a:r>
          </a:p>
        </p:txBody>
      </p:sp>
      <p:sp>
        <p:nvSpPr>
          <p:cNvPr id="20" name="">
            <a:extLst xmlns:a="http://schemas.openxmlformats.org/drawingml/2006/main">
              <a:ext uri="{FF2B5EF4-FFF2-40B4-BE49-F238E27FC236}">
                <a16:creationId xmlns:a16="http://schemas.microsoft.com/office/drawing/2014/main" id="{11FA8FD5-CB4A-4D23-BE9A-2E44E2D051DA}"/>
              </a:ext>
            </a:extLst>
          </p:cNvPr>
          <p:cNvSpPr>
            <a:spLocks xmlns:a="http://schemas.openxmlformats.org/drawingml/2006/main" noGrp="1"/>
          </p:cNvSpPr>
          <p:nvPr/>
        </p:nvSpPr>
        <p:spPr>
          <a:xfrm xmlns:a="http://schemas.openxmlformats.org/drawingml/2006/main">
            <a:off x="781050" y="5191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Manage medical and hostel settings</a:t>
            </a:r>
          </a:p>
        </p:txBody>
      </p:sp>
      <p:sp>
        <p:nvSpPr>
          <p:cNvPr id="21" name="">
            <a:extLst xmlns:a="http://schemas.openxmlformats.org/drawingml/2006/main">
              <a:ext uri="{FF2B5EF4-FFF2-40B4-BE49-F238E27FC236}">
                <a16:creationId xmlns:a16="http://schemas.microsoft.com/office/drawing/2014/main" id="{5578D3CC-98E2-41C7-8CA8-A3E3FC0EE541}"/>
              </a:ext>
            </a:extLst>
          </p:cNvPr>
          <p:cNvSpPr>
            <a:spLocks xmlns:a="http://schemas.openxmlformats.org/drawingml/2006/main" noGrp="1"/>
          </p:cNvSpPr>
          <p:nvPr/>
        </p:nvSpPr>
        <p:spPr>
          <a:xfrm xmlns:a="http://schemas.openxmlformats.org/drawingml/2006/main">
            <a:off x="781050" y="5715000"/>
            <a:ext cx="47625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5D54824-F3BC-467B-9120-86BE21DBA18F}"/>
              </a:ext>
            </a:extLst>
          </p:cNvPr>
          <p:cNvSpPr>
            <a:spLocks xmlns:a="http://schemas.openxmlformats.org/drawingml/2006/main" noGrp="1"/>
          </p:cNvSpPr>
          <p:nvPr/>
        </p:nvSpPr>
        <p:spPr>
          <a:xfrm xmlns:a="http://schemas.openxmlformats.org/drawingml/2006/main">
            <a:off x="6162675" y="38957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FF796C"/>
                </a:solidFill>
                <a:latin typeface="Segoe UI"/>
                <a:ea typeface="Segoe UI"/>
                <a:cs typeface="Segoe UI"/>
              </a:defRPr>
            </a:defPPr>
          </a:lstStyle>
          <a:p xmlns:a="http://schemas.openxmlformats.org/drawingml/2006/main">
            <a:pPr algn="l">
              <a:defRPr sz="1125" b="1">
                <a:solidFill>
                  <a:srgbClr val="FF796C"/>
                </a:solidFill>
                <a:latin typeface="Segoe UI"/>
                <a:ea typeface="Segoe UI"/>
                <a:cs typeface="Segoe UI"/>
              </a:defRPr>
            </a:pPr>
            <a:r>
              <a:rPr sz="1125" b="1">
                <a:solidFill>
                  <a:srgbClr val="FF796C"/>
                </a:solidFill>
                <a:latin typeface="Segoe UI"/>
                <a:ea typeface="Segoe UI"/>
                <a:cs typeface="Segoe UI"/>
              </a:rPr>
              <a:t>SHOPKEEPER / PROVIDER</a:t>
            </a:r>
          </a:p>
        </p:txBody>
      </p:sp>
      <p:sp>
        <p:nvSpPr>
          <p:cNvPr id="23" name="">
            <a:extLst xmlns:a="http://schemas.openxmlformats.org/drawingml/2006/main">
              <a:ext uri="{FF2B5EF4-FFF2-40B4-BE49-F238E27FC236}">
                <a16:creationId xmlns:a16="http://schemas.microsoft.com/office/drawing/2014/main" id="{833BD07D-EFAA-4514-BA4B-FDF52276A273}"/>
              </a:ext>
            </a:extLst>
          </p:cNvPr>
          <p:cNvSpPr>
            <a:spLocks xmlns:a="http://schemas.openxmlformats.org/drawingml/2006/main" noGrp="1"/>
          </p:cNvSpPr>
          <p:nvPr/>
        </p:nvSpPr>
        <p:spPr>
          <a:xfrm xmlns:a="http://schemas.openxmlformats.org/drawingml/2006/main">
            <a:off x="6162675" y="4343400"/>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View assigned services</a:t>
            </a:r>
          </a:p>
        </p:txBody>
      </p:sp>
      <p:sp>
        <p:nvSpPr>
          <p:cNvPr id="24" name="">
            <a:extLst xmlns:a="http://schemas.openxmlformats.org/drawingml/2006/main">
              <a:ext uri="{FF2B5EF4-FFF2-40B4-BE49-F238E27FC236}">
                <a16:creationId xmlns:a16="http://schemas.microsoft.com/office/drawing/2014/main" id="{269C0190-7BF5-495F-B974-18ADFA8F4013}"/>
              </a:ext>
            </a:extLst>
          </p:cNvPr>
          <p:cNvSpPr>
            <a:spLocks xmlns:a="http://schemas.openxmlformats.org/drawingml/2006/main" noGrp="1"/>
          </p:cNvSpPr>
          <p:nvPr/>
        </p:nvSpPr>
        <p:spPr>
          <a:xfrm xmlns:a="http://schemas.openxmlformats.org/drawingml/2006/main">
            <a:off x="6162675" y="4762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Turn service availability on or off</a:t>
            </a:r>
          </a:p>
        </p:txBody>
      </p:sp>
      <p:sp>
        <p:nvSpPr>
          <p:cNvPr id="25" name="">
            <a:extLst xmlns:a="http://schemas.openxmlformats.org/drawingml/2006/main">
              <a:ext uri="{FF2B5EF4-FFF2-40B4-BE49-F238E27FC236}">
                <a16:creationId xmlns:a16="http://schemas.microsoft.com/office/drawing/2014/main" id="{FCBECBF4-7DEE-4AE3-8F9E-2093D0544870}"/>
              </a:ext>
            </a:extLst>
          </p:cNvPr>
          <p:cNvSpPr>
            <a:spLocks xmlns:a="http://schemas.openxmlformats.org/drawingml/2006/main" noGrp="1"/>
          </p:cNvSpPr>
          <p:nvPr/>
        </p:nvSpPr>
        <p:spPr>
          <a:xfrm xmlns:a="http://schemas.openxmlformats.org/drawingml/2006/main">
            <a:off x="6162675" y="5191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Serve student bookings</a:t>
            </a:r>
          </a:p>
        </p:txBody>
      </p:sp>
    </p:spTree>
    <p:extLst>
      <p:ext uri="{BB962C8B-B14F-4D97-AF65-F5344CB8AC3E}">
        <p14:creationId xmlns:p14="http://schemas.microsoft.com/office/powerpoint/2010/main" val="1951907146"/>
      </p:ext>
    </p:extLst>
  </p:cSld>
</p:sld>
</file>

<file path=ppt/slides/slide12.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3E797ED-D194-4898-9963-6A9ED90D649B}"/>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A80DEF-E05E-4937-83D8-C5617F731744}"/>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9C5079-32CD-42F4-960C-DC4F60CEAB57}"/>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20C6B2"/>
                </a:solidFill>
                <a:latin typeface="Bahnschrift"/>
                <a:ea typeface="Bahnschrift"/>
                <a:cs typeface="Bahnschrift"/>
              </a:defRPr>
            </a:defPPr>
          </a:lstStyle>
          <a:p xmlns:a="http://schemas.openxmlformats.org/drawingml/2006/main">
            <a:pPr algn="l">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OUR PRESENTATION PLAN</a:t>
            </a:r>
          </a:p>
        </p:txBody>
      </p:sp>
      <p:sp>
        <p:nvSpPr>
          <p:cNvPr id="4" name="">
            <a:extLst xmlns:a="http://schemas.openxmlformats.org/drawingml/2006/main">
              <a:ext uri="{FF2B5EF4-FFF2-40B4-BE49-F238E27FC236}">
                <a16:creationId xmlns:a16="http://schemas.microsoft.com/office/drawing/2014/main" id="{DEEAEDB5-08A7-4278-8E98-60D9CDACC4D7}"/>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FFFFFF"/>
                </a:solidFill>
                <a:latin typeface="Bahnschrift"/>
                <a:ea typeface="Bahnschrift"/>
                <a:cs typeface="Bahnschrift"/>
              </a:defRPr>
            </a:defPPr>
          </a:lstStyle>
          <a:p xmlns:a="http://schemas.openxmlformats.org/drawingml/2006/main">
            <a:pPr algn="l">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Two presenters, one connected story</a:t>
            </a:r>
          </a:p>
        </p:txBody>
      </p:sp>
      <p:sp>
        <p:nvSpPr>
          <p:cNvPr id="5" name="">
            <a:extLst xmlns:a="http://schemas.openxmlformats.org/drawingml/2006/main">
              <a:ext uri="{FF2B5EF4-FFF2-40B4-BE49-F238E27FC236}">
                <a16:creationId xmlns:a16="http://schemas.microsoft.com/office/drawing/2014/main" id="{EF982F61-5FB0-4B8E-851F-94C55AC60C55}"/>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39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565FB75-93B7-4AB7-AA19-4020CA26A1E1}"/>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AAA9C4"/>
                </a:solidFill>
                <a:latin typeface="Bahnschrift"/>
                <a:ea typeface="Bahnschrift"/>
                <a:cs typeface="Bahnschrift"/>
              </a:defRPr>
            </a:defPPr>
          </a:lstStyle>
          <a:p xmlns:a="http://schemas.openxmlformats.org/drawingml/2006/main">
            <a:pPr algn="l">
              <a:defRPr sz="900" b="1">
                <a:solidFill>
                  <a:srgbClr val="AAA9C4"/>
                </a:solidFill>
                <a:latin typeface="Bahnschrift"/>
                <a:ea typeface="Bahnschrift"/>
                <a:cs typeface="Bahnschrift"/>
              </a:defRPr>
            </a:pPr>
            <a:r>
              <a:rPr sz="900" b="1">
                <a:solidFill>
                  <a:srgbClr val="AAA9C4"/>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FCAD0906-7E54-4A67-9F4E-5715D443AEE6}"/>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A998FF"/>
                </a:solidFill>
                <a:latin typeface="Segoe UI"/>
                <a:ea typeface="Segoe UI"/>
                <a:cs typeface="Segoe UI"/>
              </a:defRPr>
            </a:defPPr>
          </a:lstStyle>
          <a:p xmlns:a="http://schemas.openxmlformats.org/drawingml/2006/main">
            <a:pPr algn="r">
              <a:defRPr sz="1050" b="1">
                <a:solidFill>
                  <a:srgbClr val="A998FF"/>
                </a:solidFill>
                <a:latin typeface="Segoe UI"/>
                <a:ea typeface="Segoe UI"/>
                <a:cs typeface="Segoe UI"/>
              </a:defRPr>
            </a:pPr>
            <a:r>
              <a:rPr sz="1050" b="1">
                <a:solidFill>
                  <a:srgbClr val="A998FF"/>
                </a:solidFill>
                <a:latin typeface="Segoe UI"/>
                <a:ea typeface="Segoe UI"/>
                <a:cs typeface="Segoe UI"/>
              </a:rPr>
              <a:t>12</a:t>
            </a:r>
          </a:p>
        </p:txBody>
      </p:sp>
      <p:sp>
        <p:nvSpPr>
          <p:cNvPr id="8" name="">
            <a:extLst xmlns:a="http://schemas.openxmlformats.org/drawingml/2006/main">
              <a:ext uri="{FF2B5EF4-FFF2-40B4-BE49-F238E27FC236}">
                <a16:creationId xmlns:a16="http://schemas.microsoft.com/office/drawing/2014/main" id="{17FEC5B0-39D1-4A9D-BB44-7F44C1825E63}"/>
              </a:ext>
            </a:extLst>
          </p:cNvPr>
          <p:cNvSpPr>
            <a:spLocks xmlns:a="http://schemas.openxmlformats.org/drawingml/2006/main" noGrp="1"/>
          </p:cNvSpPr>
          <p:nvPr/>
        </p:nvSpPr>
        <p:spPr>
          <a:xfrm xmlns:a="http://schemas.openxmlformats.org/drawingml/2006/main">
            <a:off x="800100" y="173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20C6B2"/>
                </a:solidFill>
                <a:latin typeface="Bahnschrift"/>
                <a:ea typeface="Bahnschrift"/>
                <a:cs typeface="Bahnschrift"/>
              </a:defRPr>
            </a:defPPr>
          </a:lstStyle>
          <a:p xmlns:a="http://schemas.openxmlformats.org/drawingml/2006/main">
            <a:pPr algn="l">
              <a:defRPr sz="1275" b="1">
                <a:solidFill>
                  <a:srgbClr val="20C6B2"/>
                </a:solidFill>
                <a:latin typeface="Bahnschrift"/>
                <a:ea typeface="Bahnschrift"/>
                <a:cs typeface="Bahnschrift"/>
              </a:defRPr>
            </a:pPr>
            <a:r>
              <a:rPr sz="1275" b="1">
                <a:solidFill>
                  <a:srgbClr val="20C6B2"/>
                </a:solidFill>
                <a:latin typeface="Bahnschrift"/>
                <a:ea typeface="Bahnschrift"/>
                <a:cs typeface="Bahnschrift"/>
              </a:rPr>
              <a:t>GOPAL KRISHAN</a:t>
            </a:r>
          </a:p>
        </p:txBody>
      </p:sp>
      <p:sp>
        <p:nvSpPr>
          <p:cNvPr id="9" name="">
            <a:extLst xmlns:a="http://schemas.openxmlformats.org/drawingml/2006/main">
              <a:ext uri="{FF2B5EF4-FFF2-40B4-BE49-F238E27FC236}">
                <a16:creationId xmlns:a16="http://schemas.microsoft.com/office/drawing/2014/main" id="{4D83D948-5BC9-436B-81C4-539660A2EA99}"/>
              </a:ext>
            </a:extLst>
          </p:cNvPr>
          <p:cNvSpPr>
            <a:spLocks xmlns:a="http://schemas.openxmlformats.org/drawingml/2006/main" noGrp="1"/>
          </p:cNvSpPr>
          <p:nvPr/>
        </p:nvSpPr>
        <p:spPr>
          <a:xfrm xmlns:a="http://schemas.openxmlformats.org/drawingml/2006/main">
            <a:off x="800100" y="21431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75" b="1">
                <a:solidFill>
                  <a:srgbClr val="FFFFFF"/>
                </a:solidFill>
                <a:latin typeface="Bahnschrift"/>
                <a:ea typeface="Bahnschrift"/>
                <a:cs typeface="Bahnschrift"/>
              </a:defRPr>
            </a:defPPr>
          </a:lstStyle>
          <a:p xmlns:a="http://schemas.openxmlformats.org/drawingml/2006/main">
            <a:pPr algn="l">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The need and the student journey</a:t>
            </a:r>
          </a:p>
        </p:txBody>
      </p:sp>
      <p:sp>
        <p:nvSpPr>
          <p:cNvPr id="10" name="">
            <a:extLst xmlns:a="http://schemas.openxmlformats.org/drawingml/2006/main">
              <a:ext uri="{FF2B5EF4-FFF2-40B4-BE49-F238E27FC236}">
                <a16:creationId xmlns:a16="http://schemas.microsoft.com/office/drawing/2014/main" id="{547E44AA-B85A-4768-8D3B-8C9CB0072CA2}"/>
              </a:ext>
            </a:extLst>
          </p:cNvPr>
          <p:cNvSpPr>
            <a:spLocks xmlns:a="http://schemas.openxmlformats.org/drawingml/2006/main" noGrp="1"/>
          </p:cNvSpPr>
          <p:nvPr/>
        </p:nvSpPr>
        <p:spPr>
          <a:xfrm xmlns:a="http://schemas.openxmlformats.org/drawingml/2006/main">
            <a:off x="800100" y="2800350"/>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E6E9FA"/>
                </a:solidFill>
                <a:latin typeface="Segoe UI"/>
                <a:ea typeface="Segoe UI"/>
                <a:cs typeface="Segoe UI"/>
              </a:defRPr>
            </a:defPPr>
          </a:lstStyle>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01  The problem and project importance</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02  Platform overview and marketplace</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03  Orders, tracking and payment flow</a:t>
            </a:r>
          </a:p>
        </p:txBody>
      </p:sp>
      <p:sp>
        <p:nvSpPr>
          <p:cNvPr id="11" name="">
            <a:extLst xmlns:a="http://schemas.openxmlformats.org/drawingml/2006/main">
              <a:ext uri="{FF2B5EF4-FFF2-40B4-BE49-F238E27FC236}">
                <a16:creationId xmlns:a16="http://schemas.microsoft.com/office/drawing/2014/main" id="{EBF62C7C-EA67-4D9D-B7A6-5D678A5D6E83}"/>
              </a:ext>
            </a:extLst>
          </p:cNvPr>
          <p:cNvSpPr>
            <a:spLocks xmlns:a="http://schemas.openxmlformats.org/drawingml/2006/main" noGrp="1"/>
          </p:cNvSpPr>
          <p:nvPr/>
        </p:nvSpPr>
        <p:spPr>
          <a:xfrm xmlns:a="http://schemas.openxmlformats.org/drawingml/2006/main">
            <a:off x="800100" y="4629150"/>
            <a:ext cx="4705350" cy="838200"/>
          </a:xfrm>
          <a:prstGeom xmlns:a="http://schemas.openxmlformats.org/drawingml/2006/main" prst="roundRect">
            <a:avLst>
              <a:gd name="adj" fmla="val 15909"/>
            </a:avLst>
          </a:prstGeom>
          <a:solidFill xmlns:a="http://schemas.openxmlformats.org/drawingml/2006/main">
            <a:srgbClr val="20264B"/>
          </a:solidFill>
          <a:ln xmlns:a="http://schemas.openxmlformats.org/drawingml/2006/main" w="9525">
            <a:solidFill>
              <a:srgbClr val="454D72"/>
            </a:solidFill>
            <a:prstDash val="solid"/>
          </a:ln>
        </p:spPr>
      </p:sp>
      <p:sp>
        <p:nvSpPr>
          <p:cNvPr id="12" name="">
            <a:extLst xmlns:a="http://schemas.openxmlformats.org/drawingml/2006/main">
              <a:ext uri="{FF2B5EF4-FFF2-40B4-BE49-F238E27FC236}">
                <a16:creationId xmlns:a16="http://schemas.microsoft.com/office/drawing/2014/main" id="{509E1EE3-F8FD-49B8-998A-0E1399CBC56A}"/>
              </a:ext>
            </a:extLst>
          </p:cNvPr>
          <p:cNvSpPr>
            <a:spLocks xmlns:a="http://schemas.openxmlformats.org/drawingml/2006/main" noGrp="1"/>
          </p:cNvSpPr>
          <p:nvPr/>
        </p:nvSpPr>
        <p:spPr>
          <a:xfrm xmlns:a="http://schemas.openxmlformats.org/drawingml/2006/main">
            <a:off x="1000125" y="483870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FFFFFF"/>
                </a:solidFill>
                <a:latin typeface="Segoe UI"/>
                <a:ea typeface="Segoe UI"/>
                <a:cs typeface="Segoe UI"/>
              </a:defRPr>
            </a:defPPr>
          </a:lstStyle>
          <a:p xmlns:a="http://schemas.openxmlformats.org/drawingml/2006/main">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Slides 2–7  ·  Set the context and show how students discover, order and pay.</a:t>
            </a:r>
          </a:p>
        </p:txBody>
      </p:sp>
      <p:sp>
        <p:nvSpPr>
          <p:cNvPr id="13" name="">
            <a:extLst xmlns:a="http://schemas.openxmlformats.org/drawingml/2006/main">
              <a:ext uri="{FF2B5EF4-FFF2-40B4-BE49-F238E27FC236}">
                <a16:creationId xmlns:a16="http://schemas.microsoft.com/office/drawing/2014/main" id="{81A69FC3-F440-43B7-844F-9D327700DBC1}"/>
              </a:ext>
            </a:extLst>
          </p:cNvPr>
          <p:cNvSpPr>
            <a:spLocks xmlns:a="http://schemas.openxmlformats.org/drawingml/2006/main" noGrp="1"/>
          </p:cNvSpPr>
          <p:nvPr/>
        </p:nvSpPr>
        <p:spPr>
          <a:xfrm xmlns:a="http://schemas.openxmlformats.org/drawingml/2006/main">
            <a:off x="6038850" y="1771650"/>
            <a:ext cx="19050" cy="3867150"/>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EED9D4-5891-4FF0-BB8A-C1040F7BF38F}"/>
              </a:ext>
            </a:extLst>
          </p:cNvPr>
          <p:cNvSpPr>
            <a:spLocks xmlns:a="http://schemas.openxmlformats.org/drawingml/2006/main" noGrp="1"/>
          </p:cNvSpPr>
          <p:nvPr/>
        </p:nvSpPr>
        <p:spPr>
          <a:xfrm xmlns:a="http://schemas.openxmlformats.org/drawingml/2006/main">
            <a:off x="6572250" y="173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A998FF"/>
                </a:solidFill>
                <a:latin typeface="Bahnschrift"/>
                <a:ea typeface="Bahnschrift"/>
                <a:cs typeface="Bahnschrift"/>
              </a:defRPr>
            </a:defPPr>
          </a:lstStyle>
          <a:p xmlns:a="http://schemas.openxmlformats.org/drawingml/2006/main">
            <a:pPr algn="l">
              <a:defRPr sz="1275" b="1">
                <a:solidFill>
                  <a:srgbClr val="A998FF"/>
                </a:solidFill>
                <a:latin typeface="Bahnschrift"/>
                <a:ea typeface="Bahnschrift"/>
                <a:cs typeface="Bahnschrift"/>
              </a:defRPr>
            </a:pPr>
            <a:r>
              <a:rPr sz="1275" b="1">
                <a:solidFill>
                  <a:srgbClr val="A998FF"/>
                </a:solidFill>
                <a:latin typeface="Bahnschrift"/>
                <a:ea typeface="Bahnschrift"/>
                <a:cs typeface="Bahnschrift"/>
              </a:rPr>
              <a:t>MANISH KUMAR</a:t>
            </a:r>
          </a:p>
        </p:txBody>
      </p:sp>
      <p:sp>
        <p:nvSpPr>
          <p:cNvPr id="15" name="">
            <a:extLst xmlns:a="http://schemas.openxmlformats.org/drawingml/2006/main">
              <a:ext uri="{FF2B5EF4-FFF2-40B4-BE49-F238E27FC236}">
                <a16:creationId xmlns:a16="http://schemas.microsoft.com/office/drawing/2014/main" id="{5DBB7B36-E45D-4C73-8524-A8823212D15E}"/>
              </a:ext>
            </a:extLst>
          </p:cNvPr>
          <p:cNvSpPr>
            <a:spLocks xmlns:a="http://schemas.openxmlformats.org/drawingml/2006/main" noGrp="1"/>
          </p:cNvSpPr>
          <p:nvPr/>
        </p:nvSpPr>
        <p:spPr>
          <a:xfrm xmlns:a="http://schemas.openxmlformats.org/drawingml/2006/main">
            <a:off x="6572250" y="21431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75" b="1">
                <a:solidFill>
                  <a:srgbClr val="FFFFFF"/>
                </a:solidFill>
                <a:latin typeface="Bahnschrift"/>
                <a:ea typeface="Bahnschrift"/>
                <a:cs typeface="Bahnschrift"/>
              </a:defRPr>
            </a:defPPr>
          </a:lstStyle>
          <a:p xmlns:a="http://schemas.openxmlformats.org/drawingml/2006/main">
            <a:pPr algn="l">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Campus workflows and the live demo</a:t>
            </a:r>
          </a:p>
        </p:txBody>
      </p:sp>
      <p:sp>
        <p:nvSpPr>
          <p:cNvPr id="16" name="">
            <a:extLst xmlns:a="http://schemas.openxmlformats.org/drawingml/2006/main">
              <a:ext uri="{FF2B5EF4-FFF2-40B4-BE49-F238E27FC236}">
                <a16:creationId xmlns:a16="http://schemas.microsoft.com/office/drawing/2014/main" id="{F1C65B0A-D4DC-4DC5-8C69-B8C9142CD308}"/>
              </a:ext>
            </a:extLst>
          </p:cNvPr>
          <p:cNvSpPr>
            <a:spLocks xmlns:a="http://schemas.openxmlformats.org/drawingml/2006/main" noGrp="1"/>
          </p:cNvSpPr>
          <p:nvPr/>
        </p:nvSpPr>
        <p:spPr>
          <a:xfrm xmlns:a="http://schemas.openxmlformats.org/drawingml/2006/main">
            <a:off x="6572250" y="2800350"/>
            <a:ext cx="4857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E6E9FA"/>
                </a:solidFill>
                <a:latin typeface="Segoe UI"/>
                <a:ea typeface="Segoe UI"/>
                <a:cs typeface="Segoe UI"/>
              </a:defRPr>
            </a:defPPr>
          </a:lstStyle>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04  Medical support and campus services</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05  Hostel, rooms, mess and role dashboards</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06  Scope, demo hand-off and audience questions</a:t>
            </a:r>
          </a:p>
        </p:txBody>
      </p:sp>
      <p:sp>
        <p:nvSpPr>
          <p:cNvPr id="17" name="">
            <a:extLst xmlns:a="http://schemas.openxmlformats.org/drawingml/2006/main">
              <a:ext uri="{FF2B5EF4-FFF2-40B4-BE49-F238E27FC236}">
                <a16:creationId xmlns:a16="http://schemas.microsoft.com/office/drawing/2014/main" id="{C951106D-376F-4862-99BB-7A815096332F}"/>
              </a:ext>
            </a:extLst>
          </p:cNvPr>
          <p:cNvSpPr>
            <a:spLocks xmlns:a="http://schemas.openxmlformats.org/drawingml/2006/main" noGrp="1"/>
          </p:cNvSpPr>
          <p:nvPr/>
        </p:nvSpPr>
        <p:spPr>
          <a:xfrm xmlns:a="http://schemas.openxmlformats.org/drawingml/2006/main">
            <a:off x="6572250" y="4629150"/>
            <a:ext cx="4705350" cy="838200"/>
          </a:xfrm>
          <a:prstGeom xmlns:a="http://schemas.openxmlformats.org/drawingml/2006/main" prst="roundRect">
            <a:avLst>
              <a:gd name="adj" fmla="val 15909"/>
            </a:avLst>
          </a:prstGeom>
          <a:solidFill xmlns:a="http://schemas.openxmlformats.org/drawingml/2006/main">
            <a:srgbClr val="20264B"/>
          </a:solidFill>
          <a:ln xmlns:a="http://schemas.openxmlformats.org/drawingml/2006/main" w="9525">
            <a:solidFill>
              <a:srgbClr val="454D72"/>
            </a:solidFill>
            <a:prstDash val="solid"/>
          </a:ln>
        </p:spPr>
      </p:sp>
      <p:sp>
        <p:nvSpPr>
          <p:cNvPr id="18" name="">
            <a:extLst xmlns:a="http://schemas.openxmlformats.org/drawingml/2006/main">
              <a:ext uri="{FF2B5EF4-FFF2-40B4-BE49-F238E27FC236}">
                <a16:creationId xmlns:a16="http://schemas.microsoft.com/office/drawing/2014/main" id="{BF87C2B2-25AD-4B3B-8133-EE8DA1C80521}"/>
              </a:ext>
            </a:extLst>
          </p:cNvPr>
          <p:cNvSpPr>
            <a:spLocks xmlns:a="http://schemas.openxmlformats.org/drawingml/2006/main" noGrp="1"/>
          </p:cNvSpPr>
          <p:nvPr/>
        </p:nvSpPr>
        <p:spPr>
          <a:xfrm xmlns:a="http://schemas.openxmlformats.org/drawingml/2006/main">
            <a:off x="6772275" y="483870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FFFFFF"/>
                </a:solidFill>
                <a:latin typeface="Segoe UI"/>
                <a:ea typeface="Segoe UI"/>
                <a:cs typeface="Segoe UI"/>
              </a:defRPr>
            </a:defPPr>
          </a:lstStyle>
          <a:p xmlns:a="http://schemas.openxmlformats.org/drawingml/2006/main">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Slides 8–14  ·  Explain operations, then guide everyone through the running app.</a:t>
            </a:r>
          </a:p>
        </p:txBody>
      </p:sp>
      <p:sp>
        <p:nvSpPr>
          <p:cNvPr id="19" name="">
            <a:extLst xmlns:a="http://schemas.openxmlformats.org/drawingml/2006/main">
              <a:ext uri="{FF2B5EF4-FFF2-40B4-BE49-F238E27FC236}">
                <a16:creationId xmlns:a16="http://schemas.microsoft.com/office/drawing/2014/main" id="{DBDC903D-D686-414C-A90C-42ECF6E31163}"/>
              </a:ext>
            </a:extLst>
          </p:cNvPr>
          <p:cNvSpPr>
            <a:spLocks xmlns:a="http://schemas.openxmlformats.org/drawingml/2006/main" noGrp="1"/>
          </p:cNvSpPr>
          <p:nvPr/>
        </p:nvSpPr>
        <p:spPr>
          <a:xfrm xmlns:a="http://schemas.openxmlformats.org/drawingml/2006/main">
            <a:off x="800100" y="5829300"/>
            <a:ext cx="1045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20C6B2"/>
                </a:solidFill>
                <a:latin typeface="Bahnschrift"/>
                <a:ea typeface="Bahnschrift"/>
                <a:cs typeface="Bahnschrift"/>
              </a:defRPr>
            </a:defPPr>
          </a:lstStyle>
          <a:p xmlns:a="http://schemas.openxmlformats.org/drawingml/2006/main">
            <a:pPr algn="l">
              <a:defRPr sz="1275" b="1">
                <a:solidFill>
                  <a:srgbClr val="20C6B2"/>
                </a:solidFill>
                <a:latin typeface="Bahnschrift"/>
                <a:ea typeface="Bahnschrift"/>
                <a:cs typeface="Bahnschrift"/>
              </a:defRPr>
            </a:pPr>
            <a:r>
              <a:rPr sz="1275" b="1">
                <a:solidFill>
                  <a:srgbClr val="20C6B2"/>
                </a:solidFill>
                <a:latin typeface="Bahnschrift"/>
                <a:ea typeface="Bahnschrift"/>
                <a:cs typeface="Bahnschrift"/>
              </a:rPr>
              <a:t>BOTH PRESENTERS  ·  Share the live walkthrough and take Q&amp;A together.</a:t>
            </a:r>
          </a:p>
        </p:txBody>
      </p:sp>
    </p:spTree>
    <p:extLst>
      <p:ext uri="{BB962C8B-B14F-4D97-AF65-F5344CB8AC3E}">
        <p14:creationId xmlns:p14="http://schemas.microsoft.com/office/powerpoint/2010/main" val="369688854"/>
      </p:ext>
    </p:extLst>
  </p:cSld>
</p:sld>
</file>

<file path=ppt/slides/slide13.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9A667CF-5618-445E-B948-C69870773B32}"/>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0CDBCF-FE67-46B0-9CEB-88620537662E}"/>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D069C7-B53E-4C9F-B7CF-0E7A8C26C007}"/>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20C6B2"/>
                </a:solidFill>
                <a:latin typeface="Bahnschrift"/>
                <a:ea typeface="Bahnschrift"/>
                <a:cs typeface="Bahnschrift"/>
              </a:defRPr>
            </a:defPPr>
          </a:lstStyle>
          <a:p xmlns:a="http://schemas.openxmlformats.org/drawingml/2006/main">
            <a:pPr algn="l">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PROJECT SCOPE</a:t>
            </a:r>
          </a:p>
        </p:txBody>
      </p:sp>
      <p:sp>
        <p:nvSpPr>
          <p:cNvPr id="4" name="">
            <a:extLst xmlns:a="http://schemas.openxmlformats.org/drawingml/2006/main">
              <a:ext uri="{FF2B5EF4-FFF2-40B4-BE49-F238E27FC236}">
                <a16:creationId xmlns:a16="http://schemas.microsoft.com/office/drawing/2014/main" id="{706BB9FD-F738-4937-8C89-2854B1F80370}"/>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FFFFFF"/>
                </a:solidFill>
                <a:latin typeface="Bahnschrift"/>
                <a:ea typeface="Bahnschrift"/>
                <a:cs typeface="Bahnschrift"/>
              </a:defRPr>
            </a:defPPr>
          </a:lstStyle>
          <a:p xmlns:a="http://schemas.openxmlformats.org/drawingml/2006/main">
            <a:pPr algn="l">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Current scope and practical next steps</a:t>
            </a:r>
          </a:p>
        </p:txBody>
      </p:sp>
      <p:sp>
        <p:nvSpPr>
          <p:cNvPr id="5" name="">
            <a:extLst xmlns:a="http://schemas.openxmlformats.org/drawingml/2006/main">
              <a:ext uri="{FF2B5EF4-FFF2-40B4-BE49-F238E27FC236}">
                <a16:creationId xmlns:a16="http://schemas.microsoft.com/office/drawing/2014/main" id="{57F6A29D-F5C2-4971-A1D2-B69B77B3FFA2}"/>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39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9A1F15-4159-4F32-9E0A-02EBAC6CA1F7}"/>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AAA9C4"/>
                </a:solidFill>
                <a:latin typeface="Bahnschrift"/>
                <a:ea typeface="Bahnschrift"/>
                <a:cs typeface="Bahnschrift"/>
              </a:defRPr>
            </a:defPPr>
          </a:lstStyle>
          <a:p xmlns:a="http://schemas.openxmlformats.org/drawingml/2006/main">
            <a:pPr algn="l">
              <a:defRPr sz="900" b="1">
                <a:solidFill>
                  <a:srgbClr val="AAA9C4"/>
                </a:solidFill>
                <a:latin typeface="Bahnschrift"/>
                <a:ea typeface="Bahnschrift"/>
                <a:cs typeface="Bahnschrift"/>
              </a:defRPr>
            </a:pPr>
            <a:r>
              <a:rPr sz="900" b="1">
                <a:solidFill>
                  <a:srgbClr val="AAA9C4"/>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0DFEAC0B-68B1-49F6-9D53-7B1EDBC983F7}"/>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A998FF"/>
                </a:solidFill>
                <a:latin typeface="Segoe UI"/>
                <a:ea typeface="Segoe UI"/>
                <a:cs typeface="Segoe UI"/>
              </a:defRPr>
            </a:defPPr>
          </a:lstStyle>
          <a:p xmlns:a="http://schemas.openxmlformats.org/drawingml/2006/main">
            <a:pPr algn="r">
              <a:defRPr sz="1050" b="1">
                <a:solidFill>
                  <a:srgbClr val="A998FF"/>
                </a:solidFill>
                <a:latin typeface="Segoe UI"/>
                <a:ea typeface="Segoe UI"/>
                <a:cs typeface="Segoe UI"/>
              </a:defRPr>
            </a:pPr>
            <a:r>
              <a:rPr sz="1050" b="1">
                <a:solidFill>
                  <a:srgbClr val="A998FF"/>
                </a:solidFill>
                <a:latin typeface="Segoe UI"/>
                <a:ea typeface="Segoe UI"/>
                <a:cs typeface="Segoe UI"/>
              </a:rPr>
              <a:t>13</a:t>
            </a:r>
          </a:p>
        </p:txBody>
      </p:sp>
      <p:sp>
        <p:nvSpPr>
          <p:cNvPr id="8" name="">
            <a:extLst xmlns:a="http://schemas.openxmlformats.org/drawingml/2006/main">
              <a:ext uri="{FF2B5EF4-FFF2-40B4-BE49-F238E27FC236}">
                <a16:creationId xmlns:a16="http://schemas.microsoft.com/office/drawing/2014/main" id="{FEDFD650-0E85-4F43-BBE3-B50B70BFC6A7}"/>
              </a:ext>
            </a:extLst>
          </p:cNvPr>
          <p:cNvSpPr>
            <a:spLocks xmlns:a="http://schemas.openxmlformats.org/drawingml/2006/main" noGrp="1"/>
          </p:cNvSpPr>
          <p:nvPr/>
        </p:nvSpPr>
        <p:spPr>
          <a:xfrm xmlns:a="http://schemas.openxmlformats.org/drawingml/2006/main">
            <a:off x="819150" y="19240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WORKING PROJECT CAPABILITIES</a:t>
            </a:r>
          </a:p>
        </p:txBody>
      </p:sp>
      <p:sp>
        <p:nvSpPr>
          <p:cNvPr id="9" name="">
            <a:extLst xmlns:a="http://schemas.openxmlformats.org/drawingml/2006/main">
              <a:ext uri="{FF2B5EF4-FFF2-40B4-BE49-F238E27FC236}">
                <a16:creationId xmlns:a16="http://schemas.microsoft.com/office/drawing/2014/main" id="{E4392672-7FAD-4807-B315-F94948C79798}"/>
              </a:ext>
            </a:extLst>
          </p:cNvPr>
          <p:cNvSpPr>
            <a:spLocks xmlns:a="http://schemas.openxmlformats.org/drawingml/2006/main" noGrp="1"/>
          </p:cNvSpPr>
          <p:nvPr/>
        </p:nvSpPr>
        <p:spPr>
          <a:xfrm xmlns:a="http://schemas.openxmlformats.org/drawingml/2006/main">
            <a:off x="819150" y="2419350"/>
            <a:ext cx="4714875"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FFFFFF"/>
                </a:solidFill>
                <a:latin typeface="Segoe UI"/>
                <a:ea typeface="Segoe UI"/>
                <a:cs typeface="Segoe UI"/>
              </a:defRPr>
            </a:defPPr>
          </a:lstStyle>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Role-specific dashboards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Campus shopping and service requests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Medical listings and appointment requests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Hostel room, mess and notices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Order payment review workflow</a:t>
            </a:r>
          </a:p>
        </p:txBody>
      </p:sp>
      <p:sp>
        <p:nvSpPr>
          <p:cNvPr id="10" name="">
            <a:extLst xmlns:a="http://schemas.openxmlformats.org/drawingml/2006/main">
              <a:ext uri="{FF2B5EF4-FFF2-40B4-BE49-F238E27FC236}">
                <a16:creationId xmlns:a16="http://schemas.microsoft.com/office/drawing/2014/main" id="{684C88A8-BC17-452C-8FA2-5A53FE16DC04}"/>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22DC34E-70C9-4CDE-B5D0-88339A0869C4}"/>
              </a:ext>
            </a:extLst>
          </p:cNvPr>
          <p:cNvSpPr>
            <a:spLocks xmlns:a="http://schemas.openxmlformats.org/drawingml/2006/main" noGrp="1"/>
          </p:cNvSpPr>
          <p:nvPr/>
        </p:nvSpPr>
        <p:spPr>
          <a:xfrm xmlns:a="http://schemas.openxmlformats.org/drawingml/2006/main">
            <a:off x="6686550" y="19240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A998FF"/>
                </a:solidFill>
                <a:latin typeface="Segoe UI"/>
                <a:ea typeface="Segoe UI"/>
                <a:cs typeface="Segoe UI"/>
              </a:defRPr>
            </a:defPPr>
          </a:lstStyle>
          <a:p xmlns:a="http://schemas.openxmlformats.org/drawingml/2006/main">
            <a:pPr algn="l">
              <a:defRPr sz="1125" b="1">
                <a:solidFill>
                  <a:srgbClr val="A998FF"/>
                </a:solidFill>
                <a:latin typeface="Segoe UI"/>
                <a:ea typeface="Segoe UI"/>
                <a:cs typeface="Segoe UI"/>
              </a:defRPr>
            </a:pPr>
            <a:r>
              <a:rPr sz="1125" b="1">
                <a:solidFill>
                  <a:srgbClr val="A998FF"/>
                </a:solidFill>
                <a:latin typeface="Segoe UI"/>
                <a:ea typeface="Segoe UI"/>
                <a:cs typeface="Segoe UI"/>
              </a:rPr>
              <a:t>NEXT DEVELOPMENT STEPS</a:t>
            </a:r>
          </a:p>
        </p:txBody>
      </p:sp>
      <p:sp>
        <p:nvSpPr>
          <p:cNvPr id="12" name="">
            <a:extLst xmlns:a="http://schemas.openxmlformats.org/drawingml/2006/main">
              <a:ext uri="{FF2B5EF4-FFF2-40B4-BE49-F238E27FC236}">
                <a16:creationId xmlns:a16="http://schemas.microsoft.com/office/drawing/2014/main" id="{18986A1A-A880-44C7-B1E3-93CA2A463B7F}"/>
              </a:ext>
            </a:extLst>
          </p:cNvPr>
          <p:cNvSpPr>
            <a:spLocks xmlns:a="http://schemas.openxmlformats.org/drawingml/2006/main" noGrp="1"/>
          </p:cNvSpPr>
          <p:nvPr/>
        </p:nvSpPr>
        <p:spPr>
          <a:xfrm xmlns:a="http://schemas.openxmlformats.org/drawingml/2006/main">
            <a:off x="6686550" y="2419350"/>
            <a:ext cx="4619625"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E6E9FA"/>
                </a:solidFill>
                <a:latin typeface="Segoe UI"/>
                <a:ea typeface="Segoe UI"/>
                <a:cs typeface="Segoe UI"/>
              </a:defRPr>
            </a:defPPr>
          </a:lstStyle>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Deploy the app to a secure hosted environment</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Connect a payment gateway if online collection is needed</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Add reliable email or in-app notifications</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Keep backups and check role access before release</a:t>
            </a:r>
          </a:p>
        </p:txBody>
      </p:sp>
      <p:sp>
        <p:nvSpPr>
          <p:cNvPr id="13" name="">
            <a:extLst xmlns:a="http://schemas.openxmlformats.org/drawingml/2006/main">
              <a:ext uri="{FF2B5EF4-FFF2-40B4-BE49-F238E27FC236}">
                <a16:creationId xmlns:a16="http://schemas.microsoft.com/office/drawing/2014/main" id="{B832BAE6-7F2E-4512-BCB7-11C4F656CCFE}"/>
              </a:ext>
            </a:extLst>
          </p:cNvPr>
          <p:cNvSpPr>
            <a:spLocks xmlns:a="http://schemas.openxmlformats.org/drawingml/2006/main" noGrp="1"/>
          </p:cNvSpPr>
          <p:nvPr/>
        </p:nvSpPr>
        <p:spPr>
          <a:xfrm xmlns:a="http://schemas.openxmlformats.org/drawingml/2006/main">
            <a:off x="819150" y="5353050"/>
            <a:ext cx="10410825" cy="561975"/>
          </a:xfrm>
          <a:prstGeom xmlns:a="http://schemas.openxmlformats.org/drawingml/2006/main" prst="roundRect">
            <a:avLst>
              <a:gd name="adj" fmla="val 20339"/>
            </a:avLst>
          </a:prstGeom>
          <a:solidFill xmlns:a="http://schemas.openxmlformats.org/drawingml/2006/main">
            <a:srgbClr val="20264B"/>
          </a:solidFill>
          <a:ln xmlns:a="http://schemas.openxmlformats.org/drawingml/2006/main" w="0">
            <a:solidFill>
              <a:srgbClr val="20264B"/>
            </a:solidFill>
            <a:prstDash val="solid"/>
          </a:ln>
        </p:spPr>
      </p:sp>
      <p:sp>
        <p:nvSpPr>
          <p:cNvPr id="14" name="">
            <a:extLst xmlns:a="http://schemas.openxmlformats.org/drawingml/2006/main">
              <a:ext uri="{FF2B5EF4-FFF2-40B4-BE49-F238E27FC236}">
                <a16:creationId xmlns:a16="http://schemas.microsoft.com/office/drawing/2014/main" id="{750D8E29-8E48-4DA3-A91B-2DA79CF091C8}"/>
              </a:ext>
            </a:extLst>
          </p:cNvPr>
          <p:cNvSpPr>
            <a:spLocks xmlns:a="http://schemas.openxmlformats.org/drawingml/2006/main" noGrp="1"/>
          </p:cNvSpPr>
          <p:nvPr/>
        </p:nvSpPr>
        <p:spPr>
          <a:xfrm xmlns:a="http://schemas.openxmlformats.org/drawingml/2006/main">
            <a:off x="1028700" y="55245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FFFFFF"/>
                </a:solidFill>
                <a:latin typeface="Segoe UI"/>
                <a:ea typeface="Segoe UI"/>
                <a:cs typeface="Segoe UI"/>
              </a:defRPr>
            </a:defPPr>
          </a:lstStyle>
          <a:p xmlns:a="http://schemas.openxmlformats.org/drawingml/2006/main">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Today’s demo runs on the local machine. UPI payment verification is manual.</a:t>
            </a:r>
          </a:p>
        </p:txBody>
      </p:sp>
    </p:spTree>
    <p:extLst>
      <p:ext uri="{BB962C8B-B14F-4D97-AF65-F5344CB8AC3E}">
        <p14:creationId xmlns:p14="http://schemas.microsoft.com/office/powerpoint/2010/main" val="1577687671"/>
      </p:ext>
    </p:extLst>
  </p:cSld>
</p:sld>
</file>

<file path=ppt/slides/slide14.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0DA1D4C-9A83-4A6F-BBFA-B3EED7A3E2FA}"/>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0C97B1-56C7-4420-8168-C0660AA3C988}"/>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E9BE5BB-353C-487E-B114-470632C40FA7}"/>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WALKTHROUGH</a:t>
            </a:r>
          </a:p>
        </p:txBody>
      </p:sp>
      <p:sp>
        <p:nvSpPr>
          <p:cNvPr id="4" name="">
            <a:extLst xmlns:a="http://schemas.openxmlformats.org/drawingml/2006/main">
              <a:ext uri="{FF2B5EF4-FFF2-40B4-BE49-F238E27FC236}">
                <a16:creationId xmlns:a16="http://schemas.microsoft.com/office/drawing/2014/main" id="{5890CC67-F18C-4950-8B93-A02BE459FD40}"/>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Live app demonstration</a:t>
            </a:r>
          </a:p>
        </p:txBody>
      </p:sp>
      <p:sp>
        <p:nvSpPr>
          <p:cNvPr id="5" name="">
            <a:extLst xmlns:a="http://schemas.openxmlformats.org/drawingml/2006/main">
              <a:ext uri="{FF2B5EF4-FFF2-40B4-BE49-F238E27FC236}">
                <a16:creationId xmlns:a16="http://schemas.microsoft.com/office/drawing/2014/main" id="{6311410E-B0DC-49C7-817A-46BABC16BECB}"/>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349D4E8-5858-4E0D-BA8A-084392329CD8}"/>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7C06F196-4508-4E97-A423-BDDB0447FBEC}"/>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14</a:t>
            </a:r>
          </a:p>
        </p:txBody>
      </p:sp>
      <p:sp>
        <p:nvSpPr>
          <p:cNvPr id="8" name="">
            <a:extLst xmlns:a="http://schemas.openxmlformats.org/drawingml/2006/main">
              <a:ext uri="{FF2B5EF4-FFF2-40B4-BE49-F238E27FC236}">
                <a16:creationId xmlns:a16="http://schemas.microsoft.com/office/drawing/2014/main" id="{638F930E-DFCD-4009-A169-4873D0566811}"/>
              </a:ext>
            </a:extLst>
          </p:cNvPr>
          <p:cNvSpPr>
            <a:spLocks xmlns:a="http://schemas.openxmlformats.org/drawingml/2006/main" noGrp="1"/>
          </p:cNvSpPr>
          <p:nvPr/>
        </p:nvSpPr>
        <p:spPr>
          <a:xfrm xmlns:a="http://schemas.openxmlformats.org/drawingml/2006/main">
            <a:off x="828675" y="1809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7055F5"/>
                </a:solidFill>
                <a:latin typeface="Segoe UI"/>
                <a:ea typeface="Segoe UI"/>
                <a:cs typeface="Segoe UI"/>
              </a:defRPr>
            </a:defPPr>
          </a:lstStyle>
          <a:p xmlns:a="http://schemas.openxmlformats.org/drawingml/2006/main">
            <a:pPr algn="l">
              <a:defRPr sz="2100" b="1">
                <a:solidFill>
                  <a:srgbClr val="7055F5"/>
                </a:solidFill>
                <a:latin typeface="Segoe UI"/>
                <a:ea typeface="Segoe UI"/>
                <a:cs typeface="Segoe UI"/>
              </a:defRPr>
            </a:pPr>
            <a:r>
              <a:rPr sz="2100" b="1">
                <a:solidFill>
                  <a:srgbClr val="7055F5"/>
                </a:solidFill>
                <a:latin typeface="Segoe UI"/>
                <a:ea typeface="Segoe UI"/>
                <a:cs typeface="Segoe UI"/>
              </a:rPr>
              <a:t>1</a:t>
            </a:r>
          </a:p>
        </p:txBody>
      </p:sp>
      <p:sp>
        <p:nvSpPr>
          <p:cNvPr id="9" name="">
            <a:extLst xmlns:a="http://schemas.openxmlformats.org/drawingml/2006/main">
              <a:ext uri="{FF2B5EF4-FFF2-40B4-BE49-F238E27FC236}">
                <a16:creationId xmlns:a16="http://schemas.microsoft.com/office/drawing/2014/main" id="{32588FB8-F74E-4EDC-9B55-7A7EDFE08603}"/>
              </a:ext>
            </a:extLst>
          </p:cNvPr>
          <p:cNvSpPr>
            <a:spLocks xmlns:a="http://schemas.openxmlformats.org/drawingml/2006/main" noGrp="1"/>
          </p:cNvSpPr>
          <p:nvPr/>
        </p:nvSpPr>
        <p:spPr>
          <a:xfrm xmlns:a="http://schemas.openxmlformats.org/drawingml/2006/main">
            <a:off x="1390650" y="17907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Open the app on the demo computer</a:t>
            </a:r>
          </a:p>
        </p:txBody>
      </p:sp>
      <p:sp>
        <p:nvSpPr>
          <p:cNvPr id="10" name="">
            <a:extLst xmlns:a="http://schemas.openxmlformats.org/drawingml/2006/main">
              <a:ext uri="{FF2B5EF4-FFF2-40B4-BE49-F238E27FC236}">
                <a16:creationId xmlns:a16="http://schemas.microsoft.com/office/drawing/2014/main" id="{973F2A8D-DBA7-44AB-B538-22F74D007C88}"/>
              </a:ext>
            </a:extLst>
          </p:cNvPr>
          <p:cNvSpPr>
            <a:spLocks xmlns:a="http://schemas.openxmlformats.org/drawingml/2006/main" noGrp="1"/>
          </p:cNvSpPr>
          <p:nvPr/>
        </p:nvSpPr>
        <p:spPr>
          <a:xfrm xmlns:a="http://schemas.openxmlformats.org/drawingml/2006/main">
            <a:off x="1390650" y="2276475"/>
            <a:ext cx="514350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9525">
            <a:solidFill>
              <a:srgbClr val="DDE1EF"/>
            </a:solidFill>
            <a:prstDash val="solid"/>
          </a:ln>
        </p:spPr>
        <p:txBody>
          <a:bodyPr xmlns:a="http://schemas.openxmlformats.org/drawingml/2006/main" lIns="209550" tIns="76200" rIns="133350" bIns="76200" anchor="ctr">
            <a:normAutofit fontScale="100000"/>
          </a:bodyPr>
          <a:lstStyle xmlns:a="http://schemas.openxmlformats.org/drawingml/2006/main">
            <a:defPPr>
              <a:defRPr sz="1575" b="1">
                <a:solidFill>
                  <a:srgbClr val="7055F5"/>
                </a:solidFill>
                <a:latin typeface="Segoe UI"/>
                <a:ea typeface="Segoe UI"/>
                <a:cs typeface="Segoe UI"/>
              </a:defRPr>
            </a:defPPr>
          </a:lstStyle>
          <a:p xmlns:a="http://schemas.openxmlformats.org/drawingml/2006/main">
            <a:pPr>
              <a:defRPr sz="1575" b="1">
                <a:solidFill>
                  <a:srgbClr val="7055F5"/>
                </a:solidFill>
                <a:latin typeface="Segoe UI"/>
                <a:ea typeface="Segoe UI"/>
                <a:cs typeface="Segoe UI"/>
              </a:defRPr>
            </a:pPr>
            <a:r>
              <a:rPr sz="1575" b="1">
                <a:solidFill>
                  <a:srgbClr val="7055F5"/>
                </a:solidFill>
                <a:latin typeface="Segoe UI"/>
                <a:ea typeface="Segoe UI"/>
                <a:cs typeface="Segoe UI"/>
                <a:hlinkClick xmlns:r="http://schemas.openxmlformats.org/officeDocument/2006/relationships" r:id="Ra715790e0864483a"/>
              </a:rPr>
              <a:t>http://127.0.0.1:5000/login</a:t>
            </a:r>
          </a:p>
        </p:txBody>
      </p:sp>
      <p:sp>
        <p:nvSpPr>
          <p:cNvPr id="11" name="">
            <a:extLst xmlns:a="http://schemas.openxmlformats.org/drawingml/2006/main">
              <a:ext uri="{FF2B5EF4-FFF2-40B4-BE49-F238E27FC236}">
                <a16:creationId xmlns:a16="http://schemas.microsoft.com/office/drawing/2014/main" id="{4C15F871-5C13-47CE-B39F-E0C43FD29552}"/>
              </a:ext>
            </a:extLst>
          </p:cNvPr>
          <p:cNvSpPr>
            <a:spLocks xmlns:a="http://schemas.openxmlformats.org/drawingml/2006/main" noGrp="1"/>
          </p:cNvSpPr>
          <p:nvPr/>
        </p:nvSpPr>
        <p:spPr>
          <a:xfrm xmlns:a="http://schemas.openxmlformats.org/drawingml/2006/main">
            <a:off x="828675" y="3219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20C6B2"/>
                </a:solidFill>
                <a:latin typeface="Segoe UI"/>
                <a:ea typeface="Segoe UI"/>
                <a:cs typeface="Segoe UI"/>
              </a:defRPr>
            </a:defPPr>
          </a:lstStyle>
          <a:p xmlns:a="http://schemas.openxmlformats.org/drawingml/2006/main">
            <a:pPr algn="l">
              <a:defRPr sz="2100" b="1">
                <a:solidFill>
                  <a:srgbClr val="20C6B2"/>
                </a:solidFill>
                <a:latin typeface="Segoe UI"/>
                <a:ea typeface="Segoe UI"/>
                <a:cs typeface="Segoe UI"/>
              </a:defRPr>
            </a:pPr>
            <a:r>
              <a:rPr sz="2100" b="1">
                <a:solidFill>
                  <a:srgbClr val="20C6B2"/>
                </a:solidFill>
                <a:latin typeface="Segoe UI"/>
                <a:ea typeface="Segoe UI"/>
                <a:cs typeface="Segoe UI"/>
              </a:rPr>
              <a:t>2</a:t>
            </a:r>
          </a:p>
        </p:txBody>
      </p:sp>
      <p:sp>
        <p:nvSpPr>
          <p:cNvPr id="12" name="">
            <a:extLst xmlns:a="http://schemas.openxmlformats.org/drawingml/2006/main">
              <a:ext uri="{FF2B5EF4-FFF2-40B4-BE49-F238E27FC236}">
                <a16:creationId xmlns:a16="http://schemas.microsoft.com/office/drawing/2014/main" id="{81AE93C7-EE49-4191-BA37-3CF24B1C7B2F}"/>
              </a:ext>
            </a:extLst>
          </p:cNvPr>
          <p:cNvSpPr>
            <a:spLocks xmlns:a="http://schemas.openxmlformats.org/drawingml/2006/main" noGrp="1"/>
          </p:cNvSpPr>
          <p:nvPr/>
        </p:nvSpPr>
        <p:spPr>
          <a:xfrm xmlns:a="http://schemas.openxmlformats.org/drawingml/2006/main">
            <a:off x="1390650" y="3209925"/>
            <a:ext cx="485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Choose the correct role and enter your own demo email and password</a:t>
            </a:r>
          </a:p>
        </p:txBody>
      </p:sp>
      <p:sp>
        <p:nvSpPr>
          <p:cNvPr id="13" name="">
            <a:extLst xmlns:a="http://schemas.openxmlformats.org/drawingml/2006/main">
              <a:ext uri="{FF2B5EF4-FFF2-40B4-BE49-F238E27FC236}">
                <a16:creationId xmlns:a16="http://schemas.microsoft.com/office/drawing/2014/main" id="{F326DADE-61D2-4323-B6E5-649D68B45923}"/>
              </a:ext>
            </a:extLst>
          </p:cNvPr>
          <p:cNvSpPr>
            <a:spLocks xmlns:a="http://schemas.openxmlformats.org/drawingml/2006/main" noGrp="1"/>
          </p:cNvSpPr>
          <p:nvPr/>
        </p:nvSpPr>
        <p:spPr>
          <a:xfrm xmlns:a="http://schemas.openxmlformats.org/drawingml/2006/main">
            <a:off x="1390650" y="38481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55D78"/>
                </a:solidFill>
                <a:latin typeface="Segoe UI"/>
                <a:ea typeface="Segoe UI"/>
                <a:cs typeface="Segoe UI"/>
              </a:defRPr>
            </a:defPPr>
          </a:lstStyle>
          <a:p xmlns:a="http://schemas.openxmlformats.org/drawingml/2006/main">
            <a:pPr algn="l">
              <a:defRPr sz="1275" b="0">
                <a:solidFill>
                  <a:srgbClr val="555D78"/>
                </a:solidFill>
                <a:latin typeface="Segoe UI"/>
                <a:ea typeface="Segoe UI"/>
                <a:cs typeface="Segoe UI"/>
              </a:defRPr>
            </a:pPr>
            <a:r>
              <a:rPr sz="1275" b="0">
                <a:solidFill>
                  <a:srgbClr val="555D78"/>
                </a:solidFill>
                <a:latin typeface="Segoe UI"/>
                <a:ea typeface="Segoe UI"/>
                <a:cs typeface="Segoe UI"/>
              </a:rPr>
              <a:t>User  /  Warden  /  Admin  /  Shopkeeper</a:t>
            </a:r>
          </a:p>
        </p:txBody>
      </p:sp>
      <p:sp>
        <p:nvSpPr>
          <p:cNvPr id="14" name="">
            <a:extLst xmlns:a="http://schemas.openxmlformats.org/drawingml/2006/main">
              <a:ext uri="{FF2B5EF4-FFF2-40B4-BE49-F238E27FC236}">
                <a16:creationId xmlns:a16="http://schemas.microsoft.com/office/drawing/2014/main" id="{1F0E8A95-C7C7-44B5-B66C-79C70D95463D}"/>
              </a:ext>
            </a:extLst>
          </p:cNvPr>
          <p:cNvSpPr>
            <a:spLocks xmlns:a="http://schemas.openxmlformats.org/drawingml/2006/main" noGrp="1"/>
          </p:cNvSpPr>
          <p:nvPr/>
        </p:nvSpPr>
        <p:spPr>
          <a:xfrm xmlns:a="http://schemas.openxmlformats.org/drawingml/2006/main">
            <a:off x="828675" y="4457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FFC857"/>
                </a:solidFill>
                <a:latin typeface="Segoe UI"/>
                <a:ea typeface="Segoe UI"/>
                <a:cs typeface="Segoe UI"/>
              </a:defRPr>
            </a:defPPr>
          </a:lstStyle>
          <a:p xmlns:a="http://schemas.openxmlformats.org/drawingml/2006/main">
            <a:pPr algn="l">
              <a:defRPr sz="2100" b="1">
                <a:solidFill>
                  <a:srgbClr val="FFC857"/>
                </a:solidFill>
                <a:latin typeface="Segoe UI"/>
                <a:ea typeface="Segoe UI"/>
                <a:cs typeface="Segoe UI"/>
              </a:defRPr>
            </a:pPr>
            <a:r>
              <a:rPr sz="2100" b="1">
                <a:solidFill>
                  <a:srgbClr val="FFC857"/>
                </a:solidFill>
                <a:latin typeface="Segoe UI"/>
                <a:ea typeface="Segoe UI"/>
                <a:cs typeface="Segoe UI"/>
              </a:rPr>
              <a:t>3</a:t>
            </a:r>
          </a:p>
        </p:txBody>
      </p:sp>
      <p:sp>
        <p:nvSpPr>
          <p:cNvPr id="15" name="">
            <a:extLst xmlns:a="http://schemas.openxmlformats.org/drawingml/2006/main">
              <a:ext uri="{FF2B5EF4-FFF2-40B4-BE49-F238E27FC236}">
                <a16:creationId xmlns:a16="http://schemas.microsoft.com/office/drawing/2014/main" id="{6BB7EEF5-6839-4874-8566-D80A2EE7B6AA}"/>
              </a:ext>
            </a:extLst>
          </p:cNvPr>
          <p:cNvSpPr>
            <a:spLocks xmlns:a="http://schemas.openxmlformats.org/drawingml/2006/main" noGrp="1"/>
          </p:cNvSpPr>
          <p:nvPr/>
        </p:nvSpPr>
        <p:spPr>
          <a:xfrm xmlns:a="http://schemas.openxmlformats.org/drawingml/2006/main">
            <a:off x="1390650" y="44386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Suggested student walkthrough</a:t>
            </a:r>
          </a:p>
        </p:txBody>
      </p:sp>
      <p:sp>
        <p:nvSpPr>
          <p:cNvPr id="16" name="">
            <a:extLst xmlns:a="http://schemas.openxmlformats.org/drawingml/2006/main">
              <a:ext uri="{FF2B5EF4-FFF2-40B4-BE49-F238E27FC236}">
                <a16:creationId xmlns:a16="http://schemas.microsoft.com/office/drawing/2014/main" id="{0253F08C-FCD0-4ED0-B8D7-8A00E56E4958}"/>
              </a:ext>
            </a:extLst>
          </p:cNvPr>
          <p:cNvSpPr>
            <a:spLocks xmlns:a="http://schemas.openxmlformats.org/drawingml/2006/main" noGrp="1"/>
          </p:cNvSpPr>
          <p:nvPr/>
        </p:nvSpPr>
        <p:spPr>
          <a:xfrm xmlns:a="http://schemas.openxmlformats.org/drawingml/2006/main">
            <a:off x="1390650" y="4914900"/>
            <a:ext cx="4905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Marketplace, product details, cart or Buy Now, My Orders, payment status, Hostel &amp; Mess Services</a:t>
            </a:r>
          </a:p>
        </p:txBody>
      </p:sp>
      <p:sp>
        <p:nvSpPr>
          <p:cNvPr id="17" name="">
            <a:extLst xmlns:a="http://schemas.openxmlformats.org/drawingml/2006/main">
              <a:ext uri="{FF2B5EF4-FFF2-40B4-BE49-F238E27FC236}">
                <a16:creationId xmlns:a16="http://schemas.microsoft.com/office/drawing/2014/main" id="{C3F07C59-0290-4DF4-B078-56D59D641B56}"/>
              </a:ext>
            </a:extLst>
          </p:cNvPr>
          <p:cNvSpPr>
            <a:spLocks xmlns:a="http://schemas.openxmlformats.org/drawingml/2006/main" noGrp="1"/>
          </p:cNvSpPr>
          <p:nvPr/>
        </p:nvSpPr>
        <p:spPr>
          <a:xfrm xmlns:a="http://schemas.openxmlformats.org/drawingml/2006/main">
            <a:off x="6962775" y="1866900"/>
            <a:ext cx="19050" cy="3790950"/>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EA0166E-4C05-4C8C-8EC7-7B4E39484CCA}"/>
              </a:ext>
            </a:extLst>
          </p:cNvPr>
          <p:cNvSpPr>
            <a:spLocks xmlns:a="http://schemas.openxmlformats.org/drawingml/2006/main" noGrp="1"/>
          </p:cNvSpPr>
          <p:nvPr/>
        </p:nvSpPr>
        <p:spPr>
          <a:xfrm xmlns:a="http://schemas.openxmlformats.org/drawingml/2006/main">
            <a:off x="7486650" y="19240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7055F5"/>
                </a:solidFill>
                <a:latin typeface="Segoe UI"/>
                <a:ea typeface="Segoe UI"/>
                <a:cs typeface="Segoe UI"/>
              </a:defRPr>
            </a:defPPr>
          </a:lstStyle>
          <a:p xmlns:a="http://schemas.openxmlformats.org/drawingml/2006/main">
            <a:pPr algn="l">
              <a:defRPr sz="1125" b="1">
                <a:solidFill>
                  <a:srgbClr val="7055F5"/>
                </a:solidFill>
                <a:latin typeface="Segoe UI"/>
                <a:ea typeface="Segoe UI"/>
                <a:cs typeface="Segoe UI"/>
              </a:defRPr>
            </a:pPr>
            <a:r>
              <a:rPr sz="1125" b="1">
                <a:solidFill>
                  <a:srgbClr val="7055F5"/>
                </a:solidFill>
                <a:latin typeface="Segoe UI"/>
                <a:ea typeface="Segoe UI"/>
                <a:cs typeface="Segoe UI"/>
              </a:rPr>
              <a:t>PRESENTER CHECKLIST</a:t>
            </a:r>
          </a:p>
        </p:txBody>
      </p:sp>
      <p:sp>
        <p:nvSpPr>
          <p:cNvPr id="19" name="">
            <a:extLst xmlns:a="http://schemas.openxmlformats.org/drawingml/2006/main">
              <a:ext uri="{FF2B5EF4-FFF2-40B4-BE49-F238E27FC236}">
                <a16:creationId xmlns:a16="http://schemas.microsoft.com/office/drawing/2014/main" id="{BA351C9A-9935-4586-9368-3CFBFF194CF5}"/>
              </a:ext>
            </a:extLst>
          </p:cNvPr>
          <p:cNvSpPr>
            <a:spLocks xmlns:a="http://schemas.openxmlformats.org/drawingml/2006/main" noGrp="1"/>
          </p:cNvSpPr>
          <p:nvPr/>
        </p:nvSpPr>
        <p:spPr>
          <a:xfrm xmlns:a="http://schemas.openxmlformats.org/drawingml/2006/main">
            <a:off x="7505700" y="247650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01</a:t>
            </a:r>
          </a:p>
        </p:txBody>
      </p:sp>
      <p:sp>
        <p:nvSpPr>
          <p:cNvPr id="20" name="">
            <a:extLst xmlns:a="http://schemas.openxmlformats.org/drawingml/2006/main">
              <a:ext uri="{FF2B5EF4-FFF2-40B4-BE49-F238E27FC236}">
                <a16:creationId xmlns:a16="http://schemas.microsoft.com/office/drawing/2014/main" id="{6ABCF28A-5AC4-4BC5-A166-84FBB1D06B24}"/>
              </a:ext>
            </a:extLst>
          </p:cNvPr>
          <p:cNvSpPr>
            <a:spLocks xmlns:a="http://schemas.openxmlformats.org/drawingml/2006/main" noGrp="1"/>
          </p:cNvSpPr>
          <p:nvPr/>
        </p:nvSpPr>
        <p:spPr>
          <a:xfrm xmlns:a="http://schemas.openxmlformats.org/drawingml/2006/main">
            <a:off x="8020050" y="24574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Start Flask before presenting</a:t>
            </a:r>
          </a:p>
        </p:txBody>
      </p:sp>
      <p:sp>
        <p:nvSpPr>
          <p:cNvPr id="21" name="">
            <a:extLst xmlns:a="http://schemas.openxmlformats.org/drawingml/2006/main">
              <a:ext uri="{FF2B5EF4-FFF2-40B4-BE49-F238E27FC236}">
                <a16:creationId xmlns:a16="http://schemas.microsoft.com/office/drawing/2014/main" id="{CCC39005-026E-4BCA-8B9F-B2811A06146A}"/>
              </a:ext>
            </a:extLst>
          </p:cNvPr>
          <p:cNvSpPr>
            <a:spLocks xmlns:a="http://schemas.openxmlformats.org/drawingml/2006/main" noGrp="1"/>
          </p:cNvSpPr>
          <p:nvPr/>
        </p:nvSpPr>
        <p:spPr>
          <a:xfrm xmlns:a="http://schemas.openxmlformats.org/drawingml/2006/main">
            <a:off x="7505700" y="3209925"/>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02</a:t>
            </a:r>
          </a:p>
        </p:txBody>
      </p:sp>
      <p:sp>
        <p:nvSpPr>
          <p:cNvPr id="22" name="">
            <a:extLst xmlns:a="http://schemas.openxmlformats.org/drawingml/2006/main">
              <a:ext uri="{FF2B5EF4-FFF2-40B4-BE49-F238E27FC236}">
                <a16:creationId xmlns:a16="http://schemas.microsoft.com/office/drawing/2014/main" id="{9C03FED7-84B9-4DF6-AE50-A4DBD7CC17C3}"/>
              </a:ext>
            </a:extLst>
          </p:cNvPr>
          <p:cNvSpPr>
            <a:spLocks xmlns:a="http://schemas.openxmlformats.org/drawingml/2006/main" noGrp="1"/>
          </p:cNvSpPr>
          <p:nvPr/>
        </p:nvSpPr>
        <p:spPr>
          <a:xfrm xmlns:a="http://schemas.openxmlformats.org/drawingml/2006/main">
            <a:off x="8020050" y="3190875"/>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Keep demo accounts ready</a:t>
            </a:r>
          </a:p>
        </p:txBody>
      </p:sp>
      <p:sp>
        <p:nvSpPr>
          <p:cNvPr id="23" name="">
            <a:extLst xmlns:a="http://schemas.openxmlformats.org/drawingml/2006/main">
              <a:ext uri="{FF2B5EF4-FFF2-40B4-BE49-F238E27FC236}">
                <a16:creationId xmlns:a16="http://schemas.microsoft.com/office/drawing/2014/main" id="{D2CDE357-B7D3-4138-9FD3-E11B377F816D}"/>
              </a:ext>
            </a:extLst>
          </p:cNvPr>
          <p:cNvSpPr>
            <a:spLocks xmlns:a="http://schemas.openxmlformats.org/drawingml/2006/main" noGrp="1"/>
          </p:cNvSpPr>
          <p:nvPr/>
        </p:nvSpPr>
        <p:spPr>
          <a:xfrm xmlns:a="http://schemas.openxmlformats.org/drawingml/2006/main">
            <a:off x="7505700" y="39433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03</a:t>
            </a:r>
          </a:p>
        </p:txBody>
      </p:sp>
      <p:sp>
        <p:nvSpPr>
          <p:cNvPr id="24" name="">
            <a:extLst xmlns:a="http://schemas.openxmlformats.org/drawingml/2006/main">
              <a:ext uri="{FF2B5EF4-FFF2-40B4-BE49-F238E27FC236}">
                <a16:creationId xmlns:a16="http://schemas.microsoft.com/office/drawing/2014/main" id="{25455CCD-400C-46C7-923F-EA40D9537B1A}"/>
              </a:ext>
            </a:extLst>
          </p:cNvPr>
          <p:cNvSpPr>
            <a:spLocks xmlns:a="http://schemas.openxmlformats.org/drawingml/2006/main" noGrp="1"/>
          </p:cNvSpPr>
          <p:nvPr/>
        </p:nvSpPr>
        <p:spPr>
          <a:xfrm xmlns:a="http://schemas.openxmlformats.org/drawingml/2006/main">
            <a:off x="8020050" y="392430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Type credentials live</a:t>
            </a:r>
          </a:p>
        </p:txBody>
      </p:sp>
      <p:sp>
        <p:nvSpPr>
          <p:cNvPr id="25" name="">
            <a:extLst xmlns:a="http://schemas.openxmlformats.org/drawingml/2006/main">
              <a:ext uri="{FF2B5EF4-FFF2-40B4-BE49-F238E27FC236}">
                <a16:creationId xmlns:a16="http://schemas.microsoft.com/office/drawing/2014/main" id="{DD1BEF62-7771-40EC-AB55-411FCCA4985D}"/>
              </a:ext>
            </a:extLst>
          </p:cNvPr>
          <p:cNvSpPr>
            <a:spLocks xmlns:a="http://schemas.openxmlformats.org/drawingml/2006/main" noGrp="1"/>
          </p:cNvSpPr>
          <p:nvPr/>
        </p:nvSpPr>
        <p:spPr>
          <a:xfrm xmlns:a="http://schemas.openxmlformats.org/drawingml/2006/main">
            <a:off x="7505700" y="4676775"/>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04</a:t>
            </a:r>
          </a:p>
        </p:txBody>
      </p:sp>
      <p:sp>
        <p:nvSpPr>
          <p:cNvPr id="26" name="">
            <a:extLst xmlns:a="http://schemas.openxmlformats.org/drawingml/2006/main">
              <a:ext uri="{FF2B5EF4-FFF2-40B4-BE49-F238E27FC236}">
                <a16:creationId xmlns:a16="http://schemas.microsoft.com/office/drawing/2014/main" id="{E46E2536-4F57-4CC6-8C2C-6D319F84386A}"/>
              </a:ext>
            </a:extLst>
          </p:cNvPr>
          <p:cNvSpPr>
            <a:spLocks xmlns:a="http://schemas.openxmlformats.org/drawingml/2006/main" noGrp="1"/>
          </p:cNvSpPr>
          <p:nvPr/>
        </p:nvSpPr>
        <p:spPr>
          <a:xfrm xmlns:a="http://schemas.openxmlformats.org/drawingml/2006/main">
            <a:off x="8020050" y="4657725"/>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Show one student flow, then switch roles if time allows</a:t>
            </a:r>
          </a:p>
        </p:txBody>
      </p:sp>
    </p:spTree>
    <p:extLst>
      <p:ext uri="{BB962C8B-B14F-4D97-AF65-F5344CB8AC3E}">
        <p14:creationId xmlns:p14="http://schemas.microsoft.com/office/powerpoint/2010/main" val="1479795487"/>
      </p:ext>
    </p:extLst>
  </p:cSld>
</p:sld>
</file>

<file path=ppt/theme/theme1.xml><?xml version="1.0" encoding="utf-8"?>
<a:theme xmlns:a="http://schemas.openxmlformats.org/drawingml/2006/main" name="ChatGPT">
  <a:themeElements>
    <a:clrScheme name="HostelHub Violet">
      <a:dk1>
        <a:srgbClr val="000000"/>
      </a:dk1>
      <a:lt1>
        <a:srgbClr val="FFFFFF"/>
      </a:lt1>
      <a:dk2>
        <a:srgbClr val="10132B"/>
      </a:dk2>
      <a:lt2>
        <a:srgbClr val="EEEAFE"/>
      </a:lt2>
      <a:accent1>
        <a:srgbClr val="7055F5"/>
      </a:accent1>
      <a:accent2>
        <a:srgbClr val="20C6B2"/>
      </a:accent2>
      <a:accent3>
        <a:srgbClr val="FFC857"/>
      </a:accent3>
      <a:accent4>
        <a:srgbClr val="FF796C"/>
      </a:accent4>
      <a:accent5>
        <a:srgbClr val="20264B"/>
      </a:accent5>
      <a:accent6>
        <a:srgbClr val="61A6D8"/>
      </a:accent6>
      <a:hlink>
        <a:srgbClr val="7055F5"/>
      </a:hlink>
      <a:folHlink>
        <a:srgbClr val="A998FF"/>
      </a:folHlink>
    </a:clrScheme>
    <a:fontScheme name="">
      <a:majorFont>
        <a:latin typeface="Segoe UI"/>
        <a:ea typeface=""/>
        <a:cs typeface=""/>
      </a:majorFont>
      <a:minorFont>
        <a:latin typeface="Segoe UI"/>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2026-10-14T20:55:13.4240000Z</dcterms:created>
  <dcterms:modified xsi:type="dcterms:W3CDTF">2026-10-14T20:55:13.4240000Z</dcterms:modified>
</coreProperties>
</file>