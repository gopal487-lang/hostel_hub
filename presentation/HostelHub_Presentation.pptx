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Hinglish cue: ‘HostelHub ek student-focused web app hai jahan hostel ke daily tasks, campus services aur shopping ek account se access hote hain. Main pehle problem, phir solution aur end mein live app dikhaunga.’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these are the coordination problems the project targets, not measured survey findings. ‘Development se pehle student ko daily needs ke liye multiple contacts ya pages yaad rakhne pad sakte the. Project ka goal information aur request status ko clearly organize karna tha.’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‘Iska importance sirf features nahi hai. Student ko information aur action dono ek jagah milte hain; staff ke paas role ke hisab se management tools rehte hain. Isse project ka workflow samajhna aur demonstrate karna dono aasaan hota hai.’ Avoid claiming measured time savings.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diagram left to right. ‘Alag-alag roles ko alag dashboard diya gaya hai. Student actions app ke modules mein jaate hain; admin, warden aur providers apne allowed records manage karte hain.’ This is a conceptual system map, not a deployment diagram.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 product ko marketplace se discover karta hai. Detail page par image, price aur description dekhta hai. Uske baad wishlist, cart ya Buy Now select karke order journey continue hoti hai.’ Clothing variants/sizes may be presented if the current listing includes them; don't promise real-time inventory by size unless demonstrated.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‘Cart checkout se order create hota hai, aur My Orders page se student status follow kar sakta hai. HostelHub services ke bookings ka tracking page bhi alag workflow dikhata hai.’ Demo mein ek existing order ho tabhi record details dikhayen.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explicit: ‘Payment gateway integration app mein shown nahi hai. Student UPI app mein manually payment karta hai, reference submit karta hai, aur administrator dashboard se verify karta hai. Tab status Verified hota hai.’ Show per-order Pay Now and the waiting status in the live demo if convenient.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‘Medical section mein medicines/medical shops alag hain aur care options alag. Appointment aur help request admin ke through process hote hain. Emergency information screen par 112 batata hai. Medical advice ka claim na karein.’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‘Services ka category choose karke student available provider ko request bhejta hai. Service Tracking page mein booking ki progress dikh sakti hai, jaise Order Placed, Verified, Ready for Pickup, Service Done ya Out for Delivery.’ Status values may vary based on provider updates.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‘Hostel &amp; Mess Services overview se ye chaar alag pages khulte hain. Room aur mess ka data warden ke update se aata hai. Notices publish hote hi students ko dikhte hain. Requests par warden ka reply aur current status student ke account ke saath linked hai.’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‘Role-based login access control se student, warden, admin aur provider ko apna relevant dashboard milta hai. Student account se admin screens nahi khulte. Admin user-management se warden aur shopkeeper/provider accounts create kar sakta hai.’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‘Project local Flask environment mein demo hota hai. UPI app mein manual transfer aur admin verification current flow hai. Agle practical steps deployment, gateway integration (agar zaroori ho), notifications aur security/backup checks hain. Inhe future work ke roop mein batayen.’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cue in Hinglish: (1) Flask server pehle start karke browser mein login URL kholen. (2) Role tab select karein. (3) Apna demo email aur password manually type karein; credentials slides mein nahi hain. (4) Student role se shopping item, order status, payment waiting/verification aur Hostel &amp; Mess pages dikha sakte hain. (5) Agar prepared admin/warden/provider account available ho to role changes alag login se dikhayen. (6) End mein audience ke questions lein. Local URL sirf isi machine par chalega jab app server running ho.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2A9BB39-476A-4251-ACF5-A5E22E55853A}"/>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0A143319-7368-4460-853C-5DB1506C141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B1F1DD9-F8A0-4FB7-B8CF-911B3F139F1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D362691-DA2A-4DC5-9645-B5CE693BEAB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94EA7E3A-9068-4FEA-A9E4-B2E26D34C791}"/>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3A940D3-C1D6-4C28-8CC1-02A01B725A2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22F9BADB-5C43-498D-9829-BDEEFFF7A53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BDF9156-E01C-4208-B69C-11C8D70ACC99}"/>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0061DC2-EA06-4729-865A-397A1AC996D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03A7F17-50B3-4146-B19C-C39A1FEB7E7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127.0.0.1:5000/login"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83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0B13EE5-F993-4DD4-92A4-B358AD93C4B5}"/>
              </a:ext>
            </a:extLst>
          </p:cNvPr>
          <p:cNvSpPr>
            <a:spLocks noGrp="1"/>
          </p:cNvSpPr>
          <p:nvPr/>
        </p:nvSpPr>
        <p:spPr>
          <a:xfrm>
            <a:off x="704850" y="876300"/>
            <a:ext cx="85725" cy="4648200"/>
          </a:xfrm>
          <a:prstGeom prst="rect">
            <a:avLst/>
          </a:prstGeom>
          <a:solidFill>
            <a:srgbClr val="27B99A"/>
          </a:solidFill>
          <a:ln w="0">
            <a:noFill/>
            <a:prstDash val="solid"/>
          </a:ln>
        </p:spPr>
      </p:sp>
      <p:sp>
        <p:nvSpPr>
          <p:cNvPr id="2" name="Rectangle 1">
            <a:extLst>
              <a:ext uri="{FF2B5EF4-FFF2-40B4-BE49-F238E27FC236}">
                <a16:creationId xmlns:a16="http://schemas.microsoft.com/office/drawing/2014/main" id="{BC0D2C0B-3B10-43EA-B29C-6134BDB6044F}"/>
              </a:ext>
            </a:extLst>
          </p:cNvPr>
          <p:cNvSpPr>
            <a:spLocks noGrp="1"/>
          </p:cNvSpPr>
          <p:nvPr/>
        </p:nvSpPr>
        <p:spPr>
          <a:xfrm>
            <a:off x="1066800" y="971550"/>
            <a:ext cx="7239000" cy="295275"/>
          </a:xfrm>
          <a:prstGeom prst="rect">
            <a:avLst/>
          </a:prstGeom>
          <a:noFill/>
          <a:ln w="0">
            <a:noFill/>
            <a:prstDash val="solid"/>
          </a:ln>
        </p:spPr>
        <p:txBody>
          <a:bodyPr lIns="0" tIns="0" rIns="0" bIns="0" anchor="t">
            <a:normAutofit/>
          </a:bodyPr>
          <a:lstStyle>
            <a:defPPr algn="l">
              <a:defRPr sz="1275" b="1">
                <a:solidFill>
                  <a:srgbClr val="9178FF"/>
                </a:solidFill>
                <a:latin typeface="Segoe UI"/>
                <a:ea typeface="Segoe UI"/>
                <a:cs typeface="Segoe UI"/>
              </a:defRPr>
            </a:defPPr>
          </a:lstStyle>
          <a:p>
            <a:pPr algn="l">
              <a:defRPr sz="1275" b="1">
                <a:solidFill>
                  <a:srgbClr val="9178FF"/>
                </a:solidFill>
                <a:latin typeface="Segoe UI"/>
                <a:ea typeface="Segoe UI"/>
                <a:cs typeface="Segoe UI"/>
              </a:defRPr>
            </a:pPr>
            <a:r>
              <a:rPr sz="1275" b="1">
                <a:solidFill>
                  <a:srgbClr val="9178FF"/>
                </a:solidFill>
                <a:latin typeface="Segoe UI"/>
                <a:ea typeface="Segoe UI"/>
                <a:cs typeface="Segoe UI"/>
              </a:rPr>
              <a:t>HOSTELHUB</a:t>
            </a:r>
          </a:p>
        </p:txBody>
      </p:sp>
      <p:sp>
        <p:nvSpPr>
          <p:cNvPr id="3" name="Rectangle 2">
            <a:extLst>
              <a:ext uri="{FF2B5EF4-FFF2-40B4-BE49-F238E27FC236}">
                <a16:creationId xmlns:a16="http://schemas.microsoft.com/office/drawing/2014/main" id="{B008C1FA-2777-417E-8BE3-1452A90BBDB3}"/>
              </a:ext>
            </a:extLst>
          </p:cNvPr>
          <p:cNvSpPr>
            <a:spLocks noGrp="1"/>
          </p:cNvSpPr>
          <p:nvPr/>
        </p:nvSpPr>
        <p:spPr>
          <a:xfrm>
            <a:off x="1028700" y="1657350"/>
            <a:ext cx="7429500" cy="1866900"/>
          </a:xfrm>
          <a:prstGeom prst="rect">
            <a:avLst/>
          </a:prstGeom>
          <a:noFill/>
          <a:ln w="0">
            <a:noFill/>
            <a:prstDash val="solid"/>
          </a:ln>
        </p:spPr>
        <p:txBody>
          <a:bodyPr lIns="0" tIns="0" rIns="0" bIns="0" anchor="t">
            <a:normAutofit/>
          </a:bodyPr>
          <a:lstStyle>
            <a:defPPr algn="l">
              <a:defRPr sz="5400" b="1">
                <a:solidFill>
                  <a:srgbClr val="FFFFFF"/>
                </a:solidFill>
                <a:latin typeface="Segoe UI"/>
                <a:ea typeface="Segoe UI"/>
                <a:cs typeface="Segoe UI"/>
              </a:defRPr>
            </a:defPPr>
          </a:lstStyle>
          <a:p>
            <a:pPr algn="l">
              <a:defRPr sz="5400" b="1">
                <a:solidFill>
                  <a:srgbClr val="FFFFFF"/>
                </a:solidFill>
                <a:latin typeface="Segoe UI"/>
                <a:ea typeface="Segoe UI"/>
                <a:cs typeface="Segoe UI"/>
              </a:defRPr>
            </a:pPr>
            <a:r>
              <a:rPr sz="5400" b="1">
                <a:solidFill>
                  <a:srgbClr val="FFFFFF"/>
                </a:solidFill>
                <a:latin typeface="Segoe UI"/>
                <a:ea typeface="Segoe UI"/>
                <a:cs typeface="Segoe UI"/>
              </a:rPr>
              <a:t>One app for</a:t>
            </a:r>
          </a:p>
          <a:p>
            <a:pPr algn="l">
              <a:defRPr sz="5400" b="1">
                <a:solidFill>
                  <a:srgbClr val="FFFFFF"/>
                </a:solidFill>
                <a:latin typeface="Segoe UI"/>
                <a:ea typeface="Segoe UI"/>
                <a:cs typeface="Segoe UI"/>
              </a:defRPr>
            </a:pPr>
            <a:r>
              <a:rPr sz="5400" b="1">
                <a:solidFill>
                  <a:srgbClr val="FFFFFF"/>
                </a:solidFill>
                <a:latin typeface="Segoe UI"/>
                <a:ea typeface="Segoe UI"/>
                <a:cs typeface="Segoe UI"/>
              </a:rPr>
              <a:t>hostel life</a:t>
            </a:r>
          </a:p>
        </p:txBody>
      </p:sp>
      <p:sp>
        <p:nvSpPr>
          <p:cNvPr id="4" name="Rectangle 3">
            <a:extLst>
              <a:ext uri="{FF2B5EF4-FFF2-40B4-BE49-F238E27FC236}">
                <a16:creationId xmlns:a16="http://schemas.microsoft.com/office/drawing/2014/main" id="{59069F9F-D270-4BA9-883E-C0439609D524}"/>
              </a:ext>
            </a:extLst>
          </p:cNvPr>
          <p:cNvSpPr>
            <a:spLocks noGrp="1"/>
          </p:cNvSpPr>
          <p:nvPr/>
        </p:nvSpPr>
        <p:spPr>
          <a:xfrm>
            <a:off x="1085850" y="3857625"/>
            <a:ext cx="7048500" cy="714375"/>
          </a:xfrm>
          <a:prstGeom prst="rect">
            <a:avLst/>
          </a:prstGeom>
          <a:noFill/>
          <a:ln w="0">
            <a:noFill/>
            <a:prstDash val="solid"/>
          </a:ln>
        </p:spPr>
        <p:txBody>
          <a:bodyPr lIns="0" tIns="0" rIns="0" bIns="0" anchor="t">
            <a:normAutofit/>
          </a:bodyPr>
          <a:lstStyle>
            <a:defPPr algn="l">
              <a:defRPr sz="2025" b="0">
                <a:solidFill>
                  <a:srgbClr val="E6E5F4"/>
                </a:solidFill>
                <a:latin typeface="Segoe UI"/>
                <a:ea typeface="Segoe UI"/>
                <a:cs typeface="Segoe UI"/>
              </a:defRPr>
            </a:defPPr>
          </a:lstStyle>
          <a:p>
            <a:pPr algn="l">
              <a:defRPr sz="2025" b="0">
                <a:solidFill>
                  <a:srgbClr val="E6E5F4"/>
                </a:solidFill>
                <a:latin typeface="Segoe UI"/>
                <a:ea typeface="Segoe UI"/>
                <a:cs typeface="Segoe UI"/>
              </a:defRPr>
            </a:pPr>
            <a:r>
              <a:rPr sz="2025" b="0">
                <a:solidFill>
                  <a:srgbClr val="E6E5F4"/>
                </a:solidFill>
                <a:latin typeface="Segoe UI"/>
                <a:ea typeface="Segoe UI"/>
                <a:cs typeface="Segoe UI"/>
              </a:rPr>
              <a:t>Shopping, services, health and hostel updates</a:t>
            </a:r>
          </a:p>
          <a:p>
            <a:pPr algn="l">
              <a:defRPr sz="2025" b="0">
                <a:solidFill>
                  <a:srgbClr val="E6E5F4"/>
                </a:solidFill>
                <a:latin typeface="Segoe UI"/>
                <a:ea typeface="Segoe UI"/>
                <a:cs typeface="Segoe UI"/>
              </a:defRPr>
            </a:pPr>
            <a:r>
              <a:rPr sz="2025" b="0">
                <a:solidFill>
                  <a:srgbClr val="E6E5F4"/>
                </a:solidFill>
                <a:latin typeface="Segoe UI"/>
                <a:ea typeface="Segoe UI"/>
                <a:cs typeface="Segoe UI"/>
              </a:rPr>
              <a:t>in a single student experience</a:t>
            </a:r>
          </a:p>
        </p:txBody>
      </p:sp>
      <p:sp>
        <p:nvSpPr>
          <p:cNvPr id="5" name="Rectangle 4">
            <a:extLst>
              <a:ext uri="{FF2B5EF4-FFF2-40B4-BE49-F238E27FC236}">
                <a16:creationId xmlns:a16="http://schemas.microsoft.com/office/drawing/2014/main" id="{BAF9EF91-43B8-4CED-B75C-6971DFB48ECD}"/>
              </a:ext>
            </a:extLst>
          </p:cNvPr>
          <p:cNvSpPr>
            <a:spLocks noGrp="1"/>
          </p:cNvSpPr>
          <p:nvPr/>
        </p:nvSpPr>
        <p:spPr>
          <a:xfrm>
            <a:off x="1085850" y="5200650"/>
            <a:ext cx="4667250" cy="9525"/>
          </a:xfrm>
          <a:prstGeom prst="rect">
            <a:avLst/>
          </a:prstGeom>
          <a:solidFill>
            <a:srgbClr val="444267"/>
          </a:solidFill>
          <a:ln w="0">
            <a:noFill/>
            <a:prstDash val="solid"/>
          </a:ln>
        </p:spPr>
      </p:sp>
      <p:sp>
        <p:nvSpPr>
          <p:cNvPr id="6" name="Rectangle 5">
            <a:extLst>
              <a:ext uri="{FF2B5EF4-FFF2-40B4-BE49-F238E27FC236}">
                <a16:creationId xmlns:a16="http://schemas.microsoft.com/office/drawing/2014/main" id="{F1F88D1B-8C1B-4330-93C0-CD2FB5C615B5}"/>
              </a:ext>
            </a:extLst>
          </p:cNvPr>
          <p:cNvSpPr>
            <a:spLocks noGrp="1"/>
          </p:cNvSpPr>
          <p:nvPr/>
        </p:nvSpPr>
        <p:spPr>
          <a:xfrm>
            <a:off x="1085850" y="5410200"/>
            <a:ext cx="3619500" cy="238125"/>
          </a:xfrm>
          <a:prstGeom prst="rect">
            <a:avLst/>
          </a:prstGeom>
          <a:noFill/>
          <a:ln w="0">
            <a:noFill/>
            <a:prstDash val="solid"/>
          </a:ln>
        </p:spPr>
        <p:txBody>
          <a:bodyPr lIns="0" tIns="0" rIns="0" bIns="0" anchor="t">
            <a:normAutofit/>
          </a:bodyPr>
          <a:lstStyle>
            <a:defPPr algn="l">
              <a:defRPr sz="1125" b="1">
                <a:solidFill>
                  <a:srgbClr val="C7C4E1"/>
                </a:solidFill>
                <a:latin typeface="Segoe UI"/>
                <a:ea typeface="Segoe UI"/>
                <a:cs typeface="Segoe UI"/>
              </a:defRPr>
            </a:defPPr>
          </a:lstStyle>
          <a:p>
            <a:pPr algn="l">
              <a:defRPr sz="1125" b="1">
                <a:solidFill>
                  <a:srgbClr val="C7C4E1"/>
                </a:solidFill>
                <a:latin typeface="Segoe UI"/>
                <a:ea typeface="Segoe UI"/>
                <a:cs typeface="Segoe UI"/>
              </a:defRPr>
            </a:pPr>
            <a:r>
              <a:rPr sz="1125" b="1">
                <a:solidFill>
                  <a:srgbClr val="C7C4E1"/>
                </a:solidFill>
                <a:latin typeface="Segoe UI"/>
                <a:ea typeface="Segoe UI"/>
                <a:cs typeface="Segoe UI"/>
              </a:rPr>
              <a:t>PROJECT PRESENTATION</a:t>
            </a:r>
          </a:p>
        </p:txBody>
      </p:sp>
      <p:sp>
        <p:nvSpPr>
          <p:cNvPr id="7" name="Rectangle 6">
            <a:extLst>
              <a:ext uri="{FF2B5EF4-FFF2-40B4-BE49-F238E27FC236}">
                <a16:creationId xmlns:a16="http://schemas.microsoft.com/office/drawing/2014/main" id="{EFB5DD4A-AC9C-4081-B61E-088B01EC949C}"/>
              </a:ext>
            </a:extLst>
          </p:cNvPr>
          <p:cNvSpPr>
            <a:spLocks noGrp="1"/>
          </p:cNvSpPr>
          <p:nvPr/>
        </p:nvSpPr>
        <p:spPr>
          <a:xfrm>
            <a:off x="8382000" y="4838700"/>
            <a:ext cx="2762250" cy="704850"/>
          </a:xfrm>
          <a:prstGeom prst="rect">
            <a:avLst/>
          </a:prstGeom>
          <a:noFill/>
          <a:ln w="0">
            <a:noFill/>
            <a:prstDash val="solid"/>
          </a:ln>
        </p:spPr>
        <p:txBody>
          <a:bodyPr lIns="0" tIns="0" rIns="0" bIns="0" anchor="t">
            <a:normAutofit/>
          </a:bodyPr>
          <a:lstStyle>
            <a:defPPr algn="r">
              <a:defRPr sz="3675" b="1">
                <a:solidFill>
                  <a:srgbClr val="FFFFFF"/>
                </a:solidFill>
                <a:latin typeface="Segoe UI"/>
                <a:ea typeface="Segoe UI"/>
                <a:cs typeface="Segoe UI"/>
              </a:defRPr>
            </a:defPPr>
          </a:lstStyle>
          <a:p>
            <a:pPr algn="r">
              <a:defRPr sz="3675" b="1">
                <a:solidFill>
                  <a:srgbClr val="FFFFFF"/>
                </a:solidFill>
                <a:latin typeface="Segoe UI"/>
                <a:ea typeface="Segoe UI"/>
                <a:cs typeface="Segoe UI"/>
              </a:defRPr>
            </a:pPr>
            <a:r>
              <a:rPr sz="3675" b="1">
                <a:solidFill>
                  <a:srgbClr val="FFFFFF"/>
                </a:solidFill>
                <a:latin typeface="Segoe UI"/>
                <a:ea typeface="Segoe UI"/>
                <a:cs typeface="Segoe UI"/>
              </a:rPr>
              <a:t>HostelHub</a:t>
            </a:r>
          </a:p>
        </p:txBody>
      </p:sp>
      <p:sp>
        <p:nvSpPr>
          <p:cNvPr id="8" name="Rectangle 7">
            <a:extLst>
              <a:ext uri="{FF2B5EF4-FFF2-40B4-BE49-F238E27FC236}">
                <a16:creationId xmlns:a16="http://schemas.microsoft.com/office/drawing/2014/main" id="{76A9BDF0-B9F8-4EC6-8241-454C4B1F0BD1}"/>
              </a:ext>
            </a:extLst>
          </p:cNvPr>
          <p:cNvSpPr>
            <a:spLocks noGrp="1"/>
          </p:cNvSpPr>
          <p:nvPr/>
        </p:nvSpPr>
        <p:spPr>
          <a:xfrm>
            <a:off x="8096250" y="5562600"/>
            <a:ext cx="3048000" cy="266700"/>
          </a:xfrm>
          <a:prstGeom prst="rect">
            <a:avLst/>
          </a:prstGeom>
          <a:noFill/>
          <a:ln w="0">
            <a:noFill/>
            <a:prstDash val="solid"/>
          </a:ln>
        </p:spPr>
        <p:txBody>
          <a:bodyPr lIns="0" tIns="0" rIns="0" bIns="0" anchor="t">
            <a:normAutofit/>
          </a:bodyPr>
          <a:lstStyle>
            <a:defPPr algn="r">
              <a:defRPr sz="1350" b="0">
                <a:solidFill>
                  <a:srgbClr val="B8B6D0"/>
                </a:solidFill>
                <a:latin typeface="Segoe UI"/>
                <a:ea typeface="Segoe UI"/>
                <a:cs typeface="Segoe UI"/>
              </a:defRPr>
            </a:defPPr>
          </a:lstStyle>
          <a:p>
            <a:pPr algn="r">
              <a:defRPr sz="1350" b="0">
                <a:solidFill>
                  <a:srgbClr val="B8B6D0"/>
                </a:solidFill>
                <a:latin typeface="Segoe UI"/>
                <a:ea typeface="Segoe UI"/>
                <a:cs typeface="Segoe UI"/>
              </a:defRPr>
            </a:pPr>
            <a:r>
              <a:rPr sz="1350" b="0">
                <a:solidFill>
                  <a:srgbClr val="B8B6D0"/>
                </a:solidFill>
                <a:latin typeface="Segoe UI"/>
                <a:ea typeface="Segoe UI"/>
                <a:cs typeface="Segoe UI"/>
              </a:rPr>
              <a:t>Campus services platform</a:t>
            </a:r>
          </a:p>
        </p:txBody>
      </p:sp>
    </p:spTree>
    <p:extLst>
      <p:ext uri="{BB962C8B-B14F-4D97-AF65-F5344CB8AC3E}">
        <p14:creationId xmlns:p14="http://schemas.microsoft.com/office/powerpoint/2010/main" val="2098330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E6C400F-5639-41A6-AB2A-CEA5A5D1C9E0}"/>
              </a:ext>
            </a:extLst>
          </p:cNvPr>
          <p:cNvSpPr>
            <a:spLocks noGrp="1"/>
          </p:cNvSpPr>
          <p:nvPr/>
        </p:nvSpPr>
        <p:spPr>
          <a:xfrm>
            <a:off x="704850" y="400050"/>
            <a:ext cx="5715000" cy="209550"/>
          </a:xfrm>
          <a:prstGeom prst="rect">
            <a:avLst/>
          </a:prstGeom>
          <a:noFill/>
          <a:ln w="0">
            <a:noFill/>
            <a:prstDash val="solid"/>
          </a:ln>
        </p:spPr>
        <p:txBody>
          <a:bodyPr lIns="0" tIns="0" rIns="0" bIns="0" anchor="t">
            <a:normAutofit/>
          </a:bodyPr>
          <a:lstStyle>
            <a:defPPr algn="l">
              <a:defRPr sz="1050" b="1">
                <a:solidFill>
                  <a:srgbClr val="7156E8"/>
                </a:solidFill>
                <a:latin typeface="Segoe UI"/>
                <a:ea typeface="Segoe UI"/>
                <a:cs typeface="Segoe UI"/>
              </a:defRPr>
            </a:defPPr>
          </a:lstStyle>
          <a:p>
            <a:pPr algn="l">
              <a:defRPr sz="1050" b="1">
                <a:solidFill>
                  <a:srgbClr val="7156E8"/>
                </a:solidFill>
                <a:latin typeface="Segoe UI"/>
                <a:ea typeface="Segoe UI"/>
                <a:cs typeface="Segoe UI"/>
              </a:defRPr>
            </a:pPr>
            <a:r>
              <a:rPr sz="1050" b="1">
                <a:solidFill>
                  <a:srgbClr val="7156E8"/>
                </a:solidFill>
                <a:latin typeface="Segoe UI"/>
                <a:ea typeface="Segoe UI"/>
                <a:cs typeface="Segoe UI"/>
              </a:rPr>
              <a:t>THE PROBLEM</a:t>
            </a:r>
          </a:p>
        </p:txBody>
      </p:sp>
      <p:sp>
        <p:nvSpPr>
          <p:cNvPr id="2" name="Rectangle 1">
            <a:extLst>
              <a:ext uri="{FF2B5EF4-FFF2-40B4-BE49-F238E27FC236}">
                <a16:creationId xmlns:a16="http://schemas.microsoft.com/office/drawing/2014/main" id="{BE0ED3CD-6577-49A0-BB60-5EF5238646D3}"/>
              </a:ext>
            </a:extLst>
          </p:cNvPr>
          <p:cNvSpPr>
            <a:spLocks noGrp="1"/>
          </p:cNvSpPr>
          <p:nvPr/>
        </p:nvSpPr>
        <p:spPr>
          <a:xfrm>
            <a:off x="704850" y="742950"/>
            <a:ext cx="10715625" cy="723900"/>
          </a:xfrm>
          <a:prstGeom prst="rect">
            <a:avLst/>
          </a:prstGeom>
          <a:noFill/>
          <a:ln w="0">
            <a:noFill/>
            <a:prstDash val="solid"/>
          </a:ln>
        </p:spPr>
        <p:txBody>
          <a:bodyPr lIns="0" tIns="0" rIns="0" bIns="0" anchor="t">
            <a:normAutofit fontScale="93764"/>
          </a:bodyPr>
          <a:lstStyle>
            <a:defPPr algn="l">
              <a:defRPr sz="3450" b="1">
                <a:solidFill>
                  <a:srgbClr val="22233D"/>
                </a:solidFill>
                <a:latin typeface="Segoe UI"/>
                <a:ea typeface="Segoe UI"/>
                <a:cs typeface="Segoe UI"/>
              </a:defRPr>
            </a:defPPr>
          </a:lstStyle>
          <a:p>
            <a:pPr algn="l">
              <a:defRPr sz="3450" b="1">
                <a:solidFill>
                  <a:srgbClr val="22233D"/>
                </a:solidFill>
                <a:latin typeface="Segoe UI"/>
                <a:ea typeface="Segoe UI"/>
                <a:cs typeface="Segoe UI"/>
              </a:defRPr>
            </a:pPr>
            <a:r>
              <a:rPr sz="3450" b="1">
                <a:solidFill>
                  <a:srgbClr val="22233D"/>
                </a:solidFill>
                <a:latin typeface="Segoe UI"/>
                <a:ea typeface="Segoe UI"/>
                <a:cs typeface="Segoe UI"/>
              </a:rPr>
              <a:t>Before development: everyday tasks were disconnected</a:t>
            </a:r>
          </a:p>
        </p:txBody>
      </p:sp>
      <p:sp>
        <p:nvSpPr>
          <p:cNvPr id="3" name="Rectangle 2">
            <a:extLst>
              <a:ext uri="{FF2B5EF4-FFF2-40B4-BE49-F238E27FC236}">
                <a16:creationId xmlns:a16="http://schemas.microsoft.com/office/drawing/2014/main" id="{548EE1A1-9D7F-4E9B-B94A-01CE5F9E4905}"/>
              </a:ext>
            </a:extLst>
          </p:cNvPr>
          <p:cNvSpPr>
            <a:spLocks noGrp="1"/>
          </p:cNvSpPr>
          <p:nvPr/>
        </p:nvSpPr>
        <p:spPr>
          <a:xfrm>
            <a:off x="704850" y="6400800"/>
            <a:ext cx="10782300" cy="9525"/>
          </a:xfrm>
          <a:prstGeom prst="rect">
            <a:avLst/>
          </a:prstGeom>
          <a:solidFill>
            <a:srgbClr val="E4E5EF"/>
          </a:solidFill>
          <a:ln w="0">
            <a:noFill/>
            <a:prstDash val="solid"/>
          </a:ln>
        </p:spPr>
      </p:sp>
      <p:sp>
        <p:nvSpPr>
          <p:cNvPr id="4" name="Rectangle 3">
            <a:extLst>
              <a:ext uri="{FF2B5EF4-FFF2-40B4-BE49-F238E27FC236}">
                <a16:creationId xmlns:a16="http://schemas.microsoft.com/office/drawing/2014/main" id="{49C24733-DCCC-48BE-97F3-E0976613F666}"/>
              </a:ext>
            </a:extLst>
          </p:cNvPr>
          <p:cNvSpPr>
            <a:spLocks noGrp="1"/>
          </p:cNvSpPr>
          <p:nvPr/>
        </p:nvSpPr>
        <p:spPr>
          <a:xfrm>
            <a:off x="704850" y="6505575"/>
            <a:ext cx="6667500" cy="190500"/>
          </a:xfrm>
          <a:prstGeom prst="rect">
            <a:avLst/>
          </a:prstGeom>
          <a:noFill/>
          <a:ln w="0">
            <a:noFill/>
            <a:prstDash val="solid"/>
          </a:ln>
        </p:spPr>
        <p:txBody>
          <a:bodyPr lIns="0" tIns="0" rIns="0" bIns="0" anchor="t">
            <a:normAutofit/>
          </a:bodyPr>
          <a:lstStyle>
            <a:defPPr algn="l">
              <a:defRPr sz="975" b="1">
                <a:solidFill>
                  <a:srgbClr val="777B90"/>
                </a:solidFill>
                <a:latin typeface="Segoe UI"/>
                <a:ea typeface="Segoe UI"/>
                <a:cs typeface="Segoe UI"/>
              </a:defRPr>
            </a:defPPr>
          </a:lstStyle>
          <a:p>
            <a:pPr algn="l">
              <a:defRPr sz="975" b="1">
                <a:solidFill>
                  <a:srgbClr val="777B90"/>
                </a:solidFill>
                <a:latin typeface="Segoe UI"/>
                <a:ea typeface="Segoe UI"/>
                <a:cs typeface="Segoe UI"/>
              </a:defRPr>
            </a:pPr>
            <a:r>
              <a:rPr sz="975" b="1">
                <a:solidFill>
                  <a:srgbClr val="777B90"/>
                </a:solidFill>
                <a:latin typeface="Segoe UI"/>
                <a:ea typeface="Segoe UI"/>
                <a:cs typeface="Segoe UI"/>
              </a:rPr>
              <a:t>HOSTELHUB  /  PROJECT PRESENTATION</a:t>
            </a:r>
          </a:p>
        </p:txBody>
      </p:sp>
      <p:sp>
        <p:nvSpPr>
          <p:cNvPr id="5" name="Rectangle 4">
            <a:extLst>
              <a:ext uri="{FF2B5EF4-FFF2-40B4-BE49-F238E27FC236}">
                <a16:creationId xmlns:a16="http://schemas.microsoft.com/office/drawing/2014/main" id="{360EF71C-CF4F-4249-8EC4-356F756C532D}"/>
              </a:ext>
            </a:extLst>
          </p:cNvPr>
          <p:cNvSpPr>
            <a:spLocks noGrp="1"/>
          </p:cNvSpPr>
          <p:nvPr/>
        </p:nvSpPr>
        <p:spPr>
          <a:xfrm>
            <a:off x="11049000" y="6486525"/>
            <a:ext cx="438150" cy="209550"/>
          </a:xfrm>
          <a:prstGeom prst="rect">
            <a:avLst/>
          </a:prstGeom>
          <a:noFill/>
          <a:ln w="0">
            <a:noFill/>
            <a:prstDash val="solid"/>
          </a:ln>
        </p:spPr>
        <p:txBody>
          <a:bodyPr lIns="0" tIns="0" rIns="0" bIns="0" anchor="t">
            <a:normAutofit/>
          </a:bodyPr>
          <a:lstStyle>
            <a:defPPr algn="r">
              <a:defRPr sz="1050" b="1">
                <a:solidFill>
                  <a:srgbClr val="7156E8"/>
                </a:solidFill>
                <a:latin typeface="Segoe UI"/>
                <a:ea typeface="Segoe UI"/>
                <a:cs typeface="Segoe UI"/>
              </a:defRPr>
            </a:defPPr>
          </a:lstStyle>
          <a:p>
            <a:pPr algn="r">
              <a:defRPr sz="1050" b="1">
                <a:solidFill>
                  <a:srgbClr val="7156E8"/>
                </a:solidFill>
                <a:latin typeface="Segoe UI"/>
                <a:ea typeface="Segoe UI"/>
                <a:cs typeface="Segoe UI"/>
              </a:defRPr>
            </a:pPr>
            <a:r>
              <a:rPr sz="1050" b="1">
                <a:solidFill>
                  <a:srgbClr val="7156E8"/>
                </a:solidFill>
                <a:latin typeface="Segoe UI"/>
                <a:ea typeface="Segoe UI"/>
                <a:cs typeface="Segoe UI"/>
              </a:rPr>
              <a:t>02</a:t>
            </a:r>
          </a:p>
        </p:txBody>
      </p:sp>
      <p:sp>
        <p:nvSpPr>
          <p:cNvPr id="6" name="Rectangle 5">
            <a:extLst>
              <a:ext uri="{FF2B5EF4-FFF2-40B4-BE49-F238E27FC236}">
                <a16:creationId xmlns:a16="http://schemas.microsoft.com/office/drawing/2014/main" id="{B119E269-56B5-48D1-9811-53B5753953B8}"/>
              </a:ext>
            </a:extLst>
          </p:cNvPr>
          <p:cNvSpPr>
            <a:spLocks noGrp="1"/>
          </p:cNvSpPr>
          <p:nvPr/>
        </p:nvSpPr>
        <p:spPr>
          <a:xfrm>
            <a:off x="781050" y="1552575"/>
            <a:ext cx="10001250" cy="304800"/>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Typical hostel-life gaps this project is designed to address</a:t>
            </a:r>
          </a:p>
        </p:txBody>
      </p:sp>
      <p:sp>
        <p:nvSpPr>
          <p:cNvPr id="7" name="Rectangle 6">
            <a:extLst>
              <a:ext uri="{FF2B5EF4-FFF2-40B4-BE49-F238E27FC236}">
                <a16:creationId xmlns:a16="http://schemas.microsoft.com/office/drawing/2014/main" id="{B5C4CE45-75E8-4C29-859D-ED1968D4DC81}"/>
              </a:ext>
            </a:extLst>
          </p:cNvPr>
          <p:cNvSpPr>
            <a:spLocks noGrp="1"/>
          </p:cNvSpPr>
          <p:nvPr/>
        </p:nvSpPr>
        <p:spPr>
          <a:xfrm>
            <a:off x="781050" y="2009775"/>
            <a:ext cx="514350" cy="381000"/>
          </a:xfrm>
          <a:prstGeom prst="rect">
            <a:avLst/>
          </a:prstGeom>
          <a:noFill/>
          <a:ln w="0">
            <a:noFill/>
            <a:prstDash val="solid"/>
          </a:ln>
        </p:spPr>
        <p:txBody>
          <a:bodyPr lIns="0" tIns="0" rIns="0" bIns="0" anchor="t">
            <a:normAutofit/>
          </a:bodyPr>
          <a:lstStyle>
            <a:defPPr algn="l">
              <a:defRPr sz="1800" b="1">
                <a:solidFill>
                  <a:srgbClr val="7156E8"/>
                </a:solidFill>
                <a:latin typeface="Segoe UI"/>
                <a:ea typeface="Segoe UI"/>
                <a:cs typeface="Segoe UI"/>
              </a:defRPr>
            </a:defPPr>
          </a:lstStyle>
          <a:p>
            <a:pPr algn="l">
              <a:defRPr sz="1800" b="1">
                <a:solidFill>
                  <a:srgbClr val="7156E8"/>
                </a:solidFill>
                <a:latin typeface="Segoe UI"/>
                <a:ea typeface="Segoe UI"/>
                <a:cs typeface="Segoe UI"/>
              </a:defRPr>
            </a:pPr>
            <a:r>
              <a:rPr sz="1800" b="1">
                <a:solidFill>
                  <a:srgbClr val="7156E8"/>
                </a:solidFill>
                <a:latin typeface="Segoe UI"/>
                <a:ea typeface="Segoe UI"/>
                <a:cs typeface="Segoe UI"/>
              </a:rPr>
              <a:t>01</a:t>
            </a:r>
          </a:p>
        </p:txBody>
      </p:sp>
      <p:sp>
        <p:nvSpPr>
          <p:cNvPr id="8" name="Rectangle 7">
            <a:extLst>
              <a:ext uri="{FF2B5EF4-FFF2-40B4-BE49-F238E27FC236}">
                <a16:creationId xmlns:a16="http://schemas.microsoft.com/office/drawing/2014/main" id="{A1A8136B-3871-452B-B6D4-D1E812E62864}"/>
              </a:ext>
            </a:extLst>
          </p:cNvPr>
          <p:cNvSpPr>
            <a:spLocks noGrp="1"/>
          </p:cNvSpPr>
          <p:nvPr/>
        </p:nvSpPr>
        <p:spPr>
          <a:xfrm>
            <a:off x="1447800" y="1981200"/>
            <a:ext cx="3524250" cy="371475"/>
          </a:xfrm>
          <a:prstGeom prst="rect">
            <a:avLst/>
          </a:prstGeom>
          <a:noFill/>
          <a:ln w="0">
            <a:noFill/>
            <a:prstDash val="solid"/>
          </a:ln>
        </p:spPr>
        <p:txBody>
          <a:bodyPr lIns="0" tIns="0" rIns="0" bIns="0" anchor="t">
            <a:normAutofit/>
          </a:bodyPr>
          <a:lstStyle>
            <a:defPPr algn="l">
              <a:defRPr sz="1875" b="1">
                <a:solidFill>
                  <a:srgbClr val="22233D"/>
                </a:solidFill>
                <a:latin typeface="Segoe UI"/>
                <a:ea typeface="Segoe UI"/>
                <a:cs typeface="Segoe UI"/>
              </a:defRPr>
            </a:defPPr>
          </a:lstStyle>
          <a:p>
            <a:pPr algn="l">
              <a:defRPr sz="1875" b="1">
                <a:solidFill>
                  <a:srgbClr val="22233D"/>
                </a:solidFill>
                <a:latin typeface="Segoe UI"/>
                <a:ea typeface="Segoe UI"/>
                <a:cs typeface="Segoe UI"/>
              </a:defRPr>
            </a:pPr>
            <a:r>
              <a:rPr sz="1875" b="1">
                <a:solidFill>
                  <a:srgbClr val="22233D"/>
                </a:solidFill>
                <a:latin typeface="Segoe UI"/>
                <a:ea typeface="Segoe UI"/>
                <a:cs typeface="Segoe UI"/>
              </a:rPr>
              <a:t>Finding essentials</a:t>
            </a:r>
          </a:p>
        </p:txBody>
      </p:sp>
      <p:sp>
        <p:nvSpPr>
          <p:cNvPr id="9" name="Rectangle 8">
            <a:extLst>
              <a:ext uri="{FF2B5EF4-FFF2-40B4-BE49-F238E27FC236}">
                <a16:creationId xmlns:a16="http://schemas.microsoft.com/office/drawing/2014/main" id="{8A832AEF-4E34-4C76-B706-02AB164228F1}"/>
              </a:ext>
            </a:extLst>
          </p:cNvPr>
          <p:cNvSpPr>
            <a:spLocks noGrp="1"/>
          </p:cNvSpPr>
          <p:nvPr/>
        </p:nvSpPr>
        <p:spPr>
          <a:xfrm>
            <a:off x="1447800" y="2314575"/>
            <a:ext cx="8382000" cy="457200"/>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Students may need to search separately for food, clothing, medicine and nearby services.</a:t>
            </a:r>
          </a:p>
        </p:txBody>
      </p:sp>
      <p:sp>
        <p:nvSpPr>
          <p:cNvPr id="10" name="Rectangle 9">
            <a:extLst>
              <a:ext uri="{FF2B5EF4-FFF2-40B4-BE49-F238E27FC236}">
                <a16:creationId xmlns:a16="http://schemas.microsoft.com/office/drawing/2014/main" id="{C5B3E631-A65B-49B6-9104-619AE9A85BDD}"/>
              </a:ext>
            </a:extLst>
          </p:cNvPr>
          <p:cNvSpPr>
            <a:spLocks noGrp="1"/>
          </p:cNvSpPr>
          <p:nvPr/>
        </p:nvSpPr>
        <p:spPr>
          <a:xfrm>
            <a:off x="1447800" y="2847975"/>
            <a:ext cx="9429750" cy="9525"/>
          </a:xfrm>
          <a:prstGeom prst="rect">
            <a:avLst/>
          </a:prstGeom>
          <a:solidFill>
            <a:srgbClr val="E4E5EF"/>
          </a:solidFill>
          <a:ln w="0">
            <a:noFill/>
            <a:prstDash val="solid"/>
          </a:ln>
        </p:spPr>
      </p:sp>
      <p:sp>
        <p:nvSpPr>
          <p:cNvPr id="11" name="Rectangle 10">
            <a:extLst>
              <a:ext uri="{FF2B5EF4-FFF2-40B4-BE49-F238E27FC236}">
                <a16:creationId xmlns:a16="http://schemas.microsoft.com/office/drawing/2014/main" id="{D93AF026-985A-4887-8F19-EF58223A16A3}"/>
              </a:ext>
            </a:extLst>
          </p:cNvPr>
          <p:cNvSpPr>
            <a:spLocks noGrp="1"/>
          </p:cNvSpPr>
          <p:nvPr/>
        </p:nvSpPr>
        <p:spPr>
          <a:xfrm>
            <a:off x="781050" y="2943225"/>
            <a:ext cx="514350" cy="381000"/>
          </a:xfrm>
          <a:prstGeom prst="rect">
            <a:avLst/>
          </a:prstGeom>
          <a:noFill/>
          <a:ln w="0">
            <a:noFill/>
            <a:prstDash val="solid"/>
          </a:ln>
        </p:spPr>
        <p:txBody>
          <a:bodyPr lIns="0" tIns="0" rIns="0" bIns="0" anchor="t">
            <a:normAutofit/>
          </a:bodyPr>
          <a:lstStyle>
            <a:defPPr algn="l">
              <a:defRPr sz="1800" b="1">
                <a:solidFill>
                  <a:srgbClr val="7156E8"/>
                </a:solidFill>
                <a:latin typeface="Segoe UI"/>
                <a:ea typeface="Segoe UI"/>
                <a:cs typeface="Segoe UI"/>
              </a:defRPr>
            </a:defPPr>
          </a:lstStyle>
          <a:p>
            <a:pPr algn="l">
              <a:defRPr sz="1800" b="1">
                <a:solidFill>
                  <a:srgbClr val="7156E8"/>
                </a:solidFill>
                <a:latin typeface="Segoe UI"/>
                <a:ea typeface="Segoe UI"/>
                <a:cs typeface="Segoe UI"/>
              </a:defRPr>
            </a:pPr>
            <a:r>
              <a:rPr sz="1800" b="1">
                <a:solidFill>
                  <a:srgbClr val="7156E8"/>
                </a:solidFill>
                <a:latin typeface="Segoe UI"/>
                <a:ea typeface="Segoe UI"/>
                <a:cs typeface="Segoe UI"/>
              </a:rPr>
              <a:t>02</a:t>
            </a:r>
          </a:p>
        </p:txBody>
      </p:sp>
      <p:sp>
        <p:nvSpPr>
          <p:cNvPr id="12" name="Rectangle 11">
            <a:extLst>
              <a:ext uri="{FF2B5EF4-FFF2-40B4-BE49-F238E27FC236}">
                <a16:creationId xmlns:a16="http://schemas.microsoft.com/office/drawing/2014/main" id="{A2F849A4-02A7-41F4-8BE3-00625ED98E42}"/>
              </a:ext>
            </a:extLst>
          </p:cNvPr>
          <p:cNvSpPr>
            <a:spLocks noGrp="1"/>
          </p:cNvSpPr>
          <p:nvPr/>
        </p:nvSpPr>
        <p:spPr>
          <a:xfrm>
            <a:off x="1447800" y="2914650"/>
            <a:ext cx="3524250" cy="371475"/>
          </a:xfrm>
          <a:prstGeom prst="rect">
            <a:avLst/>
          </a:prstGeom>
          <a:noFill/>
          <a:ln w="0">
            <a:noFill/>
            <a:prstDash val="solid"/>
          </a:ln>
        </p:spPr>
        <p:txBody>
          <a:bodyPr lIns="0" tIns="0" rIns="0" bIns="0" anchor="t">
            <a:normAutofit/>
          </a:bodyPr>
          <a:lstStyle>
            <a:defPPr algn="l">
              <a:defRPr sz="1875" b="1">
                <a:solidFill>
                  <a:srgbClr val="22233D"/>
                </a:solidFill>
                <a:latin typeface="Segoe UI"/>
                <a:ea typeface="Segoe UI"/>
                <a:cs typeface="Segoe UI"/>
              </a:defRPr>
            </a:defPPr>
          </a:lstStyle>
          <a:p>
            <a:pPr algn="l">
              <a:defRPr sz="1875" b="1">
                <a:solidFill>
                  <a:srgbClr val="22233D"/>
                </a:solidFill>
                <a:latin typeface="Segoe UI"/>
                <a:ea typeface="Segoe UI"/>
                <a:cs typeface="Segoe UI"/>
              </a:defRPr>
            </a:pPr>
            <a:r>
              <a:rPr sz="1875" b="1">
                <a:solidFill>
                  <a:srgbClr val="22233D"/>
                </a:solidFill>
                <a:latin typeface="Segoe UI"/>
                <a:ea typeface="Segoe UI"/>
                <a:cs typeface="Segoe UI"/>
              </a:rPr>
              <a:t>Unclear request status</a:t>
            </a:r>
          </a:p>
        </p:txBody>
      </p:sp>
      <p:sp>
        <p:nvSpPr>
          <p:cNvPr id="13" name="Rectangle 12">
            <a:extLst>
              <a:ext uri="{FF2B5EF4-FFF2-40B4-BE49-F238E27FC236}">
                <a16:creationId xmlns:a16="http://schemas.microsoft.com/office/drawing/2014/main" id="{32372CF4-DE6D-4639-A6EB-28633480EF4E}"/>
              </a:ext>
            </a:extLst>
          </p:cNvPr>
          <p:cNvSpPr>
            <a:spLocks noGrp="1"/>
          </p:cNvSpPr>
          <p:nvPr/>
        </p:nvSpPr>
        <p:spPr>
          <a:xfrm>
            <a:off x="1447800" y="3248025"/>
            <a:ext cx="8382000" cy="457200"/>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A repair or service request can be difficult to follow across separate channels.</a:t>
            </a:r>
          </a:p>
        </p:txBody>
      </p:sp>
      <p:sp>
        <p:nvSpPr>
          <p:cNvPr id="14" name="Rectangle 13">
            <a:extLst>
              <a:ext uri="{FF2B5EF4-FFF2-40B4-BE49-F238E27FC236}">
                <a16:creationId xmlns:a16="http://schemas.microsoft.com/office/drawing/2014/main" id="{EEA76D8B-6B23-4897-A2A8-263CA1AAC065}"/>
              </a:ext>
            </a:extLst>
          </p:cNvPr>
          <p:cNvSpPr>
            <a:spLocks noGrp="1"/>
          </p:cNvSpPr>
          <p:nvPr/>
        </p:nvSpPr>
        <p:spPr>
          <a:xfrm>
            <a:off x="1447800" y="3781425"/>
            <a:ext cx="9429750" cy="9525"/>
          </a:xfrm>
          <a:prstGeom prst="rect">
            <a:avLst/>
          </a:prstGeom>
          <a:solidFill>
            <a:srgbClr val="E4E5EF"/>
          </a:solidFill>
          <a:ln w="0">
            <a:noFill/>
            <a:prstDash val="solid"/>
          </a:ln>
        </p:spPr>
      </p:sp>
      <p:sp>
        <p:nvSpPr>
          <p:cNvPr id="15" name="Rectangle 14">
            <a:extLst>
              <a:ext uri="{FF2B5EF4-FFF2-40B4-BE49-F238E27FC236}">
                <a16:creationId xmlns:a16="http://schemas.microsoft.com/office/drawing/2014/main" id="{5989AF43-8A26-4CB5-B7B8-BB78AC3195DB}"/>
              </a:ext>
            </a:extLst>
          </p:cNvPr>
          <p:cNvSpPr>
            <a:spLocks noGrp="1"/>
          </p:cNvSpPr>
          <p:nvPr/>
        </p:nvSpPr>
        <p:spPr>
          <a:xfrm>
            <a:off x="781050" y="3876675"/>
            <a:ext cx="514350" cy="381000"/>
          </a:xfrm>
          <a:prstGeom prst="rect">
            <a:avLst/>
          </a:prstGeom>
          <a:noFill/>
          <a:ln w="0">
            <a:noFill/>
            <a:prstDash val="solid"/>
          </a:ln>
        </p:spPr>
        <p:txBody>
          <a:bodyPr lIns="0" tIns="0" rIns="0" bIns="0" anchor="t">
            <a:normAutofit/>
          </a:bodyPr>
          <a:lstStyle>
            <a:defPPr algn="l">
              <a:defRPr sz="1800" b="1">
                <a:solidFill>
                  <a:srgbClr val="7156E8"/>
                </a:solidFill>
                <a:latin typeface="Segoe UI"/>
                <a:ea typeface="Segoe UI"/>
                <a:cs typeface="Segoe UI"/>
              </a:defRPr>
            </a:defPPr>
          </a:lstStyle>
          <a:p>
            <a:pPr algn="l">
              <a:defRPr sz="1800" b="1">
                <a:solidFill>
                  <a:srgbClr val="7156E8"/>
                </a:solidFill>
                <a:latin typeface="Segoe UI"/>
                <a:ea typeface="Segoe UI"/>
                <a:cs typeface="Segoe UI"/>
              </a:defRPr>
            </a:pPr>
            <a:r>
              <a:rPr sz="1800" b="1">
                <a:solidFill>
                  <a:srgbClr val="7156E8"/>
                </a:solidFill>
                <a:latin typeface="Segoe UI"/>
                <a:ea typeface="Segoe UI"/>
                <a:cs typeface="Segoe UI"/>
              </a:rPr>
              <a:t>03</a:t>
            </a:r>
          </a:p>
        </p:txBody>
      </p:sp>
      <p:sp>
        <p:nvSpPr>
          <p:cNvPr id="16" name="Rectangle 15">
            <a:extLst>
              <a:ext uri="{FF2B5EF4-FFF2-40B4-BE49-F238E27FC236}">
                <a16:creationId xmlns:a16="http://schemas.microsoft.com/office/drawing/2014/main" id="{FFB7182D-B453-493E-ACEC-632EF98682C0}"/>
              </a:ext>
            </a:extLst>
          </p:cNvPr>
          <p:cNvSpPr>
            <a:spLocks noGrp="1"/>
          </p:cNvSpPr>
          <p:nvPr/>
        </p:nvSpPr>
        <p:spPr>
          <a:xfrm>
            <a:off x="1447800" y="3848100"/>
            <a:ext cx="3524250" cy="371475"/>
          </a:xfrm>
          <a:prstGeom prst="rect">
            <a:avLst/>
          </a:prstGeom>
          <a:noFill/>
          <a:ln w="0">
            <a:noFill/>
            <a:prstDash val="solid"/>
          </a:ln>
        </p:spPr>
        <p:txBody>
          <a:bodyPr lIns="0" tIns="0" rIns="0" bIns="0" anchor="t">
            <a:normAutofit/>
          </a:bodyPr>
          <a:lstStyle>
            <a:defPPr algn="l">
              <a:defRPr sz="1875" b="1">
                <a:solidFill>
                  <a:srgbClr val="22233D"/>
                </a:solidFill>
                <a:latin typeface="Segoe UI"/>
                <a:ea typeface="Segoe UI"/>
                <a:cs typeface="Segoe UI"/>
              </a:defRPr>
            </a:defPPr>
          </a:lstStyle>
          <a:p>
            <a:pPr algn="l">
              <a:defRPr sz="1875" b="1">
                <a:solidFill>
                  <a:srgbClr val="22233D"/>
                </a:solidFill>
                <a:latin typeface="Segoe UI"/>
                <a:ea typeface="Segoe UI"/>
                <a:cs typeface="Segoe UI"/>
              </a:defRPr>
            </a:pPr>
            <a:r>
              <a:rPr sz="1875" b="1">
                <a:solidFill>
                  <a:srgbClr val="22233D"/>
                </a:solidFill>
                <a:latin typeface="Segoe UI"/>
                <a:ea typeface="Segoe UI"/>
                <a:cs typeface="Segoe UI"/>
              </a:rPr>
              <a:t>Scattered hostel information</a:t>
            </a:r>
          </a:p>
        </p:txBody>
      </p:sp>
      <p:sp>
        <p:nvSpPr>
          <p:cNvPr id="17" name="Rectangle 16">
            <a:extLst>
              <a:ext uri="{FF2B5EF4-FFF2-40B4-BE49-F238E27FC236}">
                <a16:creationId xmlns:a16="http://schemas.microsoft.com/office/drawing/2014/main" id="{C66C340F-C69B-4955-8764-1D9A2797CE2F}"/>
              </a:ext>
            </a:extLst>
          </p:cNvPr>
          <p:cNvSpPr>
            <a:spLocks noGrp="1"/>
          </p:cNvSpPr>
          <p:nvPr/>
        </p:nvSpPr>
        <p:spPr>
          <a:xfrm>
            <a:off x="1447800" y="4181475"/>
            <a:ext cx="8382000" cy="457200"/>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Room allocation, mess menus and warden notices can be hard to find when shown separately.</a:t>
            </a:r>
          </a:p>
        </p:txBody>
      </p:sp>
      <p:sp>
        <p:nvSpPr>
          <p:cNvPr id="18" name="Rectangle 17">
            <a:extLst>
              <a:ext uri="{FF2B5EF4-FFF2-40B4-BE49-F238E27FC236}">
                <a16:creationId xmlns:a16="http://schemas.microsoft.com/office/drawing/2014/main" id="{C8F4EFFC-A1EC-4AF9-9D17-C1C6B45327CB}"/>
              </a:ext>
            </a:extLst>
          </p:cNvPr>
          <p:cNvSpPr>
            <a:spLocks noGrp="1"/>
          </p:cNvSpPr>
          <p:nvPr/>
        </p:nvSpPr>
        <p:spPr>
          <a:xfrm>
            <a:off x="1447800" y="4714875"/>
            <a:ext cx="9429750" cy="9525"/>
          </a:xfrm>
          <a:prstGeom prst="rect">
            <a:avLst/>
          </a:prstGeom>
          <a:solidFill>
            <a:srgbClr val="E4E5EF"/>
          </a:solidFill>
          <a:ln w="0">
            <a:noFill/>
            <a:prstDash val="solid"/>
          </a:ln>
        </p:spPr>
      </p:sp>
      <p:sp>
        <p:nvSpPr>
          <p:cNvPr id="19" name="Rectangle 18">
            <a:extLst>
              <a:ext uri="{FF2B5EF4-FFF2-40B4-BE49-F238E27FC236}">
                <a16:creationId xmlns:a16="http://schemas.microsoft.com/office/drawing/2014/main" id="{1A83FB69-7D75-45D2-BF28-9FDF592AB3FD}"/>
              </a:ext>
            </a:extLst>
          </p:cNvPr>
          <p:cNvSpPr>
            <a:spLocks noGrp="1"/>
          </p:cNvSpPr>
          <p:nvPr/>
        </p:nvSpPr>
        <p:spPr>
          <a:xfrm>
            <a:off x="781050" y="4810125"/>
            <a:ext cx="514350" cy="381000"/>
          </a:xfrm>
          <a:prstGeom prst="rect">
            <a:avLst/>
          </a:prstGeom>
          <a:noFill/>
          <a:ln w="0">
            <a:noFill/>
            <a:prstDash val="solid"/>
          </a:ln>
        </p:spPr>
        <p:txBody>
          <a:bodyPr lIns="0" tIns="0" rIns="0" bIns="0" anchor="t">
            <a:normAutofit/>
          </a:bodyPr>
          <a:lstStyle>
            <a:defPPr algn="l">
              <a:defRPr sz="1800" b="1">
                <a:solidFill>
                  <a:srgbClr val="7156E8"/>
                </a:solidFill>
                <a:latin typeface="Segoe UI"/>
                <a:ea typeface="Segoe UI"/>
                <a:cs typeface="Segoe UI"/>
              </a:defRPr>
            </a:defPPr>
          </a:lstStyle>
          <a:p>
            <a:pPr algn="l">
              <a:defRPr sz="1800" b="1">
                <a:solidFill>
                  <a:srgbClr val="7156E8"/>
                </a:solidFill>
                <a:latin typeface="Segoe UI"/>
                <a:ea typeface="Segoe UI"/>
                <a:cs typeface="Segoe UI"/>
              </a:defRPr>
            </a:pPr>
            <a:r>
              <a:rPr sz="1800" b="1">
                <a:solidFill>
                  <a:srgbClr val="7156E8"/>
                </a:solidFill>
                <a:latin typeface="Segoe UI"/>
                <a:ea typeface="Segoe UI"/>
                <a:cs typeface="Segoe UI"/>
              </a:rPr>
              <a:t>04</a:t>
            </a:r>
          </a:p>
        </p:txBody>
      </p:sp>
      <p:sp>
        <p:nvSpPr>
          <p:cNvPr id="20" name="Rectangle 19">
            <a:extLst>
              <a:ext uri="{FF2B5EF4-FFF2-40B4-BE49-F238E27FC236}">
                <a16:creationId xmlns:a16="http://schemas.microsoft.com/office/drawing/2014/main" id="{DA960E65-D0EC-4F63-BFD2-27556C35AB72}"/>
              </a:ext>
            </a:extLst>
          </p:cNvPr>
          <p:cNvSpPr>
            <a:spLocks noGrp="1"/>
          </p:cNvSpPr>
          <p:nvPr/>
        </p:nvSpPr>
        <p:spPr>
          <a:xfrm>
            <a:off x="1447800" y="4781550"/>
            <a:ext cx="3524250" cy="371475"/>
          </a:xfrm>
          <a:prstGeom prst="rect">
            <a:avLst/>
          </a:prstGeom>
          <a:noFill/>
          <a:ln w="0">
            <a:noFill/>
            <a:prstDash val="solid"/>
          </a:ln>
        </p:spPr>
        <p:txBody>
          <a:bodyPr lIns="0" tIns="0" rIns="0" bIns="0" anchor="t">
            <a:normAutofit/>
          </a:bodyPr>
          <a:lstStyle>
            <a:defPPr algn="l">
              <a:defRPr sz="1875" b="1">
                <a:solidFill>
                  <a:srgbClr val="22233D"/>
                </a:solidFill>
                <a:latin typeface="Segoe UI"/>
                <a:ea typeface="Segoe UI"/>
                <a:cs typeface="Segoe UI"/>
              </a:defRPr>
            </a:defPPr>
          </a:lstStyle>
          <a:p>
            <a:pPr algn="l">
              <a:defRPr sz="1875" b="1">
                <a:solidFill>
                  <a:srgbClr val="22233D"/>
                </a:solidFill>
                <a:latin typeface="Segoe UI"/>
                <a:ea typeface="Segoe UI"/>
                <a:cs typeface="Segoe UI"/>
              </a:defRPr>
            </a:pPr>
            <a:r>
              <a:rPr sz="1875" b="1">
                <a:solidFill>
                  <a:srgbClr val="22233D"/>
                </a:solidFill>
                <a:latin typeface="Segoe UI"/>
                <a:ea typeface="Segoe UI"/>
                <a:cs typeface="Segoe UI"/>
              </a:rPr>
              <a:t>Payment status clarity</a:t>
            </a:r>
          </a:p>
        </p:txBody>
      </p:sp>
      <p:sp>
        <p:nvSpPr>
          <p:cNvPr id="21" name="Rectangle 20">
            <a:extLst>
              <a:ext uri="{FF2B5EF4-FFF2-40B4-BE49-F238E27FC236}">
                <a16:creationId xmlns:a16="http://schemas.microsoft.com/office/drawing/2014/main" id="{0997F7B6-80C2-449D-AA80-BB260A823F6F}"/>
              </a:ext>
            </a:extLst>
          </p:cNvPr>
          <p:cNvSpPr>
            <a:spLocks noGrp="1"/>
          </p:cNvSpPr>
          <p:nvPr/>
        </p:nvSpPr>
        <p:spPr>
          <a:xfrm>
            <a:off x="1447800" y="5114925"/>
            <a:ext cx="8382000" cy="457200"/>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Students need to see which order is unpaid, awaiting verification or confirmed.</a:t>
            </a:r>
          </a:p>
        </p:txBody>
      </p:sp>
    </p:spTree>
    <p:extLst>
      <p:ext uri="{BB962C8B-B14F-4D97-AF65-F5344CB8AC3E}">
        <p14:creationId xmlns:p14="http://schemas.microsoft.com/office/powerpoint/2010/main" val="252273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71832"/>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FCE683F-7CDF-4860-860D-674F44F6A286}"/>
              </a:ext>
            </a:extLst>
          </p:cNvPr>
          <p:cNvSpPr>
            <a:spLocks noGrp="1"/>
          </p:cNvSpPr>
          <p:nvPr/>
        </p:nvSpPr>
        <p:spPr>
          <a:xfrm>
            <a:off x="704850" y="400050"/>
            <a:ext cx="5715000" cy="209550"/>
          </a:xfrm>
          <a:prstGeom prst="rect">
            <a:avLst/>
          </a:prstGeom>
          <a:noFill/>
          <a:ln w="0">
            <a:noFill/>
            <a:prstDash val="solid"/>
          </a:ln>
        </p:spPr>
        <p:txBody>
          <a:bodyPr lIns="0" tIns="0" rIns="0" bIns="0" anchor="t">
            <a:normAutofit/>
          </a:bodyPr>
          <a:lstStyle>
            <a:defPPr algn="l">
              <a:defRPr sz="1050" b="1">
                <a:solidFill>
                  <a:srgbClr val="9178FF"/>
                </a:solidFill>
                <a:latin typeface="Segoe UI"/>
                <a:ea typeface="Segoe UI"/>
                <a:cs typeface="Segoe UI"/>
              </a:defRPr>
            </a:defPPr>
          </a:lstStyle>
          <a:p>
            <a:pPr algn="l">
              <a:defRPr sz="1050" b="1">
                <a:solidFill>
                  <a:srgbClr val="9178FF"/>
                </a:solidFill>
                <a:latin typeface="Segoe UI"/>
                <a:ea typeface="Segoe UI"/>
                <a:cs typeface="Segoe UI"/>
              </a:defRPr>
            </a:pPr>
            <a:r>
              <a:rPr sz="1050" b="1">
                <a:solidFill>
                  <a:srgbClr val="9178FF"/>
                </a:solidFill>
                <a:latin typeface="Segoe UI"/>
                <a:ea typeface="Segoe UI"/>
                <a:cs typeface="Segoe UI"/>
              </a:rPr>
              <a:t>PROJECT IMPORTANCE</a:t>
            </a:r>
          </a:p>
        </p:txBody>
      </p:sp>
      <p:sp>
        <p:nvSpPr>
          <p:cNvPr id="2" name="Rectangle 1">
            <a:extLst>
              <a:ext uri="{FF2B5EF4-FFF2-40B4-BE49-F238E27FC236}">
                <a16:creationId xmlns:a16="http://schemas.microsoft.com/office/drawing/2014/main" id="{2A9625D8-8AA2-48B5-895B-34308170C930}"/>
              </a:ext>
            </a:extLst>
          </p:cNvPr>
          <p:cNvSpPr>
            <a:spLocks noGrp="1"/>
          </p:cNvSpPr>
          <p:nvPr/>
        </p:nvSpPr>
        <p:spPr>
          <a:xfrm>
            <a:off x="704850" y="742950"/>
            <a:ext cx="10715625" cy="723900"/>
          </a:xfrm>
          <a:prstGeom prst="rect">
            <a:avLst/>
          </a:prstGeom>
          <a:noFill/>
          <a:ln w="0">
            <a:noFill/>
            <a:prstDash val="solid"/>
          </a:ln>
        </p:spPr>
        <p:txBody>
          <a:bodyPr lIns="0" tIns="0" rIns="0" bIns="0" anchor="t">
            <a:normAutofit/>
          </a:bodyPr>
          <a:lstStyle>
            <a:defPPr algn="l">
              <a:defRPr sz="3450" b="1">
                <a:solidFill>
                  <a:srgbClr val="FFFFFF"/>
                </a:solidFill>
                <a:latin typeface="Segoe UI"/>
                <a:ea typeface="Segoe UI"/>
                <a:cs typeface="Segoe UI"/>
              </a:defRPr>
            </a:defPPr>
          </a:lstStyle>
          <a:p>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Why a shared hostel platform matters</a:t>
            </a:r>
          </a:p>
        </p:txBody>
      </p:sp>
      <p:sp>
        <p:nvSpPr>
          <p:cNvPr id="3" name="Rectangle 2">
            <a:extLst>
              <a:ext uri="{FF2B5EF4-FFF2-40B4-BE49-F238E27FC236}">
                <a16:creationId xmlns:a16="http://schemas.microsoft.com/office/drawing/2014/main" id="{D49D42FB-9338-4937-9E04-6C701F7144E7}"/>
              </a:ext>
            </a:extLst>
          </p:cNvPr>
          <p:cNvSpPr>
            <a:spLocks noGrp="1"/>
          </p:cNvSpPr>
          <p:nvPr/>
        </p:nvSpPr>
        <p:spPr>
          <a:xfrm>
            <a:off x="704850" y="6400800"/>
            <a:ext cx="10782300" cy="9525"/>
          </a:xfrm>
          <a:prstGeom prst="rect">
            <a:avLst/>
          </a:prstGeom>
          <a:solidFill>
            <a:srgbClr val="39385C"/>
          </a:solidFill>
          <a:ln w="0">
            <a:noFill/>
            <a:prstDash val="solid"/>
          </a:ln>
        </p:spPr>
      </p:sp>
      <p:sp>
        <p:nvSpPr>
          <p:cNvPr id="4" name="Rectangle 3">
            <a:extLst>
              <a:ext uri="{FF2B5EF4-FFF2-40B4-BE49-F238E27FC236}">
                <a16:creationId xmlns:a16="http://schemas.microsoft.com/office/drawing/2014/main" id="{CB9B7296-6878-40E1-974A-7767FAA84550}"/>
              </a:ext>
            </a:extLst>
          </p:cNvPr>
          <p:cNvSpPr>
            <a:spLocks noGrp="1"/>
          </p:cNvSpPr>
          <p:nvPr/>
        </p:nvSpPr>
        <p:spPr>
          <a:xfrm>
            <a:off x="704850" y="6505575"/>
            <a:ext cx="6667500" cy="190500"/>
          </a:xfrm>
          <a:prstGeom prst="rect">
            <a:avLst/>
          </a:prstGeom>
          <a:noFill/>
          <a:ln w="0">
            <a:noFill/>
            <a:prstDash val="solid"/>
          </a:ln>
        </p:spPr>
        <p:txBody>
          <a:bodyPr lIns="0" tIns="0" rIns="0" bIns="0" anchor="t">
            <a:normAutofit/>
          </a:bodyPr>
          <a:lstStyle>
            <a:defPPr algn="l">
              <a:defRPr sz="975" b="1">
                <a:solidFill>
                  <a:srgbClr val="AAA9C4"/>
                </a:solidFill>
                <a:latin typeface="Segoe UI"/>
                <a:ea typeface="Segoe UI"/>
                <a:cs typeface="Segoe UI"/>
              </a:defRPr>
            </a:defPPr>
          </a:lstStyle>
          <a:p>
            <a:pPr algn="l">
              <a:defRPr sz="975" b="1">
                <a:solidFill>
                  <a:srgbClr val="AAA9C4"/>
                </a:solidFill>
                <a:latin typeface="Segoe UI"/>
                <a:ea typeface="Segoe UI"/>
                <a:cs typeface="Segoe UI"/>
              </a:defRPr>
            </a:pPr>
            <a:r>
              <a:rPr sz="975" b="1">
                <a:solidFill>
                  <a:srgbClr val="AAA9C4"/>
                </a:solidFill>
                <a:latin typeface="Segoe UI"/>
                <a:ea typeface="Segoe UI"/>
                <a:cs typeface="Segoe UI"/>
              </a:rPr>
              <a:t>HOSTELHUB  /  PROJECT PRESENTATION</a:t>
            </a:r>
          </a:p>
        </p:txBody>
      </p:sp>
      <p:sp>
        <p:nvSpPr>
          <p:cNvPr id="5" name="Rectangle 4">
            <a:extLst>
              <a:ext uri="{FF2B5EF4-FFF2-40B4-BE49-F238E27FC236}">
                <a16:creationId xmlns:a16="http://schemas.microsoft.com/office/drawing/2014/main" id="{5E9964D1-1369-4AC4-9BF5-058B2204CDD0}"/>
              </a:ext>
            </a:extLst>
          </p:cNvPr>
          <p:cNvSpPr>
            <a:spLocks noGrp="1"/>
          </p:cNvSpPr>
          <p:nvPr/>
        </p:nvSpPr>
        <p:spPr>
          <a:xfrm>
            <a:off x="11049000" y="6486525"/>
            <a:ext cx="438150" cy="209550"/>
          </a:xfrm>
          <a:prstGeom prst="rect">
            <a:avLst/>
          </a:prstGeom>
          <a:noFill/>
          <a:ln w="0">
            <a:noFill/>
            <a:prstDash val="solid"/>
          </a:ln>
        </p:spPr>
        <p:txBody>
          <a:bodyPr lIns="0" tIns="0" rIns="0" bIns="0" anchor="t">
            <a:normAutofit/>
          </a:bodyPr>
          <a:lstStyle>
            <a:defPPr algn="r">
              <a:defRPr sz="1050" b="1">
                <a:solidFill>
                  <a:srgbClr val="9178FF"/>
                </a:solidFill>
                <a:latin typeface="Segoe UI"/>
                <a:ea typeface="Segoe UI"/>
                <a:cs typeface="Segoe UI"/>
              </a:defRPr>
            </a:defPPr>
          </a:lstStyle>
          <a:p>
            <a:pPr algn="r">
              <a:defRPr sz="1050" b="1">
                <a:solidFill>
                  <a:srgbClr val="9178FF"/>
                </a:solidFill>
                <a:latin typeface="Segoe UI"/>
                <a:ea typeface="Segoe UI"/>
                <a:cs typeface="Segoe UI"/>
              </a:defRPr>
            </a:pPr>
            <a:r>
              <a:rPr sz="1050" b="1">
                <a:solidFill>
                  <a:srgbClr val="9178FF"/>
                </a:solidFill>
                <a:latin typeface="Segoe UI"/>
                <a:ea typeface="Segoe UI"/>
                <a:cs typeface="Segoe UI"/>
              </a:rPr>
              <a:t>03</a:t>
            </a:r>
          </a:p>
        </p:txBody>
      </p:sp>
      <p:sp>
        <p:nvSpPr>
          <p:cNvPr id="6" name="Rectangle 5">
            <a:extLst>
              <a:ext uri="{FF2B5EF4-FFF2-40B4-BE49-F238E27FC236}">
                <a16:creationId xmlns:a16="http://schemas.microsoft.com/office/drawing/2014/main" id="{5CE93A34-83CA-4EBC-BE5E-867E416F6ADE}"/>
              </a:ext>
            </a:extLst>
          </p:cNvPr>
          <p:cNvSpPr>
            <a:spLocks noGrp="1"/>
          </p:cNvSpPr>
          <p:nvPr/>
        </p:nvSpPr>
        <p:spPr>
          <a:xfrm>
            <a:off x="781050" y="1809750"/>
            <a:ext cx="4667250" cy="552450"/>
          </a:xfrm>
          <a:prstGeom prst="rect">
            <a:avLst/>
          </a:prstGeom>
          <a:noFill/>
          <a:ln w="0">
            <a:noFill/>
            <a:prstDash val="solid"/>
          </a:ln>
        </p:spPr>
        <p:txBody>
          <a:bodyPr lIns="0" tIns="0" rIns="0" bIns="0" anchor="t">
            <a:normAutofit/>
          </a:bodyPr>
          <a:lstStyle>
            <a:defPPr algn="l">
              <a:defRPr sz="2550" b="1">
                <a:solidFill>
                  <a:srgbClr val="FFFFFF"/>
                </a:solidFill>
                <a:latin typeface="Segoe UI"/>
                <a:ea typeface="Segoe UI"/>
                <a:cs typeface="Segoe UI"/>
              </a:defRPr>
            </a:defPPr>
          </a:lstStyle>
          <a:p>
            <a:pPr algn="l">
              <a:defRPr sz="2550" b="1">
                <a:solidFill>
                  <a:srgbClr val="FFFFFF"/>
                </a:solidFill>
                <a:latin typeface="Segoe UI"/>
                <a:ea typeface="Segoe UI"/>
                <a:cs typeface="Segoe UI"/>
              </a:defRPr>
            </a:pPr>
            <a:r>
              <a:rPr sz="2550" b="1">
                <a:solidFill>
                  <a:srgbClr val="FFFFFF"/>
                </a:solidFill>
                <a:latin typeface="Segoe UI"/>
                <a:ea typeface="Segoe UI"/>
                <a:cs typeface="Segoe UI"/>
              </a:rPr>
              <a:t>Clarity at the point of action</a:t>
            </a:r>
          </a:p>
        </p:txBody>
      </p:sp>
      <p:sp>
        <p:nvSpPr>
          <p:cNvPr id="7" name="Rectangle 6">
            <a:extLst>
              <a:ext uri="{FF2B5EF4-FFF2-40B4-BE49-F238E27FC236}">
                <a16:creationId xmlns:a16="http://schemas.microsoft.com/office/drawing/2014/main" id="{D8213E90-F9C4-4FF7-9152-8AB042102679}"/>
              </a:ext>
            </a:extLst>
          </p:cNvPr>
          <p:cNvSpPr>
            <a:spLocks noGrp="1"/>
          </p:cNvSpPr>
          <p:nvPr/>
        </p:nvSpPr>
        <p:spPr>
          <a:xfrm>
            <a:off x="781050" y="2571750"/>
            <a:ext cx="4667250" cy="1485900"/>
          </a:xfrm>
          <a:prstGeom prst="rect">
            <a:avLst/>
          </a:prstGeom>
          <a:noFill/>
          <a:ln w="0">
            <a:noFill/>
            <a:prstDash val="solid"/>
          </a:ln>
        </p:spPr>
        <p:txBody>
          <a:bodyPr lIns="0" tIns="0" rIns="0" bIns="0" anchor="t">
            <a:normAutofit/>
          </a:bodyPr>
          <a:lstStyle>
            <a:defPPr algn="l">
              <a:defRPr sz="1800" b="0">
                <a:solidFill>
                  <a:srgbClr val="E6E5F4"/>
                </a:solidFill>
                <a:latin typeface="Segoe UI"/>
                <a:ea typeface="Segoe UI"/>
                <a:cs typeface="Segoe UI"/>
              </a:defRPr>
            </a:defPPr>
          </a:lstStyle>
          <a:p>
            <a:pPr algn="l">
              <a:defRPr sz="1800" b="0">
                <a:solidFill>
                  <a:srgbClr val="E6E5F4"/>
                </a:solidFill>
                <a:latin typeface="Segoe UI"/>
                <a:ea typeface="Segoe UI"/>
                <a:cs typeface="Segoe UI"/>
              </a:defRPr>
            </a:pPr>
            <a:r>
              <a:rPr sz="1800" b="0">
                <a:solidFill>
                  <a:srgbClr val="E6E5F4"/>
                </a:solidFill>
                <a:latin typeface="Segoe UI"/>
                <a:ea typeface="Segoe UI"/>
                <a:cs typeface="Segoe UI"/>
              </a:rPr>
              <a:t>Students can find the next step for a purchase, a service request or a hostel update in one signed-in space.</a:t>
            </a:r>
          </a:p>
        </p:txBody>
      </p:sp>
      <p:sp>
        <p:nvSpPr>
          <p:cNvPr id="8" name="Rectangle 7">
            <a:extLst>
              <a:ext uri="{FF2B5EF4-FFF2-40B4-BE49-F238E27FC236}">
                <a16:creationId xmlns:a16="http://schemas.microsoft.com/office/drawing/2014/main" id="{9F2B8C7E-82EB-4BC8-8EAE-FDD440D5A9BF}"/>
              </a:ext>
            </a:extLst>
          </p:cNvPr>
          <p:cNvSpPr>
            <a:spLocks noGrp="1"/>
          </p:cNvSpPr>
          <p:nvPr/>
        </p:nvSpPr>
        <p:spPr>
          <a:xfrm>
            <a:off x="6057900" y="1695450"/>
            <a:ext cx="28575" cy="3924300"/>
          </a:xfrm>
          <a:prstGeom prst="rect">
            <a:avLst/>
          </a:prstGeom>
          <a:solidFill>
            <a:srgbClr val="454466"/>
          </a:solidFill>
          <a:ln w="0">
            <a:noFill/>
            <a:prstDash val="solid"/>
          </a:ln>
        </p:spPr>
      </p:sp>
      <p:sp>
        <p:nvSpPr>
          <p:cNvPr id="9" name="Rectangle 8">
            <a:extLst>
              <a:ext uri="{FF2B5EF4-FFF2-40B4-BE49-F238E27FC236}">
                <a16:creationId xmlns:a16="http://schemas.microsoft.com/office/drawing/2014/main" id="{CA6E73EA-2760-4FF7-B68F-F2742AA806FA}"/>
              </a:ext>
            </a:extLst>
          </p:cNvPr>
          <p:cNvSpPr>
            <a:spLocks noGrp="1"/>
          </p:cNvSpPr>
          <p:nvPr/>
        </p:nvSpPr>
        <p:spPr>
          <a:xfrm>
            <a:off x="6543675" y="1838325"/>
            <a:ext cx="495300" cy="342900"/>
          </a:xfrm>
          <a:prstGeom prst="rect">
            <a:avLst/>
          </a:prstGeom>
          <a:noFill/>
          <a:ln w="0">
            <a:noFill/>
            <a:prstDash val="solid"/>
          </a:ln>
        </p:spPr>
        <p:txBody>
          <a:bodyPr lIns="0" tIns="0" rIns="0" bIns="0" anchor="t">
            <a:normAutofit/>
          </a:bodyPr>
          <a:lstStyle>
            <a:defPPr algn="l">
              <a:defRPr sz="1650" b="1">
                <a:solidFill>
                  <a:srgbClr val="27B99A"/>
                </a:solidFill>
                <a:latin typeface="Segoe UI"/>
                <a:ea typeface="Segoe UI"/>
                <a:cs typeface="Segoe UI"/>
              </a:defRPr>
            </a:defPPr>
          </a:lstStyle>
          <a:p>
            <a:pPr algn="l">
              <a:defRPr sz="1650" b="1">
                <a:solidFill>
                  <a:srgbClr val="27B99A"/>
                </a:solidFill>
                <a:latin typeface="Segoe UI"/>
                <a:ea typeface="Segoe UI"/>
                <a:cs typeface="Segoe UI"/>
              </a:defRPr>
            </a:pPr>
            <a:r>
              <a:rPr sz="1650" b="1">
                <a:solidFill>
                  <a:srgbClr val="27B99A"/>
                </a:solidFill>
                <a:latin typeface="Segoe UI"/>
                <a:ea typeface="Segoe UI"/>
                <a:cs typeface="Segoe UI"/>
              </a:rPr>
              <a:t>01</a:t>
            </a:r>
          </a:p>
        </p:txBody>
      </p:sp>
      <p:sp>
        <p:nvSpPr>
          <p:cNvPr id="10" name="Rectangle 9">
            <a:extLst>
              <a:ext uri="{FF2B5EF4-FFF2-40B4-BE49-F238E27FC236}">
                <a16:creationId xmlns:a16="http://schemas.microsoft.com/office/drawing/2014/main" id="{1A74D4FB-797E-4454-A3C7-AB50131C190C}"/>
              </a:ext>
            </a:extLst>
          </p:cNvPr>
          <p:cNvSpPr>
            <a:spLocks noGrp="1"/>
          </p:cNvSpPr>
          <p:nvPr/>
        </p:nvSpPr>
        <p:spPr>
          <a:xfrm>
            <a:off x="7162800" y="1809750"/>
            <a:ext cx="3762375" cy="352425"/>
          </a:xfrm>
          <a:prstGeom prst="rect">
            <a:avLst/>
          </a:prstGeom>
          <a:noFill/>
          <a:ln w="0">
            <a:noFill/>
            <a:prstDash val="solid"/>
          </a:ln>
        </p:spPr>
        <p:txBody>
          <a:bodyPr lIns="0" tIns="0" rIns="0" bIns="0" anchor="t">
            <a:normAutofit/>
          </a:bodyPr>
          <a:lstStyle>
            <a:defPPr algn="l">
              <a:defRPr sz="1800" b="1">
                <a:solidFill>
                  <a:srgbClr val="FFFFFF"/>
                </a:solidFill>
                <a:latin typeface="Segoe UI"/>
                <a:ea typeface="Segoe UI"/>
                <a:cs typeface="Segoe UI"/>
              </a:defRPr>
            </a:defPPr>
          </a:lstStyle>
          <a:p>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Students</a:t>
            </a:r>
          </a:p>
        </p:txBody>
      </p:sp>
      <p:sp>
        <p:nvSpPr>
          <p:cNvPr id="11" name="Rectangle 10">
            <a:extLst>
              <a:ext uri="{FF2B5EF4-FFF2-40B4-BE49-F238E27FC236}">
                <a16:creationId xmlns:a16="http://schemas.microsoft.com/office/drawing/2014/main" id="{480587E6-D580-4A10-BD90-46EF5481CDF0}"/>
              </a:ext>
            </a:extLst>
          </p:cNvPr>
          <p:cNvSpPr>
            <a:spLocks noGrp="1"/>
          </p:cNvSpPr>
          <p:nvPr/>
        </p:nvSpPr>
        <p:spPr>
          <a:xfrm>
            <a:off x="7162800" y="2219325"/>
            <a:ext cx="4095750" cy="514350"/>
          </a:xfrm>
          <a:prstGeom prst="rect">
            <a:avLst/>
          </a:prstGeom>
          <a:noFill/>
          <a:ln w="0">
            <a:noFill/>
            <a:prstDash val="solid"/>
          </a:ln>
        </p:spPr>
        <p:txBody>
          <a:bodyPr lIns="0" tIns="0" rIns="0" bIns="0" anchor="t">
            <a:normAutofit/>
          </a:bodyPr>
          <a:lstStyle>
            <a:defPPr algn="l">
              <a:defRPr sz="1350" b="0">
                <a:solidFill>
                  <a:srgbClr val="E6E5F4"/>
                </a:solidFill>
                <a:latin typeface="Segoe UI"/>
                <a:ea typeface="Segoe UI"/>
                <a:cs typeface="Segoe UI"/>
              </a:defRPr>
            </a:defPPr>
          </a:lstStyle>
          <a:p>
            <a:pPr algn="l">
              <a:defRPr sz="1350" b="0">
                <a:solidFill>
                  <a:srgbClr val="E6E5F4"/>
                </a:solidFill>
                <a:latin typeface="Segoe UI"/>
                <a:ea typeface="Segoe UI"/>
                <a:cs typeface="Segoe UI"/>
              </a:defRPr>
            </a:pPr>
            <a:r>
              <a:rPr sz="1350" b="0">
                <a:solidFill>
                  <a:srgbClr val="E6E5F4"/>
                </a:solidFill>
                <a:latin typeface="Segoe UI"/>
                <a:ea typeface="Segoe UI"/>
                <a:cs typeface="Segoe UI"/>
              </a:rPr>
              <a:t>One place for everyday campus needs.</a:t>
            </a:r>
          </a:p>
        </p:txBody>
      </p:sp>
      <p:sp>
        <p:nvSpPr>
          <p:cNvPr id="12" name="Rectangle 11">
            <a:extLst>
              <a:ext uri="{FF2B5EF4-FFF2-40B4-BE49-F238E27FC236}">
                <a16:creationId xmlns:a16="http://schemas.microsoft.com/office/drawing/2014/main" id="{45766F67-9DA7-47D3-9628-AF4756BF3302}"/>
              </a:ext>
            </a:extLst>
          </p:cNvPr>
          <p:cNvSpPr>
            <a:spLocks noGrp="1"/>
          </p:cNvSpPr>
          <p:nvPr/>
        </p:nvSpPr>
        <p:spPr>
          <a:xfrm>
            <a:off x="7162800" y="2876550"/>
            <a:ext cx="4114800" cy="9525"/>
          </a:xfrm>
          <a:prstGeom prst="rect">
            <a:avLst/>
          </a:prstGeom>
          <a:solidFill>
            <a:srgbClr val="454466"/>
          </a:solidFill>
          <a:ln w="0">
            <a:noFill/>
            <a:prstDash val="solid"/>
          </a:ln>
        </p:spPr>
      </p:sp>
      <p:sp>
        <p:nvSpPr>
          <p:cNvPr id="13" name="Rectangle 12">
            <a:extLst>
              <a:ext uri="{FF2B5EF4-FFF2-40B4-BE49-F238E27FC236}">
                <a16:creationId xmlns:a16="http://schemas.microsoft.com/office/drawing/2014/main" id="{34D375A7-F9B3-4088-9BFC-A518AA8857BF}"/>
              </a:ext>
            </a:extLst>
          </p:cNvPr>
          <p:cNvSpPr>
            <a:spLocks noGrp="1"/>
          </p:cNvSpPr>
          <p:nvPr/>
        </p:nvSpPr>
        <p:spPr>
          <a:xfrm>
            <a:off x="6543675" y="3095625"/>
            <a:ext cx="495300" cy="342900"/>
          </a:xfrm>
          <a:prstGeom prst="rect">
            <a:avLst/>
          </a:prstGeom>
          <a:noFill/>
          <a:ln w="0">
            <a:noFill/>
            <a:prstDash val="solid"/>
          </a:ln>
        </p:spPr>
        <p:txBody>
          <a:bodyPr lIns="0" tIns="0" rIns="0" bIns="0" anchor="t">
            <a:normAutofit/>
          </a:bodyPr>
          <a:lstStyle>
            <a:defPPr algn="l">
              <a:defRPr sz="1650" b="1">
                <a:solidFill>
                  <a:srgbClr val="27B99A"/>
                </a:solidFill>
                <a:latin typeface="Segoe UI"/>
                <a:ea typeface="Segoe UI"/>
                <a:cs typeface="Segoe UI"/>
              </a:defRPr>
            </a:defPPr>
          </a:lstStyle>
          <a:p>
            <a:pPr algn="l">
              <a:defRPr sz="1650" b="1">
                <a:solidFill>
                  <a:srgbClr val="27B99A"/>
                </a:solidFill>
                <a:latin typeface="Segoe UI"/>
                <a:ea typeface="Segoe UI"/>
                <a:cs typeface="Segoe UI"/>
              </a:defRPr>
            </a:pPr>
            <a:r>
              <a:rPr sz="1650" b="1">
                <a:solidFill>
                  <a:srgbClr val="27B99A"/>
                </a:solidFill>
                <a:latin typeface="Segoe UI"/>
                <a:ea typeface="Segoe UI"/>
                <a:cs typeface="Segoe UI"/>
              </a:rPr>
              <a:t>02</a:t>
            </a:r>
          </a:p>
        </p:txBody>
      </p:sp>
      <p:sp>
        <p:nvSpPr>
          <p:cNvPr id="14" name="Rectangle 13">
            <a:extLst>
              <a:ext uri="{FF2B5EF4-FFF2-40B4-BE49-F238E27FC236}">
                <a16:creationId xmlns:a16="http://schemas.microsoft.com/office/drawing/2014/main" id="{B0431893-FD35-403B-9F37-342A1CF3FA98}"/>
              </a:ext>
            </a:extLst>
          </p:cNvPr>
          <p:cNvSpPr>
            <a:spLocks noGrp="1"/>
          </p:cNvSpPr>
          <p:nvPr/>
        </p:nvSpPr>
        <p:spPr>
          <a:xfrm>
            <a:off x="7162800" y="3067050"/>
            <a:ext cx="3762375" cy="352425"/>
          </a:xfrm>
          <a:prstGeom prst="rect">
            <a:avLst/>
          </a:prstGeom>
          <a:noFill/>
          <a:ln w="0">
            <a:noFill/>
            <a:prstDash val="solid"/>
          </a:ln>
        </p:spPr>
        <p:txBody>
          <a:bodyPr lIns="0" tIns="0" rIns="0" bIns="0" anchor="t">
            <a:normAutofit/>
          </a:bodyPr>
          <a:lstStyle>
            <a:defPPr algn="l">
              <a:defRPr sz="1800" b="1">
                <a:solidFill>
                  <a:srgbClr val="FFFFFF"/>
                </a:solidFill>
                <a:latin typeface="Segoe UI"/>
                <a:ea typeface="Segoe UI"/>
                <a:cs typeface="Segoe UI"/>
              </a:defRPr>
            </a:defPPr>
          </a:lstStyle>
          <a:p>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Wardens</a:t>
            </a:r>
          </a:p>
        </p:txBody>
      </p:sp>
      <p:sp>
        <p:nvSpPr>
          <p:cNvPr id="15" name="Rectangle 14">
            <a:extLst>
              <a:ext uri="{FF2B5EF4-FFF2-40B4-BE49-F238E27FC236}">
                <a16:creationId xmlns:a16="http://schemas.microsoft.com/office/drawing/2014/main" id="{76D033AE-B10C-4B1A-B221-206E11C552C7}"/>
              </a:ext>
            </a:extLst>
          </p:cNvPr>
          <p:cNvSpPr>
            <a:spLocks noGrp="1"/>
          </p:cNvSpPr>
          <p:nvPr/>
        </p:nvSpPr>
        <p:spPr>
          <a:xfrm>
            <a:off x="7162800" y="3476625"/>
            <a:ext cx="4095750" cy="514350"/>
          </a:xfrm>
          <a:prstGeom prst="rect">
            <a:avLst/>
          </a:prstGeom>
          <a:noFill/>
          <a:ln w="0">
            <a:noFill/>
            <a:prstDash val="solid"/>
          </a:ln>
        </p:spPr>
        <p:txBody>
          <a:bodyPr lIns="0" tIns="0" rIns="0" bIns="0" anchor="t">
            <a:normAutofit/>
          </a:bodyPr>
          <a:lstStyle>
            <a:defPPr algn="l">
              <a:defRPr sz="1350" b="0">
                <a:solidFill>
                  <a:srgbClr val="E6E5F4"/>
                </a:solidFill>
                <a:latin typeface="Segoe UI"/>
                <a:ea typeface="Segoe UI"/>
                <a:cs typeface="Segoe UI"/>
              </a:defRPr>
            </a:defPPr>
          </a:lstStyle>
          <a:p>
            <a:pPr algn="l">
              <a:defRPr sz="1350" b="0">
                <a:solidFill>
                  <a:srgbClr val="E6E5F4"/>
                </a:solidFill>
                <a:latin typeface="Segoe UI"/>
                <a:ea typeface="Segoe UI"/>
                <a:cs typeface="Segoe UI"/>
              </a:defRPr>
            </a:pPr>
            <a:r>
              <a:rPr sz="1350" b="0">
                <a:solidFill>
                  <a:srgbClr val="E6E5F4"/>
                </a:solidFill>
                <a:latin typeface="Segoe UI"/>
                <a:ea typeface="Segoe UI"/>
                <a:cs typeface="Segoe UI"/>
              </a:rPr>
              <a:t>A clear queue for rooms, mess updates and hostel requests.</a:t>
            </a:r>
          </a:p>
        </p:txBody>
      </p:sp>
      <p:sp>
        <p:nvSpPr>
          <p:cNvPr id="16" name="Rectangle 15">
            <a:extLst>
              <a:ext uri="{FF2B5EF4-FFF2-40B4-BE49-F238E27FC236}">
                <a16:creationId xmlns:a16="http://schemas.microsoft.com/office/drawing/2014/main" id="{F38678DE-9D1E-4D7A-8E82-D824F31EF543}"/>
              </a:ext>
            </a:extLst>
          </p:cNvPr>
          <p:cNvSpPr>
            <a:spLocks noGrp="1"/>
          </p:cNvSpPr>
          <p:nvPr/>
        </p:nvSpPr>
        <p:spPr>
          <a:xfrm>
            <a:off x="7162800" y="4133850"/>
            <a:ext cx="4114800" cy="9525"/>
          </a:xfrm>
          <a:prstGeom prst="rect">
            <a:avLst/>
          </a:prstGeom>
          <a:solidFill>
            <a:srgbClr val="454466"/>
          </a:solidFill>
          <a:ln w="0">
            <a:noFill/>
            <a:prstDash val="solid"/>
          </a:ln>
        </p:spPr>
      </p:sp>
      <p:sp>
        <p:nvSpPr>
          <p:cNvPr id="17" name="Rectangle 16">
            <a:extLst>
              <a:ext uri="{FF2B5EF4-FFF2-40B4-BE49-F238E27FC236}">
                <a16:creationId xmlns:a16="http://schemas.microsoft.com/office/drawing/2014/main" id="{DE3813D0-5088-4462-B4E4-680D9E2CCC89}"/>
              </a:ext>
            </a:extLst>
          </p:cNvPr>
          <p:cNvSpPr>
            <a:spLocks noGrp="1"/>
          </p:cNvSpPr>
          <p:nvPr/>
        </p:nvSpPr>
        <p:spPr>
          <a:xfrm>
            <a:off x="6543675" y="4352925"/>
            <a:ext cx="495300" cy="342900"/>
          </a:xfrm>
          <a:prstGeom prst="rect">
            <a:avLst/>
          </a:prstGeom>
          <a:noFill/>
          <a:ln w="0">
            <a:noFill/>
            <a:prstDash val="solid"/>
          </a:ln>
        </p:spPr>
        <p:txBody>
          <a:bodyPr lIns="0" tIns="0" rIns="0" bIns="0" anchor="t">
            <a:normAutofit/>
          </a:bodyPr>
          <a:lstStyle>
            <a:defPPr algn="l">
              <a:defRPr sz="1650" b="1">
                <a:solidFill>
                  <a:srgbClr val="27B99A"/>
                </a:solidFill>
                <a:latin typeface="Segoe UI"/>
                <a:ea typeface="Segoe UI"/>
                <a:cs typeface="Segoe UI"/>
              </a:defRPr>
            </a:defPPr>
          </a:lstStyle>
          <a:p>
            <a:pPr algn="l">
              <a:defRPr sz="1650" b="1">
                <a:solidFill>
                  <a:srgbClr val="27B99A"/>
                </a:solidFill>
                <a:latin typeface="Segoe UI"/>
                <a:ea typeface="Segoe UI"/>
                <a:cs typeface="Segoe UI"/>
              </a:defRPr>
            </a:pPr>
            <a:r>
              <a:rPr sz="1650" b="1">
                <a:solidFill>
                  <a:srgbClr val="27B99A"/>
                </a:solidFill>
                <a:latin typeface="Segoe UI"/>
                <a:ea typeface="Segoe UI"/>
                <a:cs typeface="Segoe UI"/>
              </a:rPr>
              <a:t>03</a:t>
            </a:r>
          </a:p>
        </p:txBody>
      </p:sp>
      <p:sp>
        <p:nvSpPr>
          <p:cNvPr id="18" name="Rectangle 17">
            <a:extLst>
              <a:ext uri="{FF2B5EF4-FFF2-40B4-BE49-F238E27FC236}">
                <a16:creationId xmlns:a16="http://schemas.microsoft.com/office/drawing/2014/main" id="{77CC7D51-FE3B-413F-BDF9-83869E75DF19}"/>
              </a:ext>
            </a:extLst>
          </p:cNvPr>
          <p:cNvSpPr>
            <a:spLocks noGrp="1"/>
          </p:cNvSpPr>
          <p:nvPr/>
        </p:nvSpPr>
        <p:spPr>
          <a:xfrm>
            <a:off x="7162800" y="4324350"/>
            <a:ext cx="3762375" cy="352425"/>
          </a:xfrm>
          <a:prstGeom prst="rect">
            <a:avLst/>
          </a:prstGeom>
          <a:noFill/>
          <a:ln w="0">
            <a:noFill/>
            <a:prstDash val="solid"/>
          </a:ln>
        </p:spPr>
        <p:txBody>
          <a:bodyPr lIns="0" tIns="0" rIns="0" bIns="0" anchor="t">
            <a:normAutofit/>
          </a:bodyPr>
          <a:lstStyle>
            <a:defPPr algn="l">
              <a:defRPr sz="1800" b="1">
                <a:solidFill>
                  <a:srgbClr val="FFFFFF"/>
                </a:solidFill>
                <a:latin typeface="Segoe UI"/>
                <a:ea typeface="Segoe UI"/>
                <a:cs typeface="Segoe UI"/>
              </a:defRPr>
            </a:defPPr>
          </a:lstStyle>
          <a:p>
            <a:pPr algn="l">
              <a:defRPr sz="1800" b="1">
                <a:solidFill>
                  <a:srgbClr val="FFFFFF"/>
                </a:solidFill>
                <a:latin typeface="Segoe UI"/>
                <a:ea typeface="Segoe UI"/>
                <a:cs typeface="Segoe UI"/>
              </a:defRPr>
            </a:pPr>
            <a:r>
              <a:rPr sz="1800" b="1">
                <a:solidFill>
                  <a:srgbClr val="FFFFFF"/>
                </a:solidFill>
                <a:latin typeface="Segoe UI"/>
                <a:ea typeface="Segoe UI"/>
                <a:cs typeface="Segoe UI"/>
              </a:rPr>
              <a:t>Administrators</a:t>
            </a:r>
          </a:p>
        </p:txBody>
      </p:sp>
      <p:sp>
        <p:nvSpPr>
          <p:cNvPr id="19" name="Rectangle 18">
            <a:extLst>
              <a:ext uri="{FF2B5EF4-FFF2-40B4-BE49-F238E27FC236}">
                <a16:creationId xmlns:a16="http://schemas.microsoft.com/office/drawing/2014/main" id="{291F0820-9647-4AA5-AE9D-063426F6D4EF}"/>
              </a:ext>
            </a:extLst>
          </p:cNvPr>
          <p:cNvSpPr>
            <a:spLocks noGrp="1"/>
          </p:cNvSpPr>
          <p:nvPr/>
        </p:nvSpPr>
        <p:spPr>
          <a:xfrm>
            <a:off x="7162800" y="4733925"/>
            <a:ext cx="4095750" cy="514350"/>
          </a:xfrm>
          <a:prstGeom prst="rect">
            <a:avLst/>
          </a:prstGeom>
          <a:noFill/>
          <a:ln w="0">
            <a:noFill/>
            <a:prstDash val="solid"/>
          </a:ln>
        </p:spPr>
        <p:txBody>
          <a:bodyPr lIns="0" tIns="0" rIns="0" bIns="0" anchor="t">
            <a:normAutofit/>
          </a:bodyPr>
          <a:lstStyle>
            <a:defPPr algn="l">
              <a:defRPr sz="1350" b="0">
                <a:solidFill>
                  <a:srgbClr val="E6E5F4"/>
                </a:solidFill>
                <a:latin typeface="Segoe UI"/>
                <a:ea typeface="Segoe UI"/>
                <a:cs typeface="Segoe UI"/>
              </a:defRPr>
            </a:defPPr>
          </a:lstStyle>
          <a:p>
            <a:pPr algn="l">
              <a:defRPr sz="1350" b="0">
                <a:solidFill>
                  <a:srgbClr val="E6E5F4"/>
                </a:solidFill>
                <a:latin typeface="Segoe UI"/>
                <a:ea typeface="Segoe UI"/>
                <a:cs typeface="Segoe UI"/>
              </a:defRPr>
            </a:pPr>
            <a:r>
              <a:rPr sz="1350" b="0">
                <a:solidFill>
                  <a:srgbClr val="E6E5F4"/>
                </a:solidFill>
                <a:latin typeface="Segoe UI"/>
                <a:ea typeface="Segoe UI"/>
                <a:cs typeface="Segoe UI"/>
              </a:rPr>
              <a:t>Controls for listings, accounts, orders and payment review.</a:t>
            </a:r>
          </a:p>
        </p:txBody>
      </p:sp>
    </p:spTree>
    <p:extLst>
      <p:ext uri="{BB962C8B-B14F-4D97-AF65-F5344CB8AC3E}">
        <p14:creationId xmlns:p14="http://schemas.microsoft.com/office/powerpoint/2010/main" val="1501398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A570C6B2-9637-4463-BC41-14BCD7D3C415}"/>
              </a:ext>
            </a:extLst>
          </p:cNvPr>
          <p:cNvSpPr>
            <a:spLocks noGrp="1"/>
          </p:cNvSpPr>
          <p:nvPr/>
        </p:nvSpPr>
        <p:spPr>
          <a:xfrm>
            <a:off x="704850" y="400050"/>
            <a:ext cx="5715000" cy="209550"/>
          </a:xfrm>
          <a:prstGeom prst="rect">
            <a:avLst/>
          </a:prstGeom>
          <a:noFill/>
          <a:ln w="0">
            <a:noFill/>
            <a:prstDash val="solid"/>
          </a:ln>
        </p:spPr>
        <p:txBody>
          <a:bodyPr lIns="0" tIns="0" rIns="0" bIns="0" anchor="t">
            <a:normAutofit/>
          </a:bodyPr>
          <a:lstStyle>
            <a:defPPr algn="l">
              <a:defRPr sz="1050" b="1">
                <a:solidFill>
                  <a:srgbClr val="7156E8"/>
                </a:solidFill>
                <a:latin typeface="Segoe UI"/>
                <a:ea typeface="Segoe UI"/>
                <a:cs typeface="Segoe UI"/>
              </a:defRPr>
            </a:defPPr>
          </a:lstStyle>
          <a:p>
            <a:pPr algn="l">
              <a:defRPr sz="1050" b="1">
                <a:solidFill>
                  <a:srgbClr val="7156E8"/>
                </a:solidFill>
                <a:latin typeface="Segoe UI"/>
                <a:ea typeface="Segoe UI"/>
                <a:cs typeface="Segoe UI"/>
              </a:defRPr>
            </a:pPr>
            <a:r>
              <a:rPr sz="1050" b="1">
                <a:solidFill>
                  <a:srgbClr val="7156E8"/>
                </a:solidFill>
                <a:latin typeface="Segoe UI"/>
                <a:ea typeface="Segoe UI"/>
                <a:cs typeface="Segoe UI"/>
              </a:rPr>
              <a:t>PLATFORM OVERVIEW</a:t>
            </a:r>
          </a:p>
        </p:txBody>
      </p:sp>
      <p:sp>
        <p:nvSpPr>
          <p:cNvPr id="2" name="Rectangle 1">
            <a:extLst>
              <a:ext uri="{FF2B5EF4-FFF2-40B4-BE49-F238E27FC236}">
                <a16:creationId xmlns:a16="http://schemas.microsoft.com/office/drawing/2014/main" id="{61A95B54-51FE-41A3-9295-27E035150BA9}"/>
              </a:ext>
            </a:extLst>
          </p:cNvPr>
          <p:cNvSpPr>
            <a:spLocks noGrp="1"/>
          </p:cNvSpPr>
          <p:nvPr/>
        </p:nvSpPr>
        <p:spPr>
          <a:xfrm>
            <a:off x="704850" y="742950"/>
            <a:ext cx="10715625" cy="723900"/>
          </a:xfrm>
          <a:prstGeom prst="rect">
            <a:avLst/>
          </a:prstGeom>
          <a:noFill/>
          <a:ln w="0">
            <a:noFill/>
            <a:prstDash val="solid"/>
          </a:ln>
        </p:spPr>
        <p:txBody>
          <a:bodyPr lIns="0" tIns="0" rIns="0" bIns="0" anchor="t">
            <a:normAutofit/>
          </a:bodyPr>
          <a:lstStyle>
            <a:defPPr algn="l">
              <a:defRPr sz="3450" b="1">
                <a:solidFill>
                  <a:srgbClr val="22233D"/>
                </a:solidFill>
                <a:latin typeface="Segoe UI"/>
                <a:ea typeface="Segoe UI"/>
                <a:cs typeface="Segoe UI"/>
              </a:defRPr>
            </a:defPPr>
          </a:lstStyle>
          <a:p>
            <a:pPr algn="l">
              <a:defRPr sz="3450" b="1">
                <a:solidFill>
                  <a:srgbClr val="22233D"/>
                </a:solidFill>
                <a:latin typeface="Segoe UI"/>
                <a:ea typeface="Segoe UI"/>
                <a:cs typeface="Segoe UI"/>
              </a:defRPr>
            </a:pPr>
            <a:r>
              <a:rPr sz="3450" b="1">
                <a:solidFill>
                  <a:srgbClr val="22233D"/>
                </a:solidFill>
                <a:latin typeface="Segoe UI"/>
                <a:ea typeface="Segoe UI"/>
                <a:cs typeface="Segoe UI"/>
              </a:rPr>
              <a:t>HostelHub connects people to the right workflow</a:t>
            </a:r>
          </a:p>
        </p:txBody>
      </p:sp>
      <p:sp>
        <p:nvSpPr>
          <p:cNvPr id="3" name="Rectangle 2">
            <a:extLst>
              <a:ext uri="{FF2B5EF4-FFF2-40B4-BE49-F238E27FC236}">
                <a16:creationId xmlns:a16="http://schemas.microsoft.com/office/drawing/2014/main" id="{1C964765-F573-45C2-9C45-75E7243C8593}"/>
              </a:ext>
            </a:extLst>
          </p:cNvPr>
          <p:cNvSpPr>
            <a:spLocks noGrp="1"/>
          </p:cNvSpPr>
          <p:nvPr/>
        </p:nvSpPr>
        <p:spPr>
          <a:xfrm>
            <a:off x="704850" y="6400800"/>
            <a:ext cx="10782300" cy="9525"/>
          </a:xfrm>
          <a:prstGeom prst="rect">
            <a:avLst/>
          </a:prstGeom>
          <a:solidFill>
            <a:srgbClr val="E4E5EF"/>
          </a:solidFill>
          <a:ln w="0">
            <a:noFill/>
            <a:prstDash val="solid"/>
          </a:ln>
        </p:spPr>
      </p:sp>
      <p:sp>
        <p:nvSpPr>
          <p:cNvPr id="4" name="Rectangle 3">
            <a:extLst>
              <a:ext uri="{FF2B5EF4-FFF2-40B4-BE49-F238E27FC236}">
                <a16:creationId xmlns:a16="http://schemas.microsoft.com/office/drawing/2014/main" id="{DED82148-C514-40AE-A5FE-E0E1FABBF678}"/>
              </a:ext>
            </a:extLst>
          </p:cNvPr>
          <p:cNvSpPr>
            <a:spLocks noGrp="1"/>
          </p:cNvSpPr>
          <p:nvPr/>
        </p:nvSpPr>
        <p:spPr>
          <a:xfrm>
            <a:off x="704850" y="6505575"/>
            <a:ext cx="6667500" cy="190500"/>
          </a:xfrm>
          <a:prstGeom prst="rect">
            <a:avLst/>
          </a:prstGeom>
          <a:noFill/>
          <a:ln w="0">
            <a:noFill/>
            <a:prstDash val="solid"/>
          </a:ln>
        </p:spPr>
        <p:txBody>
          <a:bodyPr lIns="0" tIns="0" rIns="0" bIns="0" anchor="t">
            <a:normAutofit/>
          </a:bodyPr>
          <a:lstStyle>
            <a:defPPr algn="l">
              <a:defRPr sz="975" b="1">
                <a:solidFill>
                  <a:srgbClr val="777B90"/>
                </a:solidFill>
                <a:latin typeface="Segoe UI"/>
                <a:ea typeface="Segoe UI"/>
                <a:cs typeface="Segoe UI"/>
              </a:defRPr>
            </a:defPPr>
          </a:lstStyle>
          <a:p>
            <a:pPr algn="l">
              <a:defRPr sz="975" b="1">
                <a:solidFill>
                  <a:srgbClr val="777B90"/>
                </a:solidFill>
                <a:latin typeface="Segoe UI"/>
                <a:ea typeface="Segoe UI"/>
                <a:cs typeface="Segoe UI"/>
              </a:defRPr>
            </a:pPr>
            <a:r>
              <a:rPr sz="975" b="1">
                <a:solidFill>
                  <a:srgbClr val="777B90"/>
                </a:solidFill>
                <a:latin typeface="Segoe UI"/>
                <a:ea typeface="Segoe UI"/>
                <a:cs typeface="Segoe UI"/>
              </a:rPr>
              <a:t>HOSTELHUB  /  PROJECT PRESENTATION</a:t>
            </a:r>
          </a:p>
        </p:txBody>
      </p:sp>
      <p:sp>
        <p:nvSpPr>
          <p:cNvPr id="5" name="Rectangle 4">
            <a:extLst>
              <a:ext uri="{FF2B5EF4-FFF2-40B4-BE49-F238E27FC236}">
                <a16:creationId xmlns:a16="http://schemas.microsoft.com/office/drawing/2014/main" id="{3A9BE95D-746A-4EB7-B8BB-4D8DAC6DA26B}"/>
              </a:ext>
            </a:extLst>
          </p:cNvPr>
          <p:cNvSpPr>
            <a:spLocks noGrp="1"/>
          </p:cNvSpPr>
          <p:nvPr/>
        </p:nvSpPr>
        <p:spPr>
          <a:xfrm>
            <a:off x="11049000" y="6486525"/>
            <a:ext cx="438150" cy="209550"/>
          </a:xfrm>
          <a:prstGeom prst="rect">
            <a:avLst/>
          </a:prstGeom>
          <a:noFill/>
          <a:ln w="0">
            <a:noFill/>
            <a:prstDash val="solid"/>
          </a:ln>
        </p:spPr>
        <p:txBody>
          <a:bodyPr lIns="0" tIns="0" rIns="0" bIns="0" anchor="t">
            <a:normAutofit/>
          </a:bodyPr>
          <a:lstStyle>
            <a:defPPr algn="r">
              <a:defRPr sz="1050" b="1">
                <a:solidFill>
                  <a:srgbClr val="7156E8"/>
                </a:solidFill>
                <a:latin typeface="Segoe UI"/>
                <a:ea typeface="Segoe UI"/>
                <a:cs typeface="Segoe UI"/>
              </a:defRPr>
            </a:defPPr>
          </a:lstStyle>
          <a:p>
            <a:pPr algn="r">
              <a:defRPr sz="1050" b="1">
                <a:solidFill>
                  <a:srgbClr val="7156E8"/>
                </a:solidFill>
                <a:latin typeface="Segoe UI"/>
                <a:ea typeface="Segoe UI"/>
                <a:cs typeface="Segoe UI"/>
              </a:defRPr>
            </a:pPr>
            <a:r>
              <a:rPr sz="1050" b="1">
                <a:solidFill>
                  <a:srgbClr val="7156E8"/>
                </a:solidFill>
                <a:latin typeface="Segoe UI"/>
                <a:ea typeface="Segoe UI"/>
                <a:cs typeface="Segoe UI"/>
              </a:rPr>
              <a:t>04</a:t>
            </a:r>
          </a:p>
        </p:txBody>
      </p:sp>
      <p:sp>
        <p:nvSpPr>
          <p:cNvPr id="6" name="Rectangle 5">
            <a:extLst>
              <a:ext uri="{FF2B5EF4-FFF2-40B4-BE49-F238E27FC236}">
                <a16:creationId xmlns:a16="http://schemas.microsoft.com/office/drawing/2014/main" id="{65A853B8-C92C-473D-BECD-FC1BF1E88009}"/>
              </a:ext>
            </a:extLst>
          </p:cNvPr>
          <p:cNvSpPr>
            <a:spLocks noGrp="1"/>
          </p:cNvSpPr>
          <p:nvPr/>
        </p:nvSpPr>
        <p:spPr>
          <a:xfrm>
            <a:off x="781050" y="1581150"/>
            <a:ext cx="9525000" cy="323850"/>
          </a:xfrm>
          <a:prstGeom prst="rect">
            <a:avLst/>
          </a:prstGeom>
          <a:noFill/>
          <a:ln w="0">
            <a:noFill/>
            <a:prstDash val="solid"/>
          </a:ln>
        </p:spPr>
        <p:txBody>
          <a:bodyPr lIns="0" tIns="0" rIns="0" bIns="0" anchor="t">
            <a:normAutofit/>
          </a:bodyPr>
          <a:lstStyle>
            <a:defPPr algn="l">
              <a:defRPr sz="1650" b="0">
                <a:solidFill>
                  <a:srgbClr val="62667B"/>
                </a:solidFill>
                <a:latin typeface="Segoe UI"/>
                <a:ea typeface="Segoe UI"/>
                <a:cs typeface="Segoe UI"/>
              </a:defRPr>
            </a:defPPr>
          </a:lstStyle>
          <a:p>
            <a:pPr algn="l">
              <a:defRPr sz="1650" b="0">
                <a:solidFill>
                  <a:srgbClr val="62667B"/>
                </a:solidFill>
                <a:latin typeface="Segoe UI"/>
                <a:ea typeface="Segoe UI"/>
                <a:cs typeface="Segoe UI"/>
              </a:defRPr>
            </a:pPr>
            <a:r>
              <a:rPr sz="1650" b="0">
                <a:solidFill>
                  <a:srgbClr val="62667B"/>
                </a:solidFill>
                <a:latin typeface="Segoe UI"/>
                <a:ea typeface="Segoe UI"/>
                <a:cs typeface="Segoe UI"/>
              </a:rPr>
              <a:t>One web app with access tailored to each role</a:t>
            </a:r>
          </a:p>
        </p:txBody>
      </p:sp>
      <p:sp>
        <p:nvSpPr>
          <p:cNvPr id="7" name="Rectangle: Rounded Corners 6">
            <a:extLst>
              <a:ext uri="{FF2B5EF4-FFF2-40B4-BE49-F238E27FC236}">
                <a16:creationId xmlns:a16="http://schemas.microsoft.com/office/drawing/2014/main" id="{F933D53F-369E-4A00-9614-D7245D6A0F8A}"/>
              </a:ext>
            </a:extLst>
          </p:cNvPr>
          <p:cNvSpPr>
            <a:spLocks noGrp="1"/>
          </p:cNvSpPr>
          <p:nvPr/>
        </p:nvSpPr>
        <p:spPr>
          <a:xfrm>
            <a:off x="781050" y="2152650"/>
            <a:ext cx="2781300" cy="628650"/>
          </a:xfrm>
          <a:prstGeom prst="roundRect">
            <a:avLst>
              <a:gd name="adj" fmla="val 18182"/>
            </a:avLst>
          </a:prstGeom>
          <a:solidFill>
            <a:srgbClr val="FFFFFF"/>
          </a:solidFill>
          <a:ln w="9525">
            <a:solidFill>
              <a:srgbClr val="E4E5EF"/>
            </a:solidFill>
            <a:prstDash val="solid"/>
          </a:ln>
        </p:spPr>
      </p:sp>
      <p:sp>
        <p:nvSpPr>
          <p:cNvPr id="8" name="Rectangle 7">
            <a:extLst>
              <a:ext uri="{FF2B5EF4-FFF2-40B4-BE49-F238E27FC236}">
                <a16:creationId xmlns:a16="http://schemas.microsoft.com/office/drawing/2014/main" id="{164C3E52-E796-4183-8EBB-19438FF3DCDE}"/>
              </a:ext>
            </a:extLst>
          </p:cNvPr>
          <p:cNvSpPr>
            <a:spLocks noGrp="1"/>
          </p:cNvSpPr>
          <p:nvPr/>
        </p:nvSpPr>
        <p:spPr>
          <a:xfrm>
            <a:off x="781050" y="2152650"/>
            <a:ext cx="57150" cy="628650"/>
          </a:xfrm>
          <a:prstGeom prst="rect">
            <a:avLst/>
          </a:prstGeom>
          <a:solidFill>
            <a:srgbClr val="7156E8"/>
          </a:solidFill>
          <a:ln w="0">
            <a:noFill/>
            <a:prstDash val="solid"/>
          </a:ln>
        </p:spPr>
      </p:sp>
      <p:sp>
        <p:nvSpPr>
          <p:cNvPr id="9" name="Rectangle 8">
            <a:extLst>
              <a:ext uri="{FF2B5EF4-FFF2-40B4-BE49-F238E27FC236}">
                <a16:creationId xmlns:a16="http://schemas.microsoft.com/office/drawing/2014/main" id="{0F0034E4-C30B-4C2D-8B1A-5AD7C129C5F6}"/>
              </a:ext>
            </a:extLst>
          </p:cNvPr>
          <p:cNvSpPr>
            <a:spLocks noGrp="1"/>
          </p:cNvSpPr>
          <p:nvPr/>
        </p:nvSpPr>
        <p:spPr>
          <a:xfrm>
            <a:off x="1028700" y="2219325"/>
            <a:ext cx="2333625" cy="266700"/>
          </a:xfrm>
          <a:prstGeom prst="rect">
            <a:avLst/>
          </a:prstGeom>
          <a:noFill/>
          <a:ln w="0">
            <a:noFill/>
            <a:prstDash val="solid"/>
          </a:ln>
        </p:spPr>
        <p:txBody>
          <a:bodyPr lIns="0" tIns="0" rIns="0" bIns="0" anchor="t">
            <a:normAutofit/>
          </a:bodyPr>
          <a:lstStyle>
            <a:defPPr algn="l">
              <a:defRPr sz="1575" b="1">
                <a:solidFill>
                  <a:srgbClr val="22233D"/>
                </a:solidFill>
                <a:latin typeface="Segoe UI"/>
                <a:ea typeface="Segoe UI"/>
                <a:cs typeface="Segoe UI"/>
              </a:defRPr>
            </a:defPPr>
          </a:lstStyle>
          <a:p>
            <a:pPr algn="l">
              <a:defRPr sz="1575" b="1">
                <a:solidFill>
                  <a:srgbClr val="22233D"/>
                </a:solidFill>
                <a:latin typeface="Segoe UI"/>
                <a:ea typeface="Segoe UI"/>
                <a:cs typeface="Segoe UI"/>
              </a:defRPr>
            </a:pPr>
            <a:r>
              <a:rPr sz="1575" b="1">
                <a:solidFill>
                  <a:srgbClr val="22233D"/>
                </a:solidFill>
                <a:latin typeface="Segoe UI"/>
                <a:ea typeface="Segoe UI"/>
                <a:cs typeface="Segoe UI"/>
              </a:rPr>
              <a:t>Student</a:t>
            </a:r>
          </a:p>
        </p:txBody>
      </p:sp>
      <p:sp>
        <p:nvSpPr>
          <p:cNvPr id="10" name="Rectangle 9">
            <a:extLst>
              <a:ext uri="{FF2B5EF4-FFF2-40B4-BE49-F238E27FC236}">
                <a16:creationId xmlns:a16="http://schemas.microsoft.com/office/drawing/2014/main" id="{EE31FD50-1A87-4E5E-AB05-4F5E712D2D0A}"/>
              </a:ext>
            </a:extLst>
          </p:cNvPr>
          <p:cNvSpPr>
            <a:spLocks noGrp="1"/>
          </p:cNvSpPr>
          <p:nvPr/>
        </p:nvSpPr>
        <p:spPr>
          <a:xfrm>
            <a:off x="1028700" y="2495550"/>
            <a:ext cx="2333625" cy="219075"/>
          </a:xfrm>
          <a:prstGeom prst="rect">
            <a:avLst/>
          </a:prstGeom>
          <a:noFill/>
          <a:ln w="0">
            <a:noFill/>
            <a:prstDash val="solid"/>
          </a:ln>
        </p:spPr>
        <p:txBody>
          <a:bodyPr lIns="0" tIns="0" rIns="0" bIns="0" anchor="t">
            <a:normAutofit/>
          </a:bodyPr>
          <a:lstStyle>
            <a:defPPr algn="l">
              <a:defRPr sz="1125" b="0">
                <a:solidFill>
                  <a:srgbClr val="62667B"/>
                </a:solidFill>
                <a:latin typeface="Segoe UI"/>
                <a:ea typeface="Segoe UI"/>
                <a:cs typeface="Segoe UI"/>
              </a:defRPr>
            </a:defPPr>
          </a:lstStyle>
          <a:p>
            <a:pPr algn="l">
              <a:defRPr sz="1125" b="0">
                <a:solidFill>
                  <a:srgbClr val="62667B"/>
                </a:solidFill>
                <a:latin typeface="Segoe UI"/>
                <a:ea typeface="Segoe UI"/>
                <a:cs typeface="Segoe UI"/>
              </a:defRPr>
            </a:pPr>
            <a:r>
              <a:rPr sz="1125" b="0">
                <a:solidFill>
                  <a:srgbClr val="62667B"/>
                </a:solidFill>
                <a:latin typeface="Segoe UI"/>
                <a:ea typeface="Segoe UI"/>
                <a:cs typeface="Segoe UI"/>
              </a:rPr>
              <a:t>Browse and request</a:t>
            </a:r>
          </a:p>
        </p:txBody>
      </p:sp>
      <p:sp>
        <p:nvSpPr>
          <p:cNvPr id="11" name="Rectangle: Rounded Corners 10">
            <a:extLst>
              <a:ext uri="{FF2B5EF4-FFF2-40B4-BE49-F238E27FC236}">
                <a16:creationId xmlns:a16="http://schemas.microsoft.com/office/drawing/2014/main" id="{21E49629-01AC-436E-94B2-26E41675C915}"/>
              </a:ext>
            </a:extLst>
          </p:cNvPr>
          <p:cNvSpPr>
            <a:spLocks noGrp="1"/>
          </p:cNvSpPr>
          <p:nvPr/>
        </p:nvSpPr>
        <p:spPr>
          <a:xfrm>
            <a:off x="781050" y="3057525"/>
            <a:ext cx="2781300" cy="628650"/>
          </a:xfrm>
          <a:prstGeom prst="roundRect">
            <a:avLst>
              <a:gd name="adj" fmla="val 18182"/>
            </a:avLst>
          </a:prstGeom>
          <a:solidFill>
            <a:srgbClr val="FFFFFF"/>
          </a:solidFill>
          <a:ln w="9525">
            <a:solidFill>
              <a:srgbClr val="E4E5EF"/>
            </a:solidFill>
            <a:prstDash val="solid"/>
          </a:ln>
        </p:spPr>
      </p:sp>
      <p:sp>
        <p:nvSpPr>
          <p:cNvPr id="12" name="Rectangle 11">
            <a:extLst>
              <a:ext uri="{FF2B5EF4-FFF2-40B4-BE49-F238E27FC236}">
                <a16:creationId xmlns:a16="http://schemas.microsoft.com/office/drawing/2014/main" id="{E5DE2DAF-AC03-49AB-9311-C5B1863B6FA5}"/>
              </a:ext>
            </a:extLst>
          </p:cNvPr>
          <p:cNvSpPr>
            <a:spLocks noGrp="1"/>
          </p:cNvSpPr>
          <p:nvPr/>
        </p:nvSpPr>
        <p:spPr>
          <a:xfrm>
            <a:off x="781050" y="3057525"/>
            <a:ext cx="57150" cy="628650"/>
          </a:xfrm>
          <a:prstGeom prst="rect">
            <a:avLst/>
          </a:prstGeom>
          <a:solidFill>
            <a:srgbClr val="27B99A"/>
          </a:solidFill>
          <a:ln w="0">
            <a:noFill/>
            <a:prstDash val="solid"/>
          </a:ln>
        </p:spPr>
      </p:sp>
      <p:sp>
        <p:nvSpPr>
          <p:cNvPr id="13" name="Rectangle 12">
            <a:extLst>
              <a:ext uri="{FF2B5EF4-FFF2-40B4-BE49-F238E27FC236}">
                <a16:creationId xmlns:a16="http://schemas.microsoft.com/office/drawing/2014/main" id="{E908CA4C-61D2-440C-A1F8-7EAA46A1C671}"/>
              </a:ext>
            </a:extLst>
          </p:cNvPr>
          <p:cNvSpPr>
            <a:spLocks noGrp="1"/>
          </p:cNvSpPr>
          <p:nvPr/>
        </p:nvSpPr>
        <p:spPr>
          <a:xfrm>
            <a:off x="1028700" y="3124200"/>
            <a:ext cx="2333625" cy="266700"/>
          </a:xfrm>
          <a:prstGeom prst="rect">
            <a:avLst/>
          </a:prstGeom>
          <a:noFill/>
          <a:ln w="0">
            <a:noFill/>
            <a:prstDash val="solid"/>
          </a:ln>
        </p:spPr>
        <p:txBody>
          <a:bodyPr lIns="0" tIns="0" rIns="0" bIns="0" anchor="t">
            <a:normAutofit/>
          </a:bodyPr>
          <a:lstStyle>
            <a:defPPr algn="l">
              <a:defRPr sz="1575" b="1">
                <a:solidFill>
                  <a:srgbClr val="22233D"/>
                </a:solidFill>
                <a:latin typeface="Segoe UI"/>
                <a:ea typeface="Segoe UI"/>
                <a:cs typeface="Segoe UI"/>
              </a:defRPr>
            </a:defPPr>
          </a:lstStyle>
          <a:p>
            <a:pPr algn="l">
              <a:defRPr sz="1575" b="1">
                <a:solidFill>
                  <a:srgbClr val="22233D"/>
                </a:solidFill>
                <a:latin typeface="Segoe UI"/>
                <a:ea typeface="Segoe UI"/>
                <a:cs typeface="Segoe UI"/>
              </a:defRPr>
            </a:pPr>
            <a:r>
              <a:rPr sz="1575" b="1">
                <a:solidFill>
                  <a:srgbClr val="22233D"/>
                </a:solidFill>
                <a:latin typeface="Segoe UI"/>
                <a:ea typeface="Segoe UI"/>
                <a:cs typeface="Segoe UI"/>
              </a:rPr>
              <a:t>Warden</a:t>
            </a:r>
          </a:p>
        </p:txBody>
      </p:sp>
      <p:sp>
        <p:nvSpPr>
          <p:cNvPr id="14" name="Rectangle 13">
            <a:extLst>
              <a:ext uri="{FF2B5EF4-FFF2-40B4-BE49-F238E27FC236}">
                <a16:creationId xmlns:a16="http://schemas.microsoft.com/office/drawing/2014/main" id="{A993F22C-D14E-4AF3-A903-709C510DECFB}"/>
              </a:ext>
            </a:extLst>
          </p:cNvPr>
          <p:cNvSpPr>
            <a:spLocks noGrp="1"/>
          </p:cNvSpPr>
          <p:nvPr/>
        </p:nvSpPr>
        <p:spPr>
          <a:xfrm>
            <a:off x="1028700" y="3400425"/>
            <a:ext cx="2333625" cy="219075"/>
          </a:xfrm>
          <a:prstGeom prst="rect">
            <a:avLst/>
          </a:prstGeom>
          <a:noFill/>
          <a:ln w="0">
            <a:noFill/>
            <a:prstDash val="solid"/>
          </a:ln>
        </p:spPr>
        <p:txBody>
          <a:bodyPr lIns="0" tIns="0" rIns="0" bIns="0" anchor="t">
            <a:normAutofit/>
          </a:bodyPr>
          <a:lstStyle>
            <a:defPPr algn="l">
              <a:defRPr sz="1125" b="0">
                <a:solidFill>
                  <a:srgbClr val="62667B"/>
                </a:solidFill>
                <a:latin typeface="Segoe UI"/>
                <a:ea typeface="Segoe UI"/>
                <a:cs typeface="Segoe UI"/>
              </a:defRPr>
            </a:defPPr>
          </a:lstStyle>
          <a:p>
            <a:pPr algn="l">
              <a:defRPr sz="1125" b="0">
                <a:solidFill>
                  <a:srgbClr val="62667B"/>
                </a:solidFill>
                <a:latin typeface="Segoe UI"/>
                <a:ea typeface="Segoe UI"/>
                <a:cs typeface="Segoe UI"/>
              </a:defRPr>
            </a:pPr>
            <a:r>
              <a:rPr sz="1125" b="0">
                <a:solidFill>
                  <a:srgbClr val="62667B"/>
                </a:solidFill>
                <a:latin typeface="Segoe UI"/>
                <a:ea typeface="Segoe UI"/>
                <a:cs typeface="Segoe UI"/>
              </a:rPr>
              <a:t>Manage hostel life</a:t>
            </a:r>
          </a:p>
        </p:txBody>
      </p:sp>
      <p:sp>
        <p:nvSpPr>
          <p:cNvPr id="15" name="Rectangle: Rounded Corners 14">
            <a:extLst>
              <a:ext uri="{FF2B5EF4-FFF2-40B4-BE49-F238E27FC236}">
                <a16:creationId xmlns:a16="http://schemas.microsoft.com/office/drawing/2014/main" id="{E6F2AAC4-26C6-47BB-8577-BCDBC2042B82}"/>
              </a:ext>
            </a:extLst>
          </p:cNvPr>
          <p:cNvSpPr>
            <a:spLocks noGrp="1"/>
          </p:cNvSpPr>
          <p:nvPr/>
        </p:nvSpPr>
        <p:spPr>
          <a:xfrm>
            <a:off x="781050" y="3962400"/>
            <a:ext cx="2781300" cy="628650"/>
          </a:xfrm>
          <a:prstGeom prst="roundRect">
            <a:avLst>
              <a:gd name="adj" fmla="val 18182"/>
            </a:avLst>
          </a:prstGeom>
          <a:solidFill>
            <a:srgbClr val="FFFFFF"/>
          </a:solidFill>
          <a:ln w="9525">
            <a:solidFill>
              <a:srgbClr val="E4E5EF"/>
            </a:solidFill>
            <a:prstDash val="solid"/>
          </a:ln>
        </p:spPr>
      </p:sp>
      <p:sp>
        <p:nvSpPr>
          <p:cNvPr id="16" name="Rectangle 15">
            <a:extLst>
              <a:ext uri="{FF2B5EF4-FFF2-40B4-BE49-F238E27FC236}">
                <a16:creationId xmlns:a16="http://schemas.microsoft.com/office/drawing/2014/main" id="{750A88FB-02D7-4DC4-A4E4-8867461C5270}"/>
              </a:ext>
            </a:extLst>
          </p:cNvPr>
          <p:cNvSpPr>
            <a:spLocks noGrp="1"/>
          </p:cNvSpPr>
          <p:nvPr/>
        </p:nvSpPr>
        <p:spPr>
          <a:xfrm>
            <a:off x="781050" y="3962400"/>
            <a:ext cx="57150" cy="628650"/>
          </a:xfrm>
          <a:prstGeom prst="rect">
            <a:avLst/>
          </a:prstGeom>
          <a:solidFill>
            <a:srgbClr val="E9A83A"/>
          </a:solidFill>
          <a:ln w="0">
            <a:noFill/>
            <a:prstDash val="solid"/>
          </a:ln>
        </p:spPr>
      </p:sp>
      <p:sp>
        <p:nvSpPr>
          <p:cNvPr id="17" name="Rectangle 16">
            <a:extLst>
              <a:ext uri="{FF2B5EF4-FFF2-40B4-BE49-F238E27FC236}">
                <a16:creationId xmlns:a16="http://schemas.microsoft.com/office/drawing/2014/main" id="{8B7206E9-6029-4579-BC65-7E295BC30AEF}"/>
              </a:ext>
            </a:extLst>
          </p:cNvPr>
          <p:cNvSpPr>
            <a:spLocks noGrp="1"/>
          </p:cNvSpPr>
          <p:nvPr/>
        </p:nvSpPr>
        <p:spPr>
          <a:xfrm>
            <a:off x="1028700" y="4029075"/>
            <a:ext cx="2333625" cy="266700"/>
          </a:xfrm>
          <a:prstGeom prst="rect">
            <a:avLst/>
          </a:prstGeom>
          <a:noFill/>
          <a:ln w="0">
            <a:noFill/>
            <a:prstDash val="solid"/>
          </a:ln>
        </p:spPr>
        <p:txBody>
          <a:bodyPr lIns="0" tIns="0" rIns="0" bIns="0" anchor="t">
            <a:normAutofit/>
          </a:bodyPr>
          <a:lstStyle>
            <a:defPPr algn="l">
              <a:defRPr sz="1575" b="1">
                <a:solidFill>
                  <a:srgbClr val="22233D"/>
                </a:solidFill>
                <a:latin typeface="Segoe UI"/>
                <a:ea typeface="Segoe UI"/>
                <a:cs typeface="Segoe UI"/>
              </a:defRPr>
            </a:defPPr>
          </a:lstStyle>
          <a:p>
            <a:pPr algn="l">
              <a:defRPr sz="1575" b="1">
                <a:solidFill>
                  <a:srgbClr val="22233D"/>
                </a:solidFill>
                <a:latin typeface="Segoe UI"/>
                <a:ea typeface="Segoe UI"/>
                <a:cs typeface="Segoe UI"/>
              </a:defRPr>
            </a:pPr>
            <a:r>
              <a:rPr sz="1575" b="1">
                <a:solidFill>
                  <a:srgbClr val="22233D"/>
                </a:solidFill>
                <a:latin typeface="Segoe UI"/>
                <a:ea typeface="Segoe UI"/>
                <a:cs typeface="Segoe UI"/>
              </a:rPr>
              <a:t>Admin</a:t>
            </a:r>
          </a:p>
        </p:txBody>
      </p:sp>
      <p:sp>
        <p:nvSpPr>
          <p:cNvPr id="18" name="Rectangle 17">
            <a:extLst>
              <a:ext uri="{FF2B5EF4-FFF2-40B4-BE49-F238E27FC236}">
                <a16:creationId xmlns:a16="http://schemas.microsoft.com/office/drawing/2014/main" id="{40B527E2-8C18-45FE-8617-61A111710858}"/>
              </a:ext>
            </a:extLst>
          </p:cNvPr>
          <p:cNvSpPr>
            <a:spLocks noGrp="1"/>
          </p:cNvSpPr>
          <p:nvPr/>
        </p:nvSpPr>
        <p:spPr>
          <a:xfrm>
            <a:off x="1028700" y="4305300"/>
            <a:ext cx="2333625" cy="219075"/>
          </a:xfrm>
          <a:prstGeom prst="rect">
            <a:avLst/>
          </a:prstGeom>
          <a:noFill/>
          <a:ln w="0">
            <a:noFill/>
            <a:prstDash val="solid"/>
          </a:ln>
        </p:spPr>
        <p:txBody>
          <a:bodyPr lIns="0" tIns="0" rIns="0" bIns="0" anchor="t">
            <a:normAutofit/>
          </a:bodyPr>
          <a:lstStyle>
            <a:defPPr algn="l">
              <a:defRPr sz="1125" b="0">
                <a:solidFill>
                  <a:srgbClr val="62667B"/>
                </a:solidFill>
                <a:latin typeface="Segoe UI"/>
                <a:ea typeface="Segoe UI"/>
                <a:cs typeface="Segoe UI"/>
              </a:defRPr>
            </a:defPPr>
          </a:lstStyle>
          <a:p>
            <a:pPr algn="l">
              <a:defRPr sz="1125" b="0">
                <a:solidFill>
                  <a:srgbClr val="62667B"/>
                </a:solidFill>
                <a:latin typeface="Segoe UI"/>
                <a:ea typeface="Segoe UI"/>
                <a:cs typeface="Segoe UI"/>
              </a:defRPr>
            </a:pPr>
            <a:r>
              <a:rPr sz="1125" b="0">
                <a:solidFill>
                  <a:srgbClr val="62667B"/>
                </a:solidFill>
                <a:latin typeface="Segoe UI"/>
                <a:ea typeface="Segoe UI"/>
                <a:cs typeface="Segoe UI"/>
              </a:rPr>
              <a:t>Manage the platform</a:t>
            </a:r>
          </a:p>
        </p:txBody>
      </p:sp>
      <p:sp>
        <p:nvSpPr>
          <p:cNvPr id="19" name="Rectangle: Rounded Corners 18">
            <a:extLst>
              <a:ext uri="{FF2B5EF4-FFF2-40B4-BE49-F238E27FC236}">
                <a16:creationId xmlns:a16="http://schemas.microsoft.com/office/drawing/2014/main" id="{4AE8D657-1E47-43AB-8D69-89195E5886E3}"/>
              </a:ext>
            </a:extLst>
          </p:cNvPr>
          <p:cNvSpPr>
            <a:spLocks noGrp="1"/>
          </p:cNvSpPr>
          <p:nvPr/>
        </p:nvSpPr>
        <p:spPr>
          <a:xfrm>
            <a:off x="781050" y="4867275"/>
            <a:ext cx="2781300" cy="628650"/>
          </a:xfrm>
          <a:prstGeom prst="roundRect">
            <a:avLst>
              <a:gd name="adj" fmla="val 18182"/>
            </a:avLst>
          </a:prstGeom>
          <a:solidFill>
            <a:srgbClr val="FFFFFF"/>
          </a:solidFill>
          <a:ln w="9525">
            <a:solidFill>
              <a:srgbClr val="E4E5EF"/>
            </a:solidFill>
            <a:prstDash val="solid"/>
          </a:ln>
        </p:spPr>
      </p:sp>
      <p:sp>
        <p:nvSpPr>
          <p:cNvPr id="20" name="Rectangle 19">
            <a:extLst>
              <a:ext uri="{FF2B5EF4-FFF2-40B4-BE49-F238E27FC236}">
                <a16:creationId xmlns:a16="http://schemas.microsoft.com/office/drawing/2014/main" id="{1E078DF3-B3CC-4D13-AD94-48E0191530AA}"/>
              </a:ext>
            </a:extLst>
          </p:cNvPr>
          <p:cNvSpPr>
            <a:spLocks noGrp="1"/>
          </p:cNvSpPr>
          <p:nvPr/>
        </p:nvSpPr>
        <p:spPr>
          <a:xfrm>
            <a:off x="781050" y="4867275"/>
            <a:ext cx="57150" cy="628650"/>
          </a:xfrm>
          <a:prstGeom prst="rect">
            <a:avLst/>
          </a:prstGeom>
          <a:solidFill>
            <a:srgbClr val="E27668"/>
          </a:solidFill>
          <a:ln w="0">
            <a:noFill/>
            <a:prstDash val="solid"/>
          </a:ln>
        </p:spPr>
      </p:sp>
      <p:sp>
        <p:nvSpPr>
          <p:cNvPr id="21" name="Rectangle 20">
            <a:extLst>
              <a:ext uri="{FF2B5EF4-FFF2-40B4-BE49-F238E27FC236}">
                <a16:creationId xmlns:a16="http://schemas.microsoft.com/office/drawing/2014/main" id="{7B00361B-21B1-43AF-9954-6123C2072CCA}"/>
              </a:ext>
            </a:extLst>
          </p:cNvPr>
          <p:cNvSpPr>
            <a:spLocks noGrp="1"/>
          </p:cNvSpPr>
          <p:nvPr/>
        </p:nvSpPr>
        <p:spPr>
          <a:xfrm>
            <a:off x="1028700" y="4933950"/>
            <a:ext cx="2333625" cy="266700"/>
          </a:xfrm>
          <a:prstGeom prst="rect">
            <a:avLst/>
          </a:prstGeom>
          <a:noFill/>
          <a:ln w="0">
            <a:noFill/>
            <a:prstDash val="solid"/>
          </a:ln>
        </p:spPr>
        <p:txBody>
          <a:bodyPr lIns="0" tIns="0" rIns="0" bIns="0" anchor="t">
            <a:normAutofit/>
          </a:bodyPr>
          <a:lstStyle>
            <a:defPPr algn="l">
              <a:defRPr sz="1575" b="1">
                <a:solidFill>
                  <a:srgbClr val="22233D"/>
                </a:solidFill>
                <a:latin typeface="Segoe UI"/>
                <a:ea typeface="Segoe UI"/>
                <a:cs typeface="Segoe UI"/>
              </a:defRPr>
            </a:defPPr>
          </a:lstStyle>
          <a:p>
            <a:pPr algn="l">
              <a:defRPr sz="1575" b="1">
                <a:solidFill>
                  <a:srgbClr val="22233D"/>
                </a:solidFill>
                <a:latin typeface="Segoe UI"/>
                <a:ea typeface="Segoe UI"/>
                <a:cs typeface="Segoe UI"/>
              </a:defRPr>
            </a:pPr>
            <a:r>
              <a:rPr sz="1575" b="1">
                <a:solidFill>
                  <a:srgbClr val="22233D"/>
                </a:solidFill>
                <a:latin typeface="Segoe UI"/>
                <a:ea typeface="Segoe UI"/>
                <a:cs typeface="Segoe UI"/>
              </a:rPr>
              <a:t>Shopkeeper / provider</a:t>
            </a:r>
          </a:p>
        </p:txBody>
      </p:sp>
      <p:sp>
        <p:nvSpPr>
          <p:cNvPr id="22" name="Rectangle 21">
            <a:extLst>
              <a:ext uri="{FF2B5EF4-FFF2-40B4-BE49-F238E27FC236}">
                <a16:creationId xmlns:a16="http://schemas.microsoft.com/office/drawing/2014/main" id="{A3B5E6EF-8A3C-4143-BAFE-83EEC8E169AA}"/>
              </a:ext>
            </a:extLst>
          </p:cNvPr>
          <p:cNvSpPr>
            <a:spLocks noGrp="1"/>
          </p:cNvSpPr>
          <p:nvPr/>
        </p:nvSpPr>
        <p:spPr>
          <a:xfrm>
            <a:off x="1028700" y="5210175"/>
            <a:ext cx="2333625" cy="219075"/>
          </a:xfrm>
          <a:prstGeom prst="rect">
            <a:avLst/>
          </a:prstGeom>
          <a:noFill/>
          <a:ln w="0">
            <a:noFill/>
            <a:prstDash val="solid"/>
          </a:ln>
        </p:spPr>
        <p:txBody>
          <a:bodyPr lIns="0" tIns="0" rIns="0" bIns="0" anchor="t">
            <a:normAutofit/>
          </a:bodyPr>
          <a:lstStyle>
            <a:defPPr algn="l">
              <a:defRPr sz="1125" b="0">
                <a:solidFill>
                  <a:srgbClr val="62667B"/>
                </a:solidFill>
                <a:latin typeface="Segoe UI"/>
                <a:ea typeface="Segoe UI"/>
                <a:cs typeface="Segoe UI"/>
              </a:defRPr>
            </a:defPPr>
          </a:lstStyle>
          <a:p>
            <a:pPr algn="l">
              <a:defRPr sz="1125" b="0">
                <a:solidFill>
                  <a:srgbClr val="62667B"/>
                </a:solidFill>
                <a:latin typeface="Segoe UI"/>
                <a:ea typeface="Segoe UI"/>
                <a:cs typeface="Segoe UI"/>
              </a:defRPr>
            </a:pPr>
            <a:r>
              <a:rPr sz="1125" b="0">
                <a:solidFill>
                  <a:srgbClr val="62667B"/>
                </a:solidFill>
                <a:latin typeface="Segoe UI"/>
                <a:ea typeface="Segoe UI"/>
                <a:cs typeface="Segoe UI"/>
              </a:rPr>
              <a:t>Publish service availability</a:t>
            </a:r>
          </a:p>
        </p:txBody>
      </p:sp>
      <p:sp>
        <p:nvSpPr>
          <p:cNvPr id="23" name="Rectangle 22">
            <a:extLst>
              <a:ext uri="{FF2B5EF4-FFF2-40B4-BE49-F238E27FC236}">
                <a16:creationId xmlns:a16="http://schemas.microsoft.com/office/drawing/2014/main" id="{001A05C9-578B-4E16-A1B2-C1C148AB894C}"/>
              </a:ext>
            </a:extLst>
          </p:cNvPr>
          <p:cNvSpPr>
            <a:spLocks noGrp="1"/>
          </p:cNvSpPr>
          <p:nvPr/>
        </p:nvSpPr>
        <p:spPr>
          <a:xfrm>
            <a:off x="3876675" y="2419350"/>
            <a:ext cx="28575" cy="2724150"/>
          </a:xfrm>
          <a:prstGeom prst="rect">
            <a:avLst/>
          </a:prstGeom>
          <a:solidFill>
            <a:srgbClr val="D5D1EA"/>
          </a:solidFill>
          <a:ln w="0">
            <a:noFill/>
            <a:prstDash val="solid"/>
          </a:ln>
        </p:spPr>
      </p:sp>
      <p:sp>
        <p:nvSpPr>
          <p:cNvPr id="24" name="Rectangle: Rounded Corners 23">
            <a:extLst>
              <a:ext uri="{FF2B5EF4-FFF2-40B4-BE49-F238E27FC236}">
                <a16:creationId xmlns:a16="http://schemas.microsoft.com/office/drawing/2014/main" id="{28B1A1F7-2874-4C28-A4E1-F91497ED1708}"/>
              </a:ext>
            </a:extLst>
          </p:cNvPr>
          <p:cNvSpPr>
            <a:spLocks noGrp="1"/>
          </p:cNvSpPr>
          <p:nvPr/>
        </p:nvSpPr>
        <p:spPr>
          <a:xfrm>
            <a:off x="4533900" y="2876550"/>
            <a:ext cx="2857500" cy="1638300"/>
          </a:xfrm>
          <a:prstGeom prst="roundRect">
            <a:avLst>
              <a:gd name="adj" fmla="val 11628"/>
            </a:avLst>
          </a:prstGeom>
          <a:solidFill>
            <a:srgbClr val="171832"/>
          </a:solidFill>
          <a:ln w="0">
            <a:solidFill>
              <a:srgbClr val="171832"/>
            </a:solidFill>
            <a:prstDash val="solid"/>
          </a:ln>
        </p:spPr>
      </p:sp>
      <p:sp>
        <p:nvSpPr>
          <p:cNvPr id="25" name="Rectangle 24">
            <a:extLst>
              <a:ext uri="{FF2B5EF4-FFF2-40B4-BE49-F238E27FC236}">
                <a16:creationId xmlns:a16="http://schemas.microsoft.com/office/drawing/2014/main" id="{A76C6C4E-4AD3-455B-B353-6AB9565A3F04}"/>
              </a:ext>
            </a:extLst>
          </p:cNvPr>
          <p:cNvSpPr>
            <a:spLocks noGrp="1"/>
          </p:cNvSpPr>
          <p:nvPr/>
        </p:nvSpPr>
        <p:spPr>
          <a:xfrm>
            <a:off x="4857750" y="3228975"/>
            <a:ext cx="2209800" cy="266700"/>
          </a:xfrm>
          <a:prstGeom prst="rect">
            <a:avLst/>
          </a:prstGeom>
          <a:noFill/>
          <a:ln w="0">
            <a:noFill/>
            <a:prstDash val="solid"/>
          </a:ln>
        </p:spPr>
        <p:txBody>
          <a:bodyPr lIns="0" tIns="0" rIns="0" bIns="0" anchor="t">
            <a:normAutofit/>
          </a:bodyPr>
          <a:lstStyle>
            <a:defPPr algn="ctr">
              <a:defRPr sz="1200" b="1">
                <a:solidFill>
                  <a:srgbClr val="9178FF"/>
                </a:solidFill>
                <a:latin typeface="Segoe UI"/>
                <a:ea typeface="Segoe UI"/>
                <a:cs typeface="Segoe UI"/>
              </a:defRPr>
            </a:defPPr>
          </a:lstStyle>
          <a:p>
            <a:pPr algn="ctr">
              <a:defRPr sz="1200" b="1">
                <a:solidFill>
                  <a:srgbClr val="9178FF"/>
                </a:solidFill>
                <a:latin typeface="Segoe UI"/>
                <a:ea typeface="Segoe UI"/>
                <a:cs typeface="Segoe UI"/>
              </a:defRPr>
            </a:pPr>
            <a:r>
              <a:rPr sz="1200" b="1">
                <a:solidFill>
                  <a:srgbClr val="9178FF"/>
                </a:solidFill>
                <a:latin typeface="Segoe UI"/>
                <a:ea typeface="Segoe UI"/>
                <a:cs typeface="Segoe UI"/>
              </a:rPr>
              <a:t>HOSTELHUB</a:t>
            </a:r>
          </a:p>
        </p:txBody>
      </p:sp>
      <p:sp>
        <p:nvSpPr>
          <p:cNvPr id="26" name="Rectangle 25">
            <a:extLst>
              <a:ext uri="{FF2B5EF4-FFF2-40B4-BE49-F238E27FC236}">
                <a16:creationId xmlns:a16="http://schemas.microsoft.com/office/drawing/2014/main" id="{C7699A54-001A-4B39-9637-703D7B3FEB3A}"/>
              </a:ext>
            </a:extLst>
          </p:cNvPr>
          <p:cNvSpPr>
            <a:spLocks noGrp="1"/>
          </p:cNvSpPr>
          <p:nvPr/>
        </p:nvSpPr>
        <p:spPr>
          <a:xfrm>
            <a:off x="4800600" y="3562350"/>
            <a:ext cx="2324100" cy="781050"/>
          </a:xfrm>
          <a:prstGeom prst="rect">
            <a:avLst/>
          </a:prstGeom>
          <a:noFill/>
          <a:ln w="0">
            <a:noFill/>
            <a:prstDash val="solid"/>
          </a:ln>
        </p:spPr>
        <p:txBody>
          <a:bodyPr lIns="0" tIns="0" rIns="0" bIns="0" anchor="ctr">
            <a:normAutofit/>
          </a:bodyPr>
          <a:lstStyle>
            <a:defPPr algn="ctr">
              <a:defRPr sz="2100" b="1">
                <a:solidFill>
                  <a:srgbClr val="FFFFFF"/>
                </a:solidFill>
                <a:latin typeface="Segoe UI"/>
                <a:ea typeface="Segoe UI"/>
                <a:cs typeface="Segoe UI"/>
              </a:defRPr>
            </a:defPPr>
          </a:lstStyle>
          <a:p>
            <a:pPr algn="ctr">
              <a:defRPr sz="2100" b="1">
                <a:solidFill>
                  <a:srgbClr val="FFFFFF"/>
                </a:solidFill>
                <a:latin typeface="Segoe UI"/>
                <a:ea typeface="Segoe UI"/>
                <a:cs typeface="Segoe UI"/>
              </a:defRPr>
            </a:pPr>
            <a:r>
              <a:rPr sz="2100" b="1">
                <a:solidFill>
                  <a:srgbClr val="FFFFFF"/>
                </a:solidFill>
                <a:latin typeface="Segoe UI"/>
                <a:ea typeface="Segoe UI"/>
                <a:cs typeface="Segoe UI"/>
              </a:rPr>
              <a:t>Role-based</a:t>
            </a:r>
          </a:p>
          <a:p>
            <a:pPr algn="ctr">
              <a:defRPr sz="2100" b="1">
                <a:solidFill>
                  <a:srgbClr val="FFFFFF"/>
                </a:solidFill>
                <a:latin typeface="Segoe UI"/>
                <a:ea typeface="Segoe UI"/>
                <a:cs typeface="Segoe UI"/>
              </a:defRPr>
            </a:pPr>
            <a:r>
              <a:rPr sz="2100" b="1">
                <a:solidFill>
                  <a:srgbClr val="FFFFFF"/>
                </a:solidFill>
                <a:latin typeface="Segoe UI"/>
                <a:ea typeface="Segoe UI"/>
                <a:cs typeface="Segoe UI"/>
              </a:rPr>
              <a:t>web application</a:t>
            </a:r>
          </a:p>
        </p:txBody>
      </p:sp>
      <p:sp>
        <p:nvSpPr>
          <p:cNvPr id="27" name="Rectangle 26">
            <a:extLst>
              <a:ext uri="{FF2B5EF4-FFF2-40B4-BE49-F238E27FC236}">
                <a16:creationId xmlns:a16="http://schemas.microsoft.com/office/drawing/2014/main" id="{A29E39FD-3D52-4E92-BEFB-3764883D804B}"/>
              </a:ext>
            </a:extLst>
          </p:cNvPr>
          <p:cNvSpPr>
            <a:spLocks noGrp="1"/>
          </p:cNvSpPr>
          <p:nvPr/>
        </p:nvSpPr>
        <p:spPr>
          <a:xfrm>
            <a:off x="8001000" y="2190750"/>
            <a:ext cx="28575" cy="3095625"/>
          </a:xfrm>
          <a:prstGeom prst="rect">
            <a:avLst/>
          </a:prstGeom>
          <a:solidFill>
            <a:srgbClr val="D5D1EA"/>
          </a:solidFill>
          <a:ln w="0">
            <a:noFill/>
            <a:prstDash val="solid"/>
          </a:ln>
        </p:spPr>
      </p:sp>
      <p:sp>
        <p:nvSpPr>
          <p:cNvPr id="28" name="Rectangle 27">
            <a:extLst>
              <a:ext uri="{FF2B5EF4-FFF2-40B4-BE49-F238E27FC236}">
                <a16:creationId xmlns:a16="http://schemas.microsoft.com/office/drawing/2014/main" id="{6D682D3E-9E59-4384-A6C9-9E0FEF4D2FAA}"/>
              </a:ext>
            </a:extLst>
          </p:cNvPr>
          <p:cNvSpPr>
            <a:spLocks noGrp="1"/>
          </p:cNvSpPr>
          <p:nvPr/>
        </p:nvSpPr>
        <p:spPr>
          <a:xfrm>
            <a:off x="8524875" y="2076450"/>
            <a:ext cx="2857500" cy="266700"/>
          </a:xfrm>
          <a:prstGeom prst="rect">
            <a:avLst/>
          </a:prstGeom>
          <a:noFill/>
          <a:ln w="0">
            <a:noFill/>
            <a:prstDash val="solid"/>
          </a:ln>
        </p:spPr>
        <p:txBody>
          <a:bodyPr lIns="0" tIns="0" rIns="0" bIns="0" anchor="t">
            <a:normAutofit/>
          </a:bodyPr>
          <a:lstStyle>
            <a:defPPr algn="l">
              <a:defRPr sz="1050" b="1">
                <a:solidFill>
                  <a:srgbClr val="7156E8"/>
                </a:solidFill>
                <a:latin typeface="Segoe UI"/>
                <a:ea typeface="Segoe UI"/>
                <a:cs typeface="Segoe UI"/>
              </a:defRPr>
            </a:defPPr>
          </a:lstStyle>
          <a:p>
            <a:pPr algn="l">
              <a:defRPr sz="1050" b="1">
                <a:solidFill>
                  <a:srgbClr val="7156E8"/>
                </a:solidFill>
                <a:latin typeface="Segoe UI"/>
                <a:ea typeface="Segoe UI"/>
                <a:cs typeface="Segoe UI"/>
              </a:defRPr>
            </a:pPr>
            <a:r>
              <a:rPr sz="1050" b="1">
                <a:solidFill>
                  <a:srgbClr val="7156E8"/>
                </a:solidFill>
                <a:latin typeface="Segoe UI"/>
                <a:ea typeface="Segoe UI"/>
                <a:cs typeface="Segoe UI"/>
              </a:rPr>
              <a:t>CONNECTED MODULES</a:t>
            </a:r>
          </a:p>
        </p:txBody>
      </p:sp>
      <p:sp>
        <p:nvSpPr>
          <p:cNvPr id="29" name="Rectangle 28">
            <a:extLst>
              <a:ext uri="{FF2B5EF4-FFF2-40B4-BE49-F238E27FC236}">
                <a16:creationId xmlns:a16="http://schemas.microsoft.com/office/drawing/2014/main" id="{4BF9DE9F-6E74-48B2-B1C2-780D9B565B47}"/>
              </a:ext>
            </a:extLst>
          </p:cNvPr>
          <p:cNvSpPr>
            <a:spLocks noGrp="1"/>
          </p:cNvSpPr>
          <p:nvPr/>
        </p:nvSpPr>
        <p:spPr>
          <a:xfrm>
            <a:off x="8524875" y="2562225"/>
            <a:ext cx="95250" cy="95250"/>
          </a:xfrm>
          <a:prstGeom prst="rect">
            <a:avLst/>
          </a:prstGeom>
          <a:solidFill>
            <a:srgbClr val="7156E8"/>
          </a:solidFill>
          <a:ln w="0">
            <a:noFill/>
            <a:prstDash val="solid"/>
          </a:ln>
        </p:spPr>
      </p:sp>
      <p:sp>
        <p:nvSpPr>
          <p:cNvPr id="30" name="Rectangle 29">
            <a:extLst>
              <a:ext uri="{FF2B5EF4-FFF2-40B4-BE49-F238E27FC236}">
                <a16:creationId xmlns:a16="http://schemas.microsoft.com/office/drawing/2014/main" id="{7BE20F22-FC6E-48A7-9F85-F140DDB994AF}"/>
              </a:ext>
            </a:extLst>
          </p:cNvPr>
          <p:cNvSpPr>
            <a:spLocks noGrp="1"/>
          </p:cNvSpPr>
          <p:nvPr/>
        </p:nvSpPr>
        <p:spPr>
          <a:xfrm>
            <a:off x="8801100" y="2505075"/>
            <a:ext cx="2781300" cy="400050"/>
          </a:xfrm>
          <a:prstGeom prst="rect">
            <a:avLst/>
          </a:prstGeom>
          <a:noFill/>
          <a:ln w="0">
            <a:noFill/>
            <a:prstDash val="solid"/>
          </a:ln>
        </p:spPr>
        <p:txBody>
          <a:bodyPr lIns="0" tIns="0" rIns="0" bIns="0" anchor="t">
            <a:normAutofit/>
          </a:bodyPr>
          <a:lstStyle>
            <a:defPPr algn="l">
              <a:defRPr sz="1425" b="1">
                <a:solidFill>
                  <a:srgbClr val="22233D"/>
                </a:solidFill>
                <a:latin typeface="Segoe UI"/>
                <a:ea typeface="Segoe UI"/>
                <a:cs typeface="Segoe UI"/>
              </a:defRPr>
            </a:defPPr>
          </a:lstStyle>
          <a:p>
            <a:pPr algn="l">
              <a:defRPr sz="1425" b="1">
                <a:solidFill>
                  <a:srgbClr val="22233D"/>
                </a:solidFill>
                <a:latin typeface="Segoe UI"/>
                <a:ea typeface="Segoe UI"/>
                <a:cs typeface="Segoe UI"/>
              </a:defRPr>
            </a:pPr>
            <a:r>
              <a:rPr sz="1425" b="1">
                <a:solidFill>
                  <a:srgbClr val="22233D"/>
                </a:solidFill>
                <a:latin typeface="Segoe UI"/>
                <a:ea typeface="Segoe UI"/>
                <a:cs typeface="Segoe UI"/>
              </a:rPr>
              <a:t>Marketplace and orders</a:t>
            </a:r>
          </a:p>
        </p:txBody>
      </p:sp>
      <p:sp>
        <p:nvSpPr>
          <p:cNvPr id="31" name="Rectangle 30">
            <a:extLst>
              <a:ext uri="{FF2B5EF4-FFF2-40B4-BE49-F238E27FC236}">
                <a16:creationId xmlns:a16="http://schemas.microsoft.com/office/drawing/2014/main" id="{381299AA-BC62-4E4E-A82D-0E6E880C8CF3}"/>
              </a:ext>
            </a:extLst>
          </p:cNvPr>
          <p:cNvSpPr>
            <a:spLocks noGrp="1"/>
          </p:cNvSpPr>
          <p:nvPr/>
        </p:nvSpPr>
        <p:spPr>
          <a:xfrm>
            <a:off x="8524875" y="3209925"/>
            <a:ext cx="95250" cy="95250"/>
          </a:xfrm>
          <a:prstGeom prst="rect">
            <a:avLst/>
          </a:prstGeom>
          <a:solidFill>
            <a:srgbClr val="27B99A"/>
          </a:solidFill>
          <a:ln w="0">
            <a:noFill/>
            <a:prstDash val="solid"/>
          </a:ln>
        </p:spPr>
      </p:sp>
      <p:sp>
        <p:nvSpPr>
          <p:cNvPr id="32" name="Rectangle 31">
            <a:extLst>
              <a:ext uri="{FF2B5EF4-FFF2-40B4-BE49-F238E27FC236}">
                <a16:creationId xmlns:a16="http://schemas.microsoft.com/office/drawing/2014/main" id="{1B19F15D-1851-4729-84F2-EE4DC2555C32}"/>
              </a:ext>
            </a:extLst>
          </p:cNvPr>
          <p:cNvSpPr>
            <a:spLocks noGrp="1"/>
          </p:cNvSpPr>
          <p:nvPr/>
        </p:nvSpPr>
        <p:spPr>
          <a:xfrm>
            <a:off x="8801100" y="3152775"/>
            <a:ext cx="2781300" cy="400050"/>
          </a:xfrm>
          <a:prstGeom prst="rect">
            <a:avLst/>
          </a:prstGeom>
          <a:noFill/>
          <a:ln w="0">
            <a:noFill/>
            <a:prstDash val="solid"/>
          </a:ln>
        </p:spPr>
        <p:txBody>
          <a:bodyPr lIns="0" tIns="0" rIns="0" bIns="0" anchor="t">
            <a:normAutofit/>
          </a:bodyPr>
          <a:lstStyle>
            <a:defPPr algn="l">
              <a:defRPr sz="1425" b="0">
                <a:solidFill>
                  <a:srgbClr val="22233D"/>
                </a:solidFill>
                <a:latin typeface="Segoe UI"/>
                <a:ea typeface="Segoe UI"/>
                <a:cs typeface="Segoe UI"/>
              </a:defRPr>
            </a:defPPr>
          </a:lstStyle>
          <a:p>
            <a:pPr algn="l">
              <a:defRPr sz="1425" b="0">
                <a:solidFill>
                  <a:srgbClr val="22233D"/>
                </a:solidFill>
                <a:latin typeface="Segoe UI"/>
                <a:ea typeface="Segoe UI"/>
                <a:cs typeface="Segoe UI"/>
              </a:defRPr>
            </a:pPr>
            <a:r>
              <a:rPr sz="1425" b="0">
                <a:solidFill>
                  <a:srgbClr val="22233D"/>
                </a:solidFill>
                <a:latin typeface="Segoe UI"/>
                <a:ea typeface="Segoe UI"/>
                <a:cs typeface="Segoe UI"/>
              </a:rPr>
              <a:t>Medical and campus services</a:t>
            </a:r>
          </a:p>
        </p:txBody>
      </p:sp>
      <p:sp>
        <p:nvSpPr>
          <p:cNvPr id="33" name="Rectangle 32">
            <a:extLst>
              <a:ext uri="{FF2B5EF4-FFF2-40B4-BE49-F238E27FC236}">
                <a16:creationId xmlns:a16="http://schemas.microsoft.com/office/drawing/2014/main" id="{E4FA4AB6-085F-408A-B4AF-BA022945FFB6}"/>
              </a:ext>
            </a:extLst>
          </p:cNvPr>
          <p:cNvSpPr>
            <a:spLocks noGrp="1"/>
          </p:cNvSpPr>
          <p:nvPr/>
        </p:nvSpPr>
        <p:spPr>
          <a:xfrm>
            <a:off x="8524875" y="3857625"/>
            <a:ext cx="95250" cy="95250"/>
          </a:xfrm>
          <a:prstGeom prst="rect">
            <a:avLst/>
          </a:prstGeom>
          <a:solidFill>
            <a:srgbClr val="E9A83A"/>
          </a:solidFill>
          <a:ln w="0">
            <a:noFill/>
            <a:prstDash val="solid"/>
          </a:ln>
        </p:spPr>
      </p:sp>
      <p:sp>
        <p:nvSpPr>
          <p:cNvPr id="34" name="Rectangle 33">
            <a:extLst>
              <a:ext uri="{FF2B5EF4-FFF2-40B4-BE49-F238E27FC236}">
                <a16:creationId xmlns:a16="http://schemas.microsoft.com/office/drawing/2014/main" id="{3A8F920B-A71D-4471-BF52-6FD80B5001F0}"/>
              </a:ext>
            </a:extLst>
          </p:cNvPr>
          <p:cNvSpPr>
            <a:spLocks noGrp="1"/>
          </p:cNvSpPr>
          <p:nvPr/>
        </p:nvSpPr>
        <p:spPr>
          <a:xfrm>
            <a:off x="8801100" y="3800475"/>
            <a:ext cx="2781300" cy="400050"/>
          </a:xfrm>
          <a:prstGeom prst="rect">
            <a:avLst/>
          </a:prstGeom>
          <a:noFill/>
          <a:ln w="0">
            <a:noFill/>
            <a:prstDash val="solid"/>
          </a:ln>
        </p:spPr>
        <p:txBody>
          <a:bodyPr lIns="0" tIns="0" rIns="0" bIns="0" anchor="t">
            <a:normAutofit/>
          </a:bodyPr>
          <a:lstStyle>
            <a:defPPr algn="l">
              <a:defRPr sz="1425" b="0">
                <a:solidFill>
                  <a:srgbClr val="22233D"/>
                </a:solidFill>
                <a:latin typeface="Segoe UI"/>
                <a:ea typeface="Segoe UI"/>
                <a:cs typeface="Segoe UI"/>
              </a:defRPr>
            </a:defPPr>
          </a:lstStyle>
          <a:p>
            <a:pPr algn="l">
              <a:defRPr sz="1425" b="0">
                <a:solidFill>
                  <a:srgbClr val="22233D"/>
                </a:solidFill>
                <a:latin typeface="Segoe UI"/>
                <a:ea typeface="Segoe UI"/>
                <a:cs typeface="Segoe UI"/>
              </a:defRPr>
            </a:pPr>
            <a:r>
              <a:rPr sz="1425" b="0">
                <a:solidFill>
                  <a:srgbClr val="22233D"/>
                </a:solidFill>
                <a:latin typeface="Segoe UI"/>
                <a:ea typeface="Segoe UI"/>
                <a:cs typeface="Segoe UI"/>
              </a:rPr>
              <a:t>Hostel, rooms and mess</a:t>
            </a:r>
          </a:p>
        </p:txBody>
      </p:sp>
      <p:sp>
        <p:nvSpPr>
          <p:cNvPr id="35" name="Rectangle 34">
            <a:extLst>
              <a:ext uri="{FF2B5EF4-FFF2-40B4-BE49-F238E27FC236}">
                <a16:creationId xmlns:a16="http://schemas.microsoft.com/office/drawing/2014/main" id="{56024942-C635-4175-B5AF-2D035908F30C}"/>
              </a:ext>
            </a:extLst>
          </p:cNvPr>
          <p:cNvSpPr>
            <a:spLocks noGrp="1"/>
          </p:cNvSpPr>
          <p:nvPr/>
        </p:nvSpPr>
        <p:spPr>
          <a:xfrm>
            <a:off x="8524875" y="4505325"/>
            <a:ext cx="95250" cy="95250"/>
          </a:xfrm>
          <a:prstGeom prst="rect">
            <a:avLst/>
          </a:prstGeom>
          <a:solidFill>
            <a:srgbClr val="E27668"/>
          </a:solidFill>
          <a:ln w="0">
            <a:noFill/>
            <a:prstDash val="solid"/>
          </a:ln>
        </p:spPr>
      </p:sp>
      <p:sp>
        <p:nvSpPr>
          <p:cNvPr id="36" name="Rectangle 35">
            <a:extLst>
              <a:ext uri="{FF2B5EF4-FFF2-40B4-BE49-F238E27FC236}">
                <a16:creationId xmlns:a16="http://schemas.microsoft.com/office/drawing/2014/main" id="{0DB1D0FC-1028-4647-95AE-5FB40ECB61DC}"/>
              </a:ext>
            </a:extLst>
          </p:cNvPr>
          <p:cNvSpPr>
            <a:spLocks noGrp="1"/>
          </p:cNvSpPr>
          <p:nvPr/>
        </p:nvSpPr>
        <p:spPr>
          <a:xfrm>
            <a:off x="8801100" y="4448175"/>
            <a:ext cx="2781300" cy="400050"/>
          </a:xfrm>
          <a:prstGeom prst="rect">
            <a:avLst/>
          </a:prstGeom>
          <a:noFill/>
          <a:ln w="0">
            <a:noFill/>
            <a:prstDash val="solid"/>
          </a:ln>
        </p:spPr>
        <p:txBody>
          <a:bodyPr lIns="0" tIns="0" rIns="0" bIns="0" anchor="t">
            <a:normAutofit/>
          </a:bodyPr>
          <a:lstStyle>
            <a:defPPr algn="l">
              <a:defRPr sz="1425" b="0">
                <a:solidFill>
                  <a:srgbClr val="22233D"/>
                </a:solidFill>
                <a:latin typeface="Segoe UI"/>
                <a:ea typeface="Segoe UI"/>
                <a:cs typeface="Segoe UI"/>
              </a:defRPr>
            </a:defPPr>
          </a:lstStyle>
          <a:p>
            <a:pPr algn="l">
              <a:defRPr sz="1425" b="0">
                <a:solidFill>
                  <a:srgbClr val="22233D"/>
                </a:solidFill>
                <a:latin typeface="Segoe UI"/>
                <a:ea typeface="Segoe UI"/>
                <a:cs typeface="Segoe UI"/>
              </a:defRPr>
            </a:pPr>
            <a:r>
              <a:rPr sz="1425" b="0">
                <a:solidFill>
                  <a:srgbClr val="22233D"/>
                </a:solidFill>
                <a:latin typeface="Segoe UI"/>
                <a:ea typeface="Segoe UI"/>
                <a:cs typeface="Segoe UI"/>
              </a:rPr>
              <a:t>Notices and request tracking</a:t>
            </a:r>
          </a:p>
        </p:txBody>
      </p:sp>
      <p:sp>
        <p:nvSpPr>
          <p:cNvPr id="37" name="Rectangle 36">
            <a:extLst>
              <a:ext uri="{FF2B5EF4-FFF2-40B4-BE49-F238E27FC236}">
                <a16:creationId xmlns:a16="http://schemas.microsoft.com/office/drawing/2014/main" id="{A68D9ADC-0B41-440E-8FDF-64D66F6DDE9F}"/>
              </a:ext>
            </a:extLst>
          </p:cNvPr>
          <p:cNvSpPr>
            <a:spLocks noGrp="1"/>
          </p:cNvSpPr>
          <p:nvPr/>
        </p:nvSpPr>
        <p:spPr>
          <a:xfrm>
            <a:off x="3562350" y="3181350"/>
            <a:ext cx="971550" cy="28575"/>
          </a:xfrm>
          <a:prstGeom prst="rect">
            <a:avLst/>
          </a:prstGeom>
          <a:solidFill>
            <a:srgbClr val="7156E8"/>
          </a:solidFill>
          <a:ln w="0">
            <a:noFill/>
            <a:prstDash val="solid"/>
          </a:ln>
        </p:spPr>
      </p:sp>
      <p:sp>
        <p:nvSpPr>
          <p:cNvPr id="38" name="Rectangle 37">
            <a:extLst>
              <a:ext uri="{FF2B5EF4-FFF2-40B4-BE49-F238E27FC236}">
                <a16:creationId xmlns:a16="http://schemas.microsoft.com/office/drawing/2014/main" id="{999543A3-9AA1-411E-8396-E17204CA0F6F}"/>
              </a:ext>
            </a:extLst>
          </p:cNvPr>
          <p:cNvSpPr>
            <a:spLocks noGrp="1"/>
          </p:cNvSpPr>
          <p:nvPr/>
        </p:nvSpPr>
        <p:spPr>
          <a:xfrm>
            <a:off x="7391400" y="3676650"/>
            <a:ext cx="609600" cy="28575"/>
          </a:xfrm>
          <a:prstGeom prst="rect">
            <a:avLst/>
          </a:prstGeom>
          <a:solidFill>
            <a:srgbClr val="27B99A"/>
          </a:solidFill>
          <a:ln w="0">
            <a:noFill/>
            <a:prstDash val="solid"/>
          </a:ln>
        </p:spPr>
      </p:sp>
    </p:spTree>
    <p:extLst>
      <p:ext uri="{BB962C8B-B14F-4D97-AF65-F5344CB8AC3E}">
        <p14:creationId xmlns:p14="http://schemas.microsoft.com/office/powerpoint/2010/main" val="2070447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FE62557F-80C1-44F5-B2C7-960E539F9729}"/>
              </a:ext>
            </a:extLst>
          </p:cNvPr>
          <p:cNvSpPr>
            <a:spLocks noGrp="1"/>
          </p:cNvSpPr>
          <p:nvPr/>
        </p:nvSpPr>
        <p:spPr>
          <a:xfrm>
            <a:off x="704850" y="400050"/>
            <a:ext cx="5715000" cy="209550"/>
          </a:xfrm>
          <a:prstGeom prst="rect">
            <a:avLst/>
          </a:prstGeom>
          <a:noFill/>
          <a:ln w="0">
            <a:noFill/>
            <a:prstDash val="solid"/>
          </a:ln>
        </p:spPr>
        <p:txBody>
          <a:bodyPr lIns="0" tIns="0" rIns="0" bIns="0" anchor="t">
            <a:normAutofit/>
          </a:bodyPr>
          <a:lstStyle>
            <a:defPPr algn="l">
              <a:defRPr sz="1050" b="1">
                <a:solidFill>
                  <a:srgbClr val="7156E8"/>
                </a:solidFill>
                <a:latin typeface="Segoe UI"/>
                <a:ea typeface="Segoe UI"/>
                <a:cs typeface="Segoe UI"/>
              </a:defRPr>
            </a:defPPr>
          </a:lstStyle>
          <a:p>
            <a:pPr algn="l">
              <a:defRPr sz="1050" b="1">
                <a:solidFill>
                  <a:srgbClr val="7156E8"/>
                </a:solidFill>
                <a:latin typeface="Segoe UI"/>
                <a:ea typeface="Segoe UI"/>
                <a:cs typeface="Segoe UI"/>
              </a:defRPr>
            </a:pPr>
            <a:r>
              <a:rPr sz="1050" b="1">
                <a:solidFill>
                  <a:srgbClr val="7156E8"/>
                </a:solidFill>
                <a:latin typeface="Segoe UI"/>
                <a:ea typeface="Segoe UI"/>
                <a:cs typeface="Segoe UI"/>
              </a:rPr>
              <a:t>STUDENT EXPERIENCE</a:t>
            </a:r>
          </a:p>
        </p:txBody>
      </p:sp>
      <p:sp>
        <p:nvSpPr>
          <p:cNvPr id="2" name="Rectangle 1">
            <a:extLst>
              <a:ext uri="{FF2B5EF4-FFF2-40B4-BE49-F238E27FC236}">
                <a16:creationId xmlns:a16="http://schemas.microsoft.com/office/drawing/2014/main" id="{A7BB2C3F-6844-4CA6-9DE0-2BA9C410C6D0}"/>
              </a:ext>
            </a:extLst>
          </p:cNvPr>
          <p:cNvSpPr>
            <a:spLocks noGrp="1"/>
          </p:cNvSpPr>
          <p:nvPr/>
        </p:nvSpPr>
        <p:spPr>
          <a:xfrm>
            <a:off x="704850" y="742950"/>
            <a:ext cx="10715625" cy="723900"/>
          </a:xfrm>
          <a:prstGeom prst="rect">
            <a:avLst/>
          </a:prstGeom>
          <a:noFill/>
          <a:ln w="0">
            <a:noFill/>
            <a:prstDash val="solid"/>
          </a:ln>
        </p:spPr>
        <p:txBody>
          <a:bodyPr lIns="0" tIns="0" rIns="0" bIns="0" anchor="t">
            <a:normAutofit/>
          </a:bodyPr>
          <a:lstStyle>
            <a:defPPr algn="l">
              <a:defRPr sz="3450" b="1">
                <a:solidFill>
                  <a:srgbClr val="22233D"/>
                </a:solidFill>
                <a:latin typeface="Segoe UI"/>
                <a:ea typeface="Segoe UI"/>
                <a:cs typeface="Segoe UI"/>
              </a:defRPr>
            </a:defPPr>
          </a:lstStyle>
          <a:p>
            <a:pPr algn="l">
              <a:defRPr sz="3450" b="1">
                <a:solidFill>
                  <a:srgbClr val="22233D"/>
                </a:solidFill>
                <a:latin typeface="Segoe UI"/>
                <a:ea typeface="Segoe UI"/>
                <a:cs typeface="Segoe UI"/>
              </a:defRPr>
            </a:pPr>
            <a:r>
              <a:rPr sz="3450" b="1">
                <a:solidFill>
                  <a:srgbClr val="22233D"/>
                </a:solidFill>
                <a:latin typeface="Segoe UI"/>
                <a:ea typeface="Segoe UI"/>
                <a:cs typeface="Segoe UI"/>
              </a:rPr>
              <a:t>Student marketplace and product discovery</a:t>
            </a:r>
          </a:p>
        </p:txBody>
      </p:sp>
      <p:sp>
        <p:nvSpPr>
          <p:cNvPr id="3" name="Rectangle 2">
            <a:extLst>
              <a:ext uri="{FF2B5EF4-FFF2-40B4-BE49-F238E27FC236}">
                <a16:creationId xmlns:a16="http://schemas.microsoft.com/office/drawing/2014/main" id="{23A2CE7C-38D8-41F1-A4F9-9EEA1671A347}"/>
              </a:ext>
            </a:extLst>
          </p:cNvPr>
          <p:cNvSpPr>
            <a:spLocks noGrp="1"/>
          </p:cNvSpPr>
          <p:nvPr/>
        </p:nvSpPr>
        <p:spPr>
          <a:xfrm>
            <a:off x="704850" y="6400800"/>
            <a:ext cx="10782300" cy="9525"/>
          </a:xfrm>
          <a:prstGeom prst="rect">
            <a:avLst/>
          </a:prstGeom>
          <a:solidFill>
            <a:srgbClr val="E4E5EF"/>
          </a:solidFill>
          <a:ln w="0">
            <a:noFill/>
            <a:prstDash val="solid"/>
          </a:ln>
        </p:spPr>
      </p:sp>
      <p:sp>
        <p:nvSpPr>
          <p:cNvPr id="4" name="Rectangle 3">
            <a:extLst>
              <a:ext uri="{FF2B5EF4-FFF2-40B4-BE49-F238E27FC236}">
                <a16:creationId xmlns:a16="http://schemas.microsoft.com/office/drawing/2014/main" id="{43A8C21F-05F8-4F53-981D-68F7A3352E6E}"/>
              </a:ext>
            </a:extLst>
          </p:cNvPr>
          <p:cNvSpPr>
            <a:spLocks noGrp="1"/>
          </p:cNvSpPr>
          <p:nvPr/>
        </p:nvSpPr>
        <p:spPr>
          <a:xfrm>
            <a:off x="704850" y="6505575"/>
            <a:ext cx="6667500" cy="190500"/>
          </a:xfrm>
          <a:prstGeom prst="rect">
            <a:avLst/>
          </a:prstGeom>
          <a:noFill/>
          <a:ln w="0">
            <a:noFill/>
            <a:prstDash val="solid"/>
          </a:ln>
        </p:spPr>
        <p:txBody>
          <a:bodyPr lIns="0" tIns="0" rIns="0" bIns="0" anchor="t">
            <a:normAutofit/>
          </a:bodyPr>
          <a:lstStyle>
            <a:defPPr algn="l">
              <a:defRPr sz="975" b="1">
                <a:solidFill>
                  <a:srgbClr val="777B90"/>
                </a:solidFill>
                <a:latin typeface="Segoe UI"/>
                <a:ea typeface="Segoe UI"/>
                <a:cs typeface="Segoe UI"/>
              </a:defRPr>
            </a:defPPr>
          </a:lstStyle>
          <a:p>
            <a:pPr algn="l">
              <a:defRPr sz="975" b="1">
                <a:solidFill>
                  <a:srgbClr val="777B90"/>
                </a:solidFill>
                <a:latin typeface="Segoe UI"/>
                <a:ea typeface="Segoe UI"/>
                <a:cs typeface="Segoe UI"/>
              </a:defRPr>
            </a:pPr>
            <a:r>
              <a:rPr sz="975" b="1">
                <a:solidFill>
                  <a:srgbClr val="777B90"/>
                </a:solidFill>
                <a:latin typeface="Segoe UI"/>
                <a:ea typeface="Segoe UI"/>
                <a:cs typeface="Segoe UI"/>
              </a:rPr>
              <a:t>HOSTELHUB  /  PROJECT PRESENTATION</a:t>
            </a:r>
          </a:p>
        </p:txBody>
      </p:sp>
      <p:sp>
        <p:nvSpPr>
          <p:cNvPr id="5" name="Rectangle 4">
            <a:extLst>
              <a:ext uri="{FF2B5EF4-FFF2-40B4-BE49-F238E27FC236}">
                <a16:creationId xmlns:a16="http://schemas.microsoft.com/office/drawing/2014/main" id="{0D8A2775-A547-4F93-9BF4-2DA8959AFAB2}"/>
              </a:ext>
            </a:extLst>
          </p:cNvPr>
          <p:cNvSpPr>
            <a:spLocks noGrp="1"/>
          </p:cNvSpPr>
          <p:nvPr/>
        </p:nvSpPr>
        <p:spPr>
          <a:xfrm>
            <a:off x="11049000" y="6486525"/>
            <a:ext cx="438150" cy="209550"/>
          </a:xfrm>
          <a:prstGeom prst="rect">
            <a:avLst/>
          </a:prstGeom>
          <a:noFill/>
          <a:ln w="0">
            <a:noFill/>
            <a:prstDash val="solid"/>
          </a:ln>
        </p:spPr>
        <p:txBody>
          <a:bodyPr lIns="0" tIns="0" rIns="0" bIns="0" anchor="t">
            <a:normAutofit/>
          </a:bodyPr>
          <a:lstStyle>
            <a:defPPr algn="r">
              <a:defRPr sz="1050" b="1">
                <a:solidFill>
                  <a:srgbClr val="7156E8"/>
                </a:solidFill>
                <a:latin typeface="Segoe UI"/>
                <a:ea typeface="Segoe UI"/>
                <a:cs typeface="Segoe UI"/>
              </a:defRPr>
            </a:defPPr>
          </a:lstStyle>
          <a:p>
            <a:pPr algn="r">
              <a:defRPr sz="1050" b="1">
                <a:solidFill>
                  <a:srgbClr val="7156E8"/>
                </a:solidFill>
                <a:latin typeface="Segoe UI"/>
                <a:ea typeface="Segoe UI"/>
                <a:cs typeface="Segoe UI"/>
              </a:defRPr>
            </a:pPr>
            <a:r>
              <a:rPr sz="1050" b="1">
                <a:solidFill>
                  <a:srgbClr val="7156E8"/>
                </a:solidFill>
                <a:latin typeface="Segoe UI"/>
                <a:ea typeface="Segoe UI"/>
                <a:cs typeface="Segoe UI"/>
              </a:rPr>
              <a:t>05</a:t>
            </a:r>
          </a:p>
        </p:txBody>
      </p:sp>
      <p:sp>
        <p:nvSpPr>
          <p:cNvPr id="6" name="Rectangle 5">
            <a:extLst>
              <a:ext uri="{FF2B5EF4-FFF2-40B4-BE49-F238E27FC236}">
                <a16:creationId xmlns:a16="http://schemas.microsoft.com/office/drawing/2014/main" id="{4606BE0E-4B8A-4EA3-B0D5-7D4BA789D626}"/>
              </a:ext>
            </a:extLst>
          </p:cNvPr>
          <p:cNvSpPr>
            <a:spLocks noGrp="1"/>
          </p:cNvSpPr>
          <p:nvPr/>
        </p:nvSpPr>
        <p:spPr>
          <a:xfrm>
            <a:off x="781050" y="1581150"/>
            <a:ext cx="9525000" cy="323850"/>
          </a:xfrm>
          <a:prstGeom prst="rect">
            <a:avLst/>
          </a:prstGeom>
          <a:noFill/>
          <a:ln w="0">
            <a:noFill/>
            <a:prstDash val="solid"/>
          </a:ln>
        </p:spPr>
        <p:txBody>
          <a:bodyPr lIns="0" tIns="0" rIns="0" bIns="0" anchor="t">
            <a:normAutofit/>
          </a:bodyPr>
          <a:lstStyle>
            <a:defPPr algn="l">
              <a:defRPr sz="1650" b="0">
                <a:solidFill>
                  <a:srgbClr val="62667B"/>
                </a:solidFill>
                <a:latin typeface="Segoe UI"/>
                <a:ea typeface="Segoe UI"/>
                <a:cs typeface="Segoe UI"/>
              </a:defRPr>
            </a:defPPr>
          </a:lstStyle>
          <a:p>
            <a:pPr algn="l">
              <a:defRPr sz="1650" b="0">
                <a:solidFill>
                  <a:srgbClr val="62667B"/>
                </a:solidFill>
                <a:latin typeface="Segoe UI"/>
                <a:ea typeface="Segoe UI"/>
                <a:cs typeface="Segoe UI"/>
              </a:defRPr>
            </a:pPr>
            <a:r>
              <a:rPr sz="1650" b="0">
                <a:solidFill>
                  <a:srgbClr val="62667B"/>
                </a:solidFill>
                <a:latin typeface="Segoe UI"/>
                <a:ea typeface="Segoe UI"/>
                <a:cs typeface="Segoe UI"/>
              </a:rPr>
              <a:t>A product journey from discovery to follow-up</a:t>
            </a:r>
          </a:p>
        </p:txBody>
      </p:sp>
      <p:sp>
        <p:nvSpPr>
          <p:cNvPr id="7" name="Rectangle 6">
            <a:extLst>
              <a:ext uri="{FF2B5EF4-FFF2-40B4-BE49-F238E27FC236}">
                <a16:creationId xmlns:a16="http://schemas.microsoft.com/office/drawing/2014/main" id="{4FF34963-68DE-435E-B42D-D8A3100DF480}"/>
              </a:ext>
            </a:extLst>
          </p:cNvPr>
          <p:cNvSpPr>
            <a:spLocks noGrp="1"/>
          </p:cNvSpPr>
          <p:nvPr/>
        </p:nvSpPr>
        <p:spPr>
          <a:xfrm>
            <a:off x="781050" y="2390775"/>
            <a:ext cx="762000" cy="495300"/>
          </a:xfrm>
          <a:prstGeom prst="rect">
            <a:avLst/>
          </a:prstGeom>
          <a:noFill/>
          <a:ln w="0">
            <a:noFill/>
            <a:prstDash val="solid"/>
          </a:ln>
        </p:spPr>
        <p:txBody>
          <a:bodyPr lIns="0" tIns="0" rIns="0" bIns="0" anchor="t">
            <a:normAutofit/>
          </a:bodyPr>
          <a:lstStyle>
            <a:defPPr algn="l">
              <a:defRPr sz="3000" b="1">
                <a:solidFill>
                  <a:srgbClr val="7156E8"/>
                </a:solidFill>
                <a:latin typeface="Segoe UI"/>
                <a:ea typeface="Segoe UI"/>
                <a:cs typeface="Segoe UI"/>
              </a:defRPr>
            </a:defPPr>
          </a:lstStyle>
          <a:p>
            <a:pPr algn="l">
              <a:defRPr sz="3000" b="1">
                <a:solidFill>
                  <a:srgbClr val="7156E8"/>
                </a:solidFill>
                <a:latin typeface="Segoe UI"/>
                <a:ea typeface="Segoe UI"/>
                <a:cs typeface="Segoe UI"/>
              </a:defRPr>
            </a:pPr>
            <a:r>
              <a:rPr sz="3000" b="1">
                <a:solidFill>
                  <a:srgbClr val="7156E8"/>
                </a:solidFill>
                <a:latin typeface="Segoe UI"/>
                <a:ea typeface="Segoe UI"/>
                <a:cs typeface="Segoe UI"/>
              </a:rPr>
              <a:t>01</a:t>
            </a:r>
          </a:p>
        </p:txBody>
      </p:sp>
      <p:sp>
        <p:nvSpPr>
          <p:cNvPr id="8" name="Rectangle 7">
            <a:extLst>
              <a:ext uri="{FF2B5EF4-FFF2-40B4-BE49-F238E27FC236}">
                <a16:creationId xmlns:a16="http://schemas.microsoft.com/office/drawing/2014/main" id="{0D0999F4-00CE-425C-A8CC-FD87009FD3E7}"/>
              </a:ext>
            </a:extLst>
          </p:cNvPr>
          <p:cNvSpPr>
            <a:spLocks noGrp="1"/>
          </p:cNvSpPr>
          <p:nvPr/>
        </p:nvSpPr>
        <p:spPr>
          <a:xfrm>
            <a:off x="781050" y="3067050"/>
            <a:ext cx="2143125" cy="38100"/>
          </a:xfrm>
          <a:prstGeom prst="rect">
            <a:avLst/>
          </a:prstGeom>
          <a:solidFill>
            <a:srgbClr val="7156E8"/>
          </a:solidFill>
          <a:ln w="0">
            <a:noFill/>
            <a:prstDash val="solid"/>
          </a:ln>
        </p:spPr>
      </p:sp>
      <p:sp>
        <p:nvSpPr>
          <p:cNvPr id="9" name="Rectangle 8">
            <a:extLst>
              <a:ext uri="{FF2B5EF4-FFF2-40B4-BE49-F238E27FC236}">
                <a16:creationId xmlns:a16="http://schemas.microsoft.com/office/drawing/2014/main" id="{439B78F5-9850-4B88-832A-6B66FFDB5909}"/>
              </a:ext>
            </a:extLst>
          </p:cNvPr>
          <p:cNvSpPr>
            <a:spLocks noGrp="1"/>
          </p:cNvSpPr>
          <p:nvPr/>
        </p:nvSpPr>
        <p:spPr>
          <a:xfrm>
            <a:off x="781050" y="3324225"/>
            <a:ext cx="2143125" cy="381000"/>
          </a:xfrm>
          <a:prstGeom prst="rect">
            <a:avLst/>
          </a:prstGeom>
          <a:noFill/>
          <a:ln w="0">
            <a:noFill/>
            <a:prstDash val="solid"/>
          </a:ln>
        </p:spPr>
        <p:txBody>
          <a:bodyPr lIns="0" tIns="0" rIns="0" bIns="0" anchor="t">
            <a:normAutofit/>
          </a:bodyPr>
          <a:lstStyle>
            <a:defPPr algn="l">
              <a:defRPr sz="2025" b="1">
                <a:solidFill>
                  <a:srgbClr val="22233D"/>
                </a:solidFill>
                <a:latin typeface="Segoe UI"/>
                <a:ea typeface="Segoe UI"/>
                <a:cs typeface="Segoe UI"/>
              </a:defRPr>
            </a:defPPr>
          </a:lstStyle>
          <a:p>
            <a:pPr algn="l">
              <a:defRPr sz="2025" b="1">
                <a:solidFill>
                  <a:srgbClr val="22233D"/>
                </a:solidFill>
                <a:latin typeface="Segoe UI"/>
                <a:ea typeface="Segoe UI"/>
                <a:cs typeface="Segoe UI"/>
              </a:defRPr>
            </a:pPr>
            <a:r>
              <a:rPr sz="2025" b="1">
                <a:solidFill>
                  <a:srgbClr val="22233D"/>
                </a:solidFill>
                <a:latin typeface="Segoe UI"/>
                <a:ea typeface="Segoe UI"/>
                <a:cs typeface="Segoe UI"/>
              </a:rPr>
              <a:t>Browse</a:t>
            </a:r>
          </a:p>
        </p:txBody>
      </p:sp>
      <p:sp>
        <p:nvSpPr>
          <p:cNvPr id="10" name="Rectangle 9">
            <a:extLst>
              <a:ext uri="{FF2B5EF4-FFF2-40B4-BE49-F238E27FC236}">
                <a16:creationId xmlns:a16="http://schemas.microsoft.com/office/drawing/2014/main" id="{AEAAAD7A-7B2C-4A28-8F62-4AE841D7B8D5}"/>
              </a:ext>
            </a:extLst>
          </p:cNvPr>
          <p:cNvSpPr>
            <a:spLocks noGrp="1"/>
          </p:cNvSpPr>
          <p:nvPr/>
        </p:nvSpPr>
        <p:spPr>
          <a:xfrm>
            <a:off x="781050" y="3848100"/>
            <a:ext cx="2171700" cy="1123950"/>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Explore available products by category and shop.</a:t>
            </a:r>
          </a:p>
        </p:txBody>
      </p:sp>
      <p:sp>
        <p:nvSpPr>
          <p:cNvPr id="11" name="Rectangle 10">
            <a:extLst>
              <a:ext uri="{FF2B5EF4-FFF2-40B4-BE49-F238E27FC236}">
                <a16:creationId xmlns:a16="http://schemas.microsoft.com/office/drawing/2014/main" id="{B726F77F-1BAB-443C-9E78-78F0DD869AFD}"/>
              </a:ext>
            </a:extLst>
          </p:cNvPr>
          <p:cNvSpPr>
            <a:spLocks noGrp="1"/>
          </p:cNvSpPr>
          <p:nvPr/>
        </p:nvSpPr>
        <p:spPr>
          <a:xfrm>
            <a:off x="3524250" y="2390775"/>
            <a:ext cx="762000" cy="495300"/>
          </a:xfrm>
          <a:prstGeom prst="rect">
            <a:avLst/>
          </a:prstGeom>
          <a:noFill/>
          <a:ln w="0">
            <a:noFill/>
            <a:prstDash val="solid"/>
          </a:ln>
        </p:spPr>
        <p:txBody>
          <a:bodyPr lIns="0" tIns="0" rIns="0" bIns="0" anchor="t">
            <a:normAutofit/>
          </a:bodyPr>
          <a:lstStyle>
            <a:defPPr algn="l">
              <a:defRPr sz="3000" b="1">
                <a:solidFill>
                  <a:srgbClr val="27B99A"/>
                </a:solidFill>
                <a:latin typeface="Segoe UI"/>
                <a:ea typeface="Segoe UI"/>
                <a:cs typeface="Segoe UI"/>
              </a:defRPr>
            </a:defPPr>
          </a:lstStyle>
          <a:p>
            <a:pPr algn="l">
              <a:defRPr sz="3000" b="1">
                <a:solidFill>
                  <a:srgbClr val="27B99A"/>
                </a:solidFill>
                <a:latin typeface="Segoe UI"/>
                <a:ea typeface="Segoe UI"/>
                <a:cs typeface="Segoe UI"/>
              </a:defRPr>
            </a:pPr>
            <a:r>
              <a:rPr sz="3000" b="1">
                <a:solidFill>
                  <a:srgbClr val="27B99A"/>
                </a:solidFill>
                <a:latin typeface="Segoe UI"/>
                <a:ea typeface="Segoe UI"/>
                <a:cs typeface="Segoe UI"/>
              </a:rPr>
              <a:t>02</a:t>
            </a:r>
          </a:p>
        </p:txBody>
      </p:sp>
      <p:sp>
        <p:nvSpPr>
          <p:cNvPr id="12" name="Rectangle 11">
            <a:extLst>
              <a:ext uri="{FF2B5EF4-FFF2-40B4-BE49-F238E27FC236}">
                <a16:creationId xmlns:a16="http://schemas.microsoft.com/office/drawing/2014/main" id="{090EBCCB-5CB3-4456-9473-457EF06F0A6F}"/>
              </a:ext>
            </a:extLst>
          </p:cNvPr>
          <p:cNvSpPr>
            <a:spLocks noGrp="1"/>
          </p:cNvSpPr>
          <p:nvPr/>
        </p:nvSpPr>
        <p:spPr>
          <a:xfrm>
            <a:off x="3524250" y="3067050"/>
            <a:ext cx="2143125" cy="38100"/>
          </a:xfrm>
          <a:prstGeom prst="rect">
            <a:avLst/>
          </a:prstGeom>
          <a:solidFill>
            <a:srgbClr val="27B99A"/>
          </a:solidFill>
          <a:ln w="0">
            <a:noFill/>
            <a:prstDash val="solid"/>
          </a:ln>
        </p:spPr>
      </p:sp>
      <p:sp>
        <p:nvSpPr>
          <p:cNvPr id="13" name="Rectangle 12">
            <a:extLst>
              <a:ext uri="{FF2B5EF4-FFF2-40B4-BE49-F238E27FC236}">
                <a16:creationId xmlns:a16="http://schemas.microsoft.com/office/drawing/2014/main" id="{248D9FF2-E2A6-4C69-BAC2-1B707EC511A0}"/>
              </a:ext>
            </a:extLst>
          </p:cNvPr>
          <p:cNvSpPr>
            <a:spLocks noGrp="1"/>
          </p:cNvSpPr>
          <p:nvPr/>
        </p:nvSpPr>
        <p:spPr>
          <a:xfrm>
            <a:off x="3524250" y="3324225"/>
            <a:ext cx="2143125" cy="381000"/>
          </a:xfrm>
          <a:prstGeom prst="rect">
            <a:avLst/>
          </a:prstGeom>
          <a:noFill/>
          <a:ln w="0">
            <a:noFill/>
            <a:prstDash val="solid"/>
          </a:ln>
        </p:spPr>
        <p:txBody>
          <a:bodyPr lIns="0" tIns="0" rIns="0" bIns="0" anchor="t">
            <a:normAutofit/>
          </a:bodyPr>
          <a:lstStyle>
            <a:defPPr algn="l">
              <a:defRPr sz="2025" b="1">
                <a:solidFill>
                  <a:srgbClr val="22233D"/>
                </a:solidFill>
                <a:latin typeface="Segoe UI"/>
                <a:ea typeface="Segoe UI"/>
                <a:cs typeface="Segoe UI"/>
              </a:defRPr>
            </a:defPPr>
          </a:lstStyle>
          <a:p>
            <a:pPr algn="l">
              <a:defRPr sz="2025" b="1">
                <a:solidFill>
                  <a:srgbClr val="22233D"/>
                </a:solidFill>
                <a:latin typeface="Segoe UI"/>
                <a:ea typeface="Segoe UI"/>
                <a:cs typeface="Segoe UI"/>
              </a:defRPr>
            </a:pPr>
            <a:r>
              <a:rPr sz="2025" b="1">
                <a:solidFill>
                  <a:srgbClr val="22233D"/>
                </a:solidFill>
                <a:latin typeface="Segoe UI"/>
                <a:ea typeface="Segoe UI"/>
                <a:cs typeface="Segoe UI"/>
              </a:rPr>
              <a:t>View</a:t>
            </a:r>
          </a:p>
        </p:txBody>
      </p:sp>
      <p:sp>
        <p:nvSpPr>
          <p:cNvPr id="14" name="Rectangle 13">
            <a:extLst>
              <a:ext uri="{FF2B5EF4-FFF2-40B4-BE49-F238E27FC236}">
                <a16:creationId xmlns:a16="http://schemas.microsoft.com/office/drawing/2014/main" id="{EEBD7F7E-D498-4331-B9A3-B9FFABB1CA62}"/>
              </a:ext>
            </a:extLst>
          </p:cNvPr>
          <p:cNvSpPr>
            <a:spLocks noGrp="1"/>
          </p:cNvSpPr>
          <p:nvPr/>
        </p:nvSpPr>
        <p:spPr>
          <a:xfrm>
            <a:off x="3524250" y="3848100"/>
            <a:ext cx="2171700" cy="1123950"/>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Open product details, description, price and image.</a:t>
            </a:r>
          </a:p>
        </p:txBody>
      </p:sp>
      <p:sp>
        <p:nvSpPr>
          <p:cNvPr id="15" name="Rectangle 14">
            <a:extLst>
              <a:ext uri="{FF2B5EF4-FFF2-40B4-BE49-F238E27FC236}">
                <a16:creationId xmlns:a16="http://schemas.microsoft.com/office/drawing/2014/main" id="{3D089027-E460-452E-B0E8-A2BE9B106183}"/>
              </a:ext>
            </a:extLst>
          </p:cNvPr>
          <p:cNvSpPr>
            <a:spLocks noGrp="1"/>
          </p:cNvSpPr>
          <p:nvPr/>
        </p:nvSpPr>
        <p:spPr>
          <a:xfrm>
            <a:off x="6267450" y="2390775"/>
            <a:ext cx="762000" cy="495300"/>
          </a:xfrm>
          <a:prstGeom prst="rect">
            <a:avLst/>
          </a:prstGeom>
          <a:noFill/>
          <a:ln w="0">
            <a:noFill/>
            <a:prstDash val="solid"/>
          </a:ln>
        </p:spPr>
        <p:txBody>
          <a:bodyPr lIns="0" tIns="0" rIns="0" bIns="0" anchor="t">
            <a:normAutofit/>
          </a:bodyPr>
          <a:lstStyle>
            <a:defPPr algn="l">
              <a:defRPr sz="3000" b="1">
                <a:solidFill>
                  <a:srgbClr val="E9A83A"/>
                </a:solidFill>
                <a:latin typeface="Segoe UI"/>
                <a:ea typeface="Segoe UI"/>
                <a:cs typeface="Segoe UI"/>
              </a:defRPr>
            </a:defPPr>
          </a:lstStyle>
          <a:p>
            <a:pPr algn="l">
              <a:defRPr sz="3000" b="1">
                <a:solidFill>
                  <a:srgbClr val="E9A83A"/>
                </a:solidFill>
                <a:latin typeface="Segoe UI"/>
                <a:ea typeface="Segoe UI"/>
                <a:cs typeface="Segoe UI"/>
              </a:defRPr>
            </a:pPr>
            <a:r>
              <a:rPr sz="3000" b="1">
                <a:solidFill>
                  <a:srgbClr val="E9A83A"/>
                </a:solidFill>
                <a:latin typeface="Segoe UI"/>
                <a:ea typeface="Segoe UI"/>
                <a:cs typeface="Segoe UI"/>
              </a:rPr>
              <a:t>03</a:t>
            </a:r>
          </a:p>
        </p:txBody>
      </p:sp>
      <p:sp>
        <p:nvSpPr>
          <p:cNvPr id="16" name="Rectangle 15">
            <a:extLst>
              <a:ext uri="{FF2B5EF4-FFF2-40B4-BE49-F238E27FC236}">
                <a16:creationId xmlns:a16="http://schemas.microsoft.com/office/drawing/2014/main" id="{8840F34D-9E16-4852-A008-630306AA8526}"/>
              </a:ext>
            </a:extLst>
          </p:cNvPr>
          <p:cNvSpPr>
            <a:spLocks noGrp="1"/>
          </p:cNvSpPr>
          <p:nvPr/>
        </p:nvSpPr>
        <p:spPr>
          <a:xfrm>
            <a:off x="6267450" y="3067050"/>
            <a:ext cx="2143125" cy="38100"/>
          </a:xfrm>
          <a:prstGeom prst="rect">
            <a:avLst/>
          </a:prstGeom>
          <a:solidFill>
            <a:srgbClr val="E9A83A"/>
          </a:solidFill>
          <a:ln w="0">
            <a:noFill/>
            <a:prstDash val="solid"/>
          </a:ln>
        </p:spPr>
      </p:sp>
      <p:sp>
        <p:nvSpPr>
          <p:cNvPr id="17" name="Rectangle 16">
            <a:extLst>
              <a:ext uri="{FF2B5EF4-FFF2-40B4-BE49-F238E27FC236}">
                <a16:creationId xmlns:a16="http://schemas.microsoft.com/office/drawing/2014/main" id="{5108B5A0-EAAF-4921-9B15-A975C058999F}"/>
              </a:ext>
            </a:extLst>
          </p:cNvPr>
          <p:cNvSpPr>
            <a:spLocks noGrp="1"/>
          </p:cNvSpPr>
          <p:nvPr/>
        </p:nvSpPr>
        <p:spPr>
          <a:xfrm>
            <a:off x="6267450" y="3324225"/>
            <a:ext cx="2143125" cy="381000"/>
          </a:xfrm>
          <a:prstGeom prst="rect">
            <a:avLst/>
          </a:prstGeom>
          <a:noFill/>
          <a:ln w="0">
            <a:noFill/>
            <a:prstDash val="solid"/>
          </a:ln>
        </p:spPr>
        <p:txBody>
          <a:bodyPr lIns="0" tIns="0" rIns="0" bIns="0" anchor="t">
            <a:normAutofit/>
          </a:bodyPr>
          <a:lstStyle>
            <a:defPPr algn="l">
              <a:defRPr sz="2025" b="1">
                <a:solidFill>
                  <a:srgbClr val="22233D"/>
                </a:solidFill>
                <a:latin typeface="Segoe UI"/>
                <a:ea typeface="Segoe UI"/>
                <a:cs typeface="Segoe UI"/>
              </a:defRPr>
            </a:defPPr>
          </a:lstStyle>
          <a:p>
            <a:pPr algn="l">
              <a:defRPr sz="2025" b="1">
                <a:solidFill>
                  <a:srgbClr val="22233D"/>
                </a:solidFill>
                <a:latin typeface="Segoe UI"/>
                <a:ea typeface="Segoe UI"/>
                <a:cs typeface="Segoe UI"/>
              </a:defRPr>
            </a:pPr>
            <a:r>
              <a:rPr sz="2025" b="1">
                <a:solidFill>
                  <a:srgbClr val="22233D"/>
                </a:solidFill>
                <a:latin typeface="Segoe UI"/>
                <a:ea typeface="Segoe UI"/>
                <a:cs typeface="Segoe UI"/>
              </a:rPr>
              <a:t>Choose</a:t>
            </a:r>
          </a:p>
        </p:txBody>
      </p:sp>
      <p:sp>
        <p:nvSpPr>
          <p:cNvPr id="18" name="Rectangle 17">
            <a:extLst>
              <a:ext uri="{FF2B5EF4-FFF2-40B4-BE49-F238E27FC236}">
                <a16:creationId xmlns:a16="http://schemas.microsoft.com/office/drawing/2014/main" id="{E6709CC1-5678-4932-A415-4CA14C2DDDB6}"/>
              </a:ext>
            </a:extLst>
          </p:cNvPr>
          <p:cNvSpPr>
            <a:spLocks noGrp="1"/>
          </p:cNvSpPr>
          <p:nvPr/>
        </p:nvSpPr>
        <p:spPr>
          <a:xfrm>
            <a:off x="6267450" y="3848100"/>
            <a:ext cx="2171700" cy="1123950"/>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Add to wishlist, add to cart or use Buy Now.</a:t>
            </a:r>
          </a:p>
        </p:txBody>
      </p:sp>
      <p:sp>
        <p:nvSpPr>
          <p:cNvPr id="19" name="Rectangle 18">
            <a:extLst>
              <a:ext uri="{FF2B5EF4-FFF2-40B4-BE49-F238E27FC236}">
                <a16:creationId xmlns:a16="http://schemas.microsoft.com/office/drawing/2014/main" id="{AAAFD0A5-7F3C-443B-B5FE-8FF2670DAB26}"/>
              </a:ext>
            </a:extLst>
          </p:cNvPr>
          <p:cNvSpPr>
            <a:spLocks noGrp="1"/>
          </p:cNvSpPr>
          <p:nvPr/>
        </p:nvSpPr>
        <p:spPr>
          <a:xfrm>
            <a:off x="9010650" y="2390775"/>
            <a:ext cx="762000" cy="495300"/>
          </a:xfrm>
          <a:prstGeom prst="rect">
            <a:avLst/>
          </a:prstGeom>
          <a:noFill/>
          <a:ln w="0">
            <a:noFill/>
            <a:prstDash val="solid"/>
          </a:ln>
        </p:spPr>
        <p:txBody>
          <a:bodyPr lIns="0" tIns="0" rIns="0" bIns="0" anchor="t">
            <a:normAutofit/>
          </a:bodyPr>
          <a:lstStyle>
            <a:defPPr algn="l">
              <a:defRPr sz="3000" b="1">
                <a:solidFill>
                  <a:srgbClr val="E27668"/>
                </a:solidFill>
                <a:latin typeface="Segoe UI"/>
                <a:ea typeface="Segoe UI"/>
                <a:cs typeface="Segoe UI"/>
              </a:defRPr>
            </a:defPPr>
          </a:lstStyle>
          <a:p>
            <a:pPr algn="l">
              <a:defRPr sz="3000" b="1">
                <a:solidFill>
                  <a:srgbClr val="E27668"/>
                </a:solidFill>
                <a:latin typeface="Segoe UI"/>
                <a:ea typeface="Segoe UI"/>
                <a:cs typeface="Segoe UI"/>
              </a:defRPr>
            </a:pPr>
            <a:r>
              <a:rPr sz="3000" b="1">
                <a:solidFill>
                  <a:srgbClr val="E27668"/>
                </a:solidFill>
                <a:latin typeface="Segoe UI"/>
                <a:ea typeface="Segoe UI"/>
                <a:cs typeface="Segoe UI"/>
              </a:rPr>
              <a:t>04</a:t>
            </a:r>
          </a:p>
        </p:txBody>
      </p:sp>
      <p:sp>
        <p:nvSpPr>
          <p:cNvPr id="20" name="Rectangle 19">
            <a:extLst>
              <a:ext uri="{FF2B5EF4-FFF2-40B4-BE49-F238E27FC236}">
                <a16:creationId xmlns:a16="http://schemas.microsoft.com/office/drawing/2014/main" id="{043DCA6B-20B2-461C-9927-BAB254D470BA}"/>
              </a:ext>
            </a:extLst>
          </p:cNvPr>
          <p:cNvSpPr>
            <a:spLocks noGrp="1"/>
          </p:cNvSpPr>
          <p:nvPr/>
        </p:nvSpPr>
        <p:spPr>
          <a:xfrm>
            <a:off x="9010650" y="3067050"/>
            <a:ext cx="2143125" cy="38100"/>
          </a:xfrm>
          <a:prstGeom prst="rect">
            <a:avLst/>
          </a:prstGeom>
          <a:solidFill>
            <a:srgbClr val="E27668"/>
          </a:solidFill>
          <a:ln w="0">
            <a:noFill/>
            <a:prstDash val="solid"/>
          </a:ln>
        </p:spPr>
      </p:sp>
      <p:sp>
        <p:nvSpPr>
          <p:cNvPr id="21" name="Rectangle 20">
            <a:extLst>
              <a:ext uri="{FF2B5EF4-FFF2-40B4-BE49-F238E27FC236}">
                <a16:creationId xmlns:a16="http://schemas.microsoft.com/office/drawing/2014/main" id="{797F23A1-8483-4141-918C-4474F46AD146}"/>
              </a:ext>
            </a:extLst>
          </p:cNvPr>
          <p:cNvSpPr>
            <a:spLocks noGrp="1"/>
          </p:cNvSpPr>
          <p:nvPr/>
        </p:nvSpPr>
        <p:spPr>
          <a:xfrm>
            <a:off x="9010650" y="3324225"/>
            <a:ext cx="2143125" cy="381000"/>
          </a:xfrm>
          <a:prstGeom prst="rect">
            <a:avLst/>
          </a:prstGeom>
          <a:noFill/>
          <a:ln w="0">
            <a:noFill/>
            <a:prstDash val="solid"/>
          </a:ln>
        </p:spPr>
        <p:txBody>
          <a:bodyPr lIns="0" tIns="0" rIns="0" bIns="0" anchor="t">
            <a:normAutofit/>
          </a:bodyPr>
          <a:lstStyle>
            <a:defPPr algn="l">
              <a:defRPr sz="2025" b="1">
                <a:solidFill>
                  <a:srgbClr val="22233D"/>
                </a:solidFill>
                <a:latin typeface="Segoe UI"/>
                <a:ea typeface="Segoe UI"/>
                <a:cs typeface="Segoe UI"/>
              </a:defRPr>
            </a:defPPr>
          </a:lstStyle>
          <a:p>
            <a:pPr algn="l">
              <a:defRPr sz="2025" b="1">
                <a:solidFill>
                  <a:srgbClr val="22233D"/>
                </a:solidFill>
                <a:latin typeface="Segoe UI"/>
                <a:ea typeface="Segoe UI"/>
                <a:cs typeface="Segoe UI"/>
              </a:defRPr>
            </a:pPr>
            <a:r>
              <a:rPr sz="2025" b="1">
                <a:solidFill>
                  <a:srgbClr val="22233D"/>
                </a:solidFill>
                <a:latin typeface="Segoe UI"/>
                <a:ea typeface="Segoe UI"/>
                <a:cs typeface="Segoe UI"/>
              </a:rPr>
              <a:t>Follow</a:t>
            </a:r>
          </a:p>
        </p:txBody>
      </p:sp>
      <p:sp>
        <p:nvSpPr>
          <p:cNvPr id="22" name="Rectangle 21">
            <a:extLst>
              <a:ext uri="{FF2B5EF4-FFF2-40B4-BE49-F238E27FC236}">
                <a16:creationId xmlns:a16="http://schemas.microsoft.com/office/drawing/2014/main" id="{B10F5CAD-0D3C-46BB-B4EA-B8175F6E15F1}"/>
              </a:ext>
            </a:extLst>
          </p:cNvPr>
          <p:cNvSpPr>
            <a:spLocks noGrp="1"/>
          </p:cNvSpPr>
          <p:nvPr/>
        </p:nvSpPr>
        <p:spPr>
          <a:xfrm>
            <a:off x="9010650" y="3848100"/>
            <a:ext cx="2171700" cy="1123950"/>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Review placed orders from My Orders.</a:t>
            </a:r>
          </a:p>
        </p:txBody>
      </p:sp>
      <p:sp>
        <p:nvSpPr>
          <p:cNvPr id="23" name="Rectangle: Rounded Corners 22">
            <a:extLst>
              <a:ext uri="{FF2B5EF4-FFF2-40B4-BE49-F238E27FC236}">
                <a16:creationId xmlns:a16="http://schemas.microsoft.com/office/drawing/2014/main" id="{E042D26B-2BB2-422E-822A-8612C0A9F1F4}"/>
              </a:ext>
            </a:extLst>
          </p:cNvPr>
          <p:cNvSpPr>
            <a:spLocks noGrp="1"/>
          </p:cNvSpPr>
          <p:nvPr/>
        </p:nvSpPr>
        <p:spPr>
          <a:xfrm>
            <a:off x="781050" y="5391150"/>
            <a:ext cx="10382250" cy="514350"/>
          </a:xfrm>
          <a:prstGeom prst="roundRect">
            <a:avLst>
              <a:gd name="adj" fmla="val 22222"/>
            </a:avLst>
          </a:prstGeom>
          <a:solidFill>
            <a:srgbClr val="F0EDFF"/>
          </a:solidFill>
          <a:ln w="0">
            <a:solidFill>
              <a:srgbClr val="F0EDFF"/>
            </a:solidFill>
            <a:prstDash val="solid"/>
          </a:ln>
        </p:spPr>
      </p:sp>
      <p:sp>
        <p:nvSpPr>
          <p:cNvPr id="24" name="Rectangle 23">
            <a:extLst>
              <a:ext uri="{FF2B5EF4-FFF2-40B4-BE49-F238E27FC236}">
                <a16:creationId xmlns:a16="http://schemas.microsoft.com/office/drawing/2014/main" id="{2302ACF0-D171-4A40-84F8-57ABEFDA7B80}"/>
              </a:ext>
            </a:extLst>
          </p:cNvPr>
          <p:cNvSpPr>
            <a:spLocks noGrp="1"/>
          </p:cNvSpPr>
          <p:nvPr/>
        </p:nvSpPr>
        <p:spPr>
          <a:xfrm>
            <a:off x="1009650" y="5524500"/>
            <a:ext cx="9906000" cy="247650"/>
          </a:xfrm>
          <a:prstGeom prst="rect">
            <a:avLst/>
          </a:prstGeom>
          <a:noFill/>
          <a:ln w="0">
            <a:noFill/>
            <a:prstDash val="solid"/>
          </a:ln>
        </p:spPr>
        <p:txBody>
          <a:bodyPr lIns="0" tIns="0" rIns="0" bIns="0" anchor="t">
            <a:normAutofit/>
          </a:bodyPr>
          <a:lstStyle>
            <a:defPPr algn="l">
              <a:defRPr sz="1425" b="1">
                <a:solidFill>
                  <a:srgbClr val="24234A"/>
                </a:solidFill>
                <a:latin typeface="Segoe UI"/>
                <a:ea typeface="Segoe UI"/>
                <a:cs typeface="Segoe UI"/>
              </a:defRPr>
            </a:defPPr>
          </a:lstStyle>
          <a:p>
            <a:pPr algn="l">
              <a:defRPr sz="1425" b="1">
                <a:solidFill>
                  <a:srgbClr val="24234A"/>
                </a:solidFill>
                <a:latin typeface="Segoe UI"/>
                <a:ea typeface="Segoe UI"/>
                <a:cs typeface="Segoe UI"/>
              </a:defRPr>
            </a:pPr>
            <a:r>
              <a:rPr sz="1425" b="1">
                <a:solidFill>
                  <a:srgbClr val="24234A"/>
                </a:solidFill>
                <a:latin typeface="Segoe UI"/>
                <a:ea typeface="Segoe UI"/>
                <a:cs typeface="Segoe UI"/>
              </a:rPr>
              <a:t>Food  /  Clothing  /  Everyday campus products</a:t>
            </a:r>
          </a:p>
        </p:txBody>
      </p:sp>
    </p:spTree>
    <p:extLst>
      <p:ext uri="{BB962C8B-B14F-4D97-AF65-F5344CB8AC3E}">
        <p14:creationId xmlns:p14="http://schemas.microsoft.com/office/powerpoint/2010/main" val="1894312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71832"/>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1EECD1EB-DD0B-4AE3-8EA7-50E35A64C0A5}"/>
              </a:ext>
            </a:extLst>
          </p:cNvPr>
          <p:cNvSpPr>
            <a:spLocks noGrp="1"/>
          </p:cNvSpPr>
          <p:nvPr/>
        </p:nvSpPr>
        <p:spPr>
          <a:xfrm>
            <a:off x="704850" y="400050"/>
            <a:ext cx="5715000" cy="209550"/>
          </a:xfrm>
          <a:prstGeom prst="rect">
            <a:avLst/>
          </a:prstGeom>
          <a:noFill/>
          <a:ln w="0">
            <a:noFill/>
            <a:prstDash val="solid"/>
          </a:ln>
        </p:spPr>
        <p:txBody>
          <a:bodyPr lIns="0" tIns="0" rIns="0" bIns="0" anchor="t">
            <a:normAutofit/>
          </a:bodyPr>
          <a:lstStyle>
            <a:defPPr algn="l">
              <a:defRPr sz="1050" b="1">
                <a:solidFill>
                  <a:srgbClr val="9178FF"/>
                </a:solidFill>
                <a:latin typeface="Segoe UI"/>
                <a:ea typeface="Segoe UI"/>
                <a:cs typeface="Segoe UI"/>
              </a:defRPr>
            </a:defPPr>
          </a:lstStyle>
          <a:p>
            <a:pPr algn="l">
              <a:defRPr sz="1050" b="1">
                <a:solidFill>
                  <a:srgbClr val="9178FF"/>
                </a:solidFill>
                <a:latin typeface="Segoe UI"/>
                <a:ea typeface="Segoe UI"/>
                <a:cs typeface="Segoe UI"/>
              </a:defRPr>
            </a:pPr>
            <a:r>
              <a:rPr sz="1050" b="1">
                <a:solidFill>
                  <a:srgbClr val="9178FF"/>
                </a:solidFill>
                <a:latin typeface="Segoe UI"/>
                <a:ea typeface="Segoe UI"/>
                <a:cs typeface="Segoe UI"/>
              </a:rPr>
              <a:t>STUDENT EXPERIENCE</a:t>
            </a:r>
          </a:p>
        </p:txBody>
      </p:sp>
      <p:sp>
        <p:nvSpPr>
          <p:cNvPr id="2" name="Rectangle 1">
            <a:extLst>
              <a:ext uri="{FF2B5EF4-FFF2-40B4-BE49-F238E27FC236}">
                <a16:creationId xmlns:a16="http://schemas.microsoft.com/office/drawing/2014/main" id="{D83310F3-0D32-4DAC-BAB3-440F409B1227}"/>
              </a:ext>
            </a:extLst>
          </p:cNvPr>
          <p:cNvSpPr>
            <a:spLocks noGrp="1"/>
          </p:cNvSpPr>
          <p:nvPr/>
        </p:nvSpPr>
        <p:spPr>
          <a:xfrm>
            <a:off x="704850" y="742950"/>
            <a:ext cx="10715625" cy="723900"/>
          </a:xfrm>
          <a:prstGeom prst="rect">
            <a:avLst/>
          </a:prstGeom>
          <a:noFill/>
          <a:ln w="0">
            <a:noFill/>
            <a:prstDash val="solid"/>
          </a:ln>
        </p:spPr>
        <p:txBody>
          <a:bodyPr lIns="0" tIns="0" rIns="0" bIns="0" anchor="t">
            <a:normAutofit/>
          </a:bodyPr>
          <a:lstStyle>
            <a:defPPr algn="l">
              <a:defRPr sz="3450" b="1">
                <a:solidFill>
                  <a:srgbClr val="FFFFFF"/>
                </a:solidFill>
                <a:latin typeface="Segoe UI"/>
                <a:ea typeface="Segoe UI"/>
                <a:cs typeface="Segoe UI"/>
              </a:defRPr>
            </a:defPPr>
          </a:lstStyle>
          <a:p>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Orders stay visible after checkout</a:t>
            </a:r>
          </a:p>
        </p:txBody>
      </p:sp>
      <p:sp>
        <p:nvSpPr>
          <p:cNvPr id="3" name="Rectangle 2">
            <a:extLst>
              <a:ext uri="{FF2B5EF4-FFF2-40B4-BE49-F238E27FC236}">
                <a16:creationId xmlns:a16="http://schemas.microsoft.com/office/drawing/2014/main" id="{DD68EE95-8A6E-4F44-B425-72E827592F8D}"/>
              </a:ext>
            </a:extLst>
          </p:cNvPr>
          <p:cNvSpPr>
            <a:spLocks noGrp="1"/>
          </p:cNvSpPr>
          <p:nvPr/>
        </p:nvSpPr>
        <p:spPr>
          <a:xfrm>
            <a:off x="704850" y="6400800"/>
            <a:ext cx="10782300" cy="9525"/>
          </a:xfrm>
          <a:prstGeom prst="rect">
            <a:avLst/>
          </a:prstGeom>
          <a:solidFill>
            <a:srgbClr val="39385C"/>
          </a:solidFill>
          <a:ln w="0">
            <a:noFill/>
            <a:prstDash val="solid"/>
          </a:ln>
        </p:spPr>
      </p:sp>
      <p:sp>
        <p:nvSpPr>
          <p:cNvPr id="4" name="Rectangle 3">
            <a:extLst>
              <a:ext uri="{FF2B5EF4-FFF2-40B4-BE49-F238E27FC236}">
                <a16:creationId xmlns:a16="http://schemas.microsoft.com/office/drawing/2014/main" id="{BAE7AC8F-1CF7-47A9-9416-2307B9E5DA4F}"/>
              </a:ext>
            </a:extLst>
          </p:cNvPr>
          <p:cNvSpPr>
            <a:spLocks noGrp="1"/>
          </p:cNvSpPr>
          <p:nvPr/>
        </p:nvSpPr>
        <p:spPr>
          <a:xfrm>
            <a:off x="704850" y="6505575"/>
            <a:ext cx="6667500" cy="190500"/>
          </a:xfrm>
          <a:prstGeom prst="rect">
            <a:avLst/>
          </a:prstGeom>
          <a:noFill/>
          <a:ln w="0">
            <a:noFill/>
            <a:prstDash val="solid"/>
          </a:ln>
        </p:spPr>
        <p:txBody>
          <a:bodyPr lIns="0" tIns="0" rIns="0" bIns="0" anchor="t">
            <a:normAutofit/>
          </a:bodyPr>
          <a:lstStyle>
            <a:defPPr algn="l">
              <a:defRPr sz="975" b="1">
                <a:solidFill>
                  <a:srgbClr val="AAA9C4"/>
                </a:solidFill>
                <a:latin typeface="Segoe UI"/>
                <a:ea typeface="Segoe UI"/>
                <a:cs typeface="Segoe UI"/>
              </a:defRPr>
            </a:defPPr>
          </a:lstStyle>
          <a:p>
            <a:pPr algn="l">
              <a:defRPr sz="975" b="1">
                <a:solidFill>
                  <a:srgbClr val="AAA9C4"/>
                </a:solidFill>
                <a:latin typeface="Segoe UI"/>
                <a:ea typeface="Segoe UI"/>
                <a:cs typeface="Segoe UI"/>
              </a:defRPr>
            </a:pPr>
            <a:r>
              <a:rPr sz="975" b="1">
                <a:solidFill>
                  <a:srgbClr val="AAA9C4"/>
                </a:solidFill>
                <a:latin typeface="Segoe UI"/>
                <a:ea typeface="Segoe UI"/>
                <a:cs typeface="Segoe UI"/>
              </a:rPr>
              <a:t>HOSTELHUB  /  PROJECT PRESENTATION</a:t>
            </a:r>
          </a:p>
        </p:txBody>
      </p:sp>
      <p:sp>
        <p:nvSpPr>
          <p:cNvPr id="5" name="Rectangle 4">
            <a:extLst>
              <a:ext uri="{FF2B5EF4-FFF2-40B4-BE49-F238E27FC236}">
                <a16:creationId xmlns:a16="http://schemas.microsoft.com/office/drawing/2014/main" id="{651B896E-F576-451C-9F86-606B12371076}"/>
              </a:ext>
            </a:extLst>
          </p:cNvPr>
          <p:cNvSpPr>
            <a:spLocks noGrp="1"/>
          </p:cNvSpPr>
          <p:nvPr/>
        </p:nvSpPr>
        <p:spPr>
          <a:xfrm>
            <a:off x="11049000" y="6486525"/>
            <a:ext cx="438150" cy="209550"/>
          </a:xfrm>
          <a:prstGeom prst="rect">
            <a:avLst/>
          </a:prstGeom>
          <a:noFill/>
          <a:ln w="0">
            <a:noFill/>
            <a:prstDash val="solid"/>
          </a:ln>
        </p:spPr>
        <p:txBody>
          <a:bodyPr lIns="0" tIns="0" rIns="0" bIns="0" anchor="t">
            <a:normAutofit/>
          </a:bodyPr>
          <a:lstStyle>
            <a:defPPr algn="r">
              <a:defRPr sz="1050" b="1">
                <a:solidFill>
                  <a:srgbClr val="9178FF"/>
                </a:solidFill>
                <a:latin typeface="Segoe UI"/>
                <a:ea typeface="Segoe UI"/>
                <a:cs typeface="Segoe UI"/>
              </a:defRPr>
            </a:defPPr>
          </a:lstStyle>
          <a:p>
            <a:pPr algn="r">
              <a:defRPr sz="1050" b="1">
                <a:solidFill>
                  <a:srgbClr val="9178FF"/>
                </a:solidFill>
                <a:latin typeface="Segoe UI"/>
                <a:ea typeface="Segoe UI"/>
                <a:cs typeface="Segoe UI"/>
              </a:defRPr>
            </a:pPr>
            <a:r>
              <a:rPr sz="1050" b="1">
                <a:solidFill>
                  <a:srgbClr val="9178FF"/>
                </a:solidFill>
                <a:latin typeface="Segoe UI"/>
                <a:ea typeface="Segoe UI"/>
                <a:cs typeface="Segoe UI"/>
              </a:rPr>
              <a:t>06</a:t>
            </a:r>
          </a:p>
        </p:txBody>
      </p:sp>
      <p:sp>
        <p:nvSpPr>
          <p:cNvPr id="6" name="Rectangle 5">
            <a:extLst>
              <a:ext uri="{FF2B5EF4-FFF2-40B4-BE49-F238E27FC236}">
                <a16:creationId xmlns:a16="http://schemas.microsoft.com/office/drawing/2014/main" id="{1DFAE7EC-5529-43A5-9C90-3FECAEB834E4}"/>
              </a:ext>
            </a:extLst>
          </p:cNvPr>
          <p:cNvSpPr>
            <a:spLocks noGrp="1"/>
          </p:cNvSpPr>
          <p:nvPr/>
        </p:nvSpPr>
        <p:spPr>
          <a:xfrm>
            <a:off x="781050" y="1581150"/>
            <a:ext cx="9525000" cy="323850"/>
          </a:xfrm>
          <a:prstGeom prst="rect">
            <a:avLst/>
          </a:prstGeom>
          <a:noFill/>
          <a:ln w="0">
            <a:noFill/>
            <a:prstDash val="solid"/>
          </a:ln>
        </p:spPr>
        <p:txBody>
          <a:bodyPr lIns="0" tIns="0" rIns="0" bIns="0" anchor="t">
            <a:normAutofit/>
          </a:bodyPr>
          <a:lstStyle>
            <a:defPPr algn="l">
              <a:defRPr sz="1650" b="0">
                <a:solidFill>
                  <a:srgbClr val="C5C4DC"/>
                </a:solidFill>
                <a:latin typeface="Segoe UI"/>
                <a:ea typeface="Segoe UI"/>
                <a:cs typeface="Segoe UI"/>
              </a:defRPr>
            </a:defPPr>
          </a:lstStyle>
          <a:p>
            <a:pPr algn="l">
              <a:defRPr sz="1650" b="0">
                <a:solidFill>
                  <a:srgbClr val="C5C4DC"/>
                </a:solidFill>
                <a:latin typeface="Segoe UI"/>
                <a:ea typeface="Segoe UI"/>
                <a:cs typeface="Segoe UI"/>
              </a:defRPr>
            </a:pPr>
            <a:r>
              <a:rPr sz="1650" b="0">
                <a:solidFill>
                  <a:srgbClr val="C5C4DC"/>
                </a:solidFill>
                <a:latin typeface="Segoe UI"/>
                <a:ea typeface="Segoe UI"/>
                <a:cs typeface="Segoe UI"/>
              </a:rPr>
              <a:t>The app keeps the purchase journey connected</a:t>
            </a:r>
          </a:p>
        </p:txBody>
      </p:sp>
      <p:sp>
        <p:nvSpPr>
          <p:cNvPr id="7" name="Rectangle: Rounded Corners 6">
            <a:extLst>
              <a:ext uri="{FF2B5EF4-FFF2-40B4-BE49-F238E27FC236}">
                <a16:creationId xmlns:a16="http://schemas.microsoft.com/office/drawing/2014/main" id="{35063933-2C72-415E-80B7-5FA45AFC687A}"/>
              </a:ext>
            </a:extLst>
          </p:cNvPr>
          <p:cNvSpPr>
            <a:spLocks noGrp="1"/>
          </p:cNvSpPr>
          <p:nvPr/>
        </p:nvSpPr>
        <p:spPr>
          <a:xfrm>
            <a:off x="876300" y="2628900"/>
            <a:ext cx="2190750" cy="1047750"/>
          </a:xfrm>
          <a:prstGeom prst="roundRect">
            <a:avLst>
              <a:gd name="adj" fmla="val 13636"/>
            </a:avLst>
          </a:prstGeom>
          <a:solidFill>
            <a:srgbClr val="24234A"/>
          </a:solidFill>
          <a:ln w="9525">
            <a:solidFill>
              <a:srgbClr val="4A496A"/>
            </a:solidFill>
            <a:prstDash val="solid"/>
          </a:ln>
        </p:spPr>
      </p:sp>
      <p:sp>
        <p:nvSpPr>
          <p:cNvPr id="8" name="Rectangle 7">
            <a:extLst>
              <a:ext uri="{FF2B5EF4-FFF2-40B4-BE49-F238E27FC236}">
                <a16:creationId xmlns:a16="http://schemas.microsoft.com/office/drawing/2014/main" id="{46AE74BB-D335-436B-918C-742F669B5C86}"/>
              </a:ext>
            </a:extLst>
          </p:cNvPr>
          <p:cNvSpPr>
            <a:spLocks noGrp="1"/>
          </p:cNvSpPr>
          <p:nvPr/>
        </p:nvSpPr>
        <p:spPr>
          <a:xfrm>
            <a:off x="1066800" y="2781300"/>
            <a:ext cx="438150" cy="266700"/>
          </a:xfrm>
          <a:prstGeom prst="rect">
            <a:avLst/>
          </a:prstGeom>
          <a:noFill/>
          <a:ln w="0">
            <a:noFill/>
            <a:prstDash val="solid"/>
          </a:ln>
        </p:spPr>
        <p:txBody>
          <a:bodyPr lIns="0" tIns="0" rIns="0" bIns="0" anchor="t">
            <a:normAutofit/>
          </a:bodyPr>
          <a:lstStyle>
            <a:defPPr algn="l">
              <a:defRPr sz="1350" b="1">
                <a:solidFill>
                  <a:srgbClr val="9178FF"/>
                </a:solidFill>
                <a:latin typeface="Segoe UI"/>
                <a:ea typeface="Segoe UI"/>
                <a:cs typeface="Segoe UI"/>
              </a:defRPr>
            </a:defPPr>
          </a:lstStyle>
          <a:p>
            <a:pPr algn="l">
              <a:defRPr sz="1350" b="1">
                <a:solidFill>
                  <a:srgbClr val="9178FF"/>
                </a:solidFill>
                <a:latin typeface="Segoe UI"/>
                <a:ea typeface="Segoe UI"/>
                <a:cs typeface="Segoe UI"/>
              </a:defRPr>
            </a:pPr>
            <a:r>
              <a:rPr sz="1350" b="1">
                <a:solidFill>
                  <a:srgbClr val="9178FF"/>
                </a:solidFill>
                <a:latin typeface="Segoe UI"/>
                <a:ea typeface="Segoe UI"/>
                <a:cs typeface="Segoe UI"/>
              </a:rPr>
              <a:t>01</a:t>
            </a:r>
          </a:p>
        </p:txBody>
      </p:sp>
      <p:sp>
        <p:nvSpPr>
          <p:cNvPr id="9" name="Rectangle 8">
            <a:extLst>
              <a:ext uri="{FF2B5EF4-FFF2-40B4-BE49-F238E27FC236}">
                <a16:creationId xmlns:a16="http://schemas.microsoft.com/office/drawing/2014/main" id="{B37D2901-7292-434E-BD23-66BD6C0F1962}"/>
              </a:ext>
            </a:extLst>
          </p:cNvPr>
          <p:cNvSpPr>
            <a:spLocks noGrp="1"/>
          </p:cNvSpPr>
          <p:nvPr/>
        </p:nvSpPr>
        <p:spPr>
          <a:xfrm>
            <a:off x="1066800" y="3105150"/>
            <a:ext cx="1866900" cy="295275"/>
          </a:xfrm>
          <a:prstGeom prst="rect">
            <a:avLst/>
          </a:prstGeom>
          <a:noFill/>
          <a:ln w="0">
            <a:noFill/>
            <a:prstDash val="solid"/>
          </a:ln>
        </p:spPr>
        <p:txBody>
          <a:bodyPr lIns="0" tIns="0" rIns="0" bIns="0" anchor="t">
            <a:normAutofit/>
          </a:bodyPr>
          <a:lstStyle>
            <a:defPPr algn="l">
              <a:defRPr sz="1575" b="1">
                <a:solidFill>
                  <a:srgbClr val="FFFFFF"/>
                </a:solidFill>
                <a:latin typeface="Segoe UI"/>
                <a:ea typeface="Segoe UI"/>
                <a:cs typeface="Segoe UI"/>
              </a:defRPr>
            </a:defPPr>
          </a:lstStyle>
          <a:p>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Product selected</a:t>
            </a:r>
          </a:p>
        </p:txBody>
      </p:sp>
      <p:sp>
        <p:nvSpPr>
          <p:cNvPr id="10" name="Rectangle 9">
            <a:extLst>
              <a:ext uri="{FF2B5EF4-FFF2-40B4-BE49-F238E27FC236}">
                <a16:creationId xmlns:a16="http://schemas.microsoft.com/office/drawing/2014/main" id="{055AD9CD-B2F2-490C-8973-253C1B4674E9}"/>
              </a:ext>
            </a:extLst>
          </p:cNvPr>
          <p:cNvSpPr>
            <a:spLocks noGrp="1"/>
          </p:cNvSpPr>
          <p:nvPr/>
        </p:nvSpPr>
        <p:spPr>
          <a:xfrm>
            <a:off x="895350" y="3857625"/>
            <a:ext cx="2152650" cy="457200"/>
          </a:xfrm>
          <a:prstGeom prst="rect">
            <a:avLst/>
          </a:prstGeom>
          <a:noFill/>
          <a:ln w="0">
            <a:noFill/>
            <a:prstDash val="solid"/>
          </a:ln>
        </p:spPr>
        <p:txBody>
          <a:bodyPr lIns="0" tIns="0" rIns="0" bIns="0" anchor="t">
            <a:normAutofit/>
          </a:bodyPr>
          <a:lstStyle>
            <a:defPPr algn="ctr">
              <a:defRPr sz="1275" b="0">
                <a:solidFill>
                  <a:srgbClr val="E6E5F4"/>
                </a:solidFill>
                <a:latin typeface="Segoe UI"/>
                <a:ea typeface="Segoe UI"/>
                <a:cs typeface="Segoe UI"/>
              </a:defRPr>
            </a:defPPr>
          </a:lstStyle>
          <a:p>
            <a:pPr algn="ctr">
              <a:defRPr sz="1275" b="0">
                <a:solidFill>
                  <a:srgbClr val="E6E5F4"/>
                </a:solidFill>
                <a:latin typeface="Segoe UI"/>
                <a:ea typeface="Segoe UI"/>
                <a:cs typeface="Segoe UI"/>
              </a:defRPr>
            </a:pPr>
            <a:r>
              <a:rPr sz="1275" b="0">
                <a:solidFill>
                  <a:srgbClr val="E6E5F4"/>
                </a:solidFill>
                <a:latin typeface="Segoe UI"/>
                <a:ea typeface="Segoe UI"/>
                <a:cs typeface="Segoe UI"/>
              </a:rPr>
              <a:t>Buy Now or cart</a:t>
            </a:r>
          </a:p>
        </p:txBody>
      </p:sp>
      <p:sp>
        <p:nvSpPr>
          <p:cNvPr id="11" name="Rectangle 10">
            <a:extLst>
              <a:ext uri="{FF2B5EF4-FFF2-40B4-BE49-F238E27FC236}">
                <a16:creationId xmlns:a16="http://schemas.microsoft.com/office/drawing/2014/main" id="{E54E1F10-F5B9-4F53-B208-5DA991BF6691}"/>
              </a:ext>
            </a:extLst>
          </p:cNvPr>
          <p:cNvSpPr>
            <a:spLocks noGrp="1"/>
          </p:cNvSpPr>
          <p:nvPr/>
        </p:nvSpPr>
        <p:spPr>
          <a:xfrm>
            <a:off x="3086100" y="3133725"/>
            <a:ext cx="466725" cy="19050"/>
          </a:xfrm>
          <a:prstGeom prst="rect">
            <a:avLst/>
          </a:prstGeom>
          <a:solidFill>
            <a:srgbClr val="6F6D91"/>
          </a:solidFill>
          <a:ln w="0">
            <a:noFill/>
            <a:prstDash val="solid"/>
          </a:ln>
        </p:spPr>
      </p:sp>
      <p:sp>
        <p:nvSpPr>
          <p:cNvPr id="12" name="Rectangle: Rounded Corners 11">
            <a:extLst>
              <a:ext uri="{FF2B5EF4-FFF2-40B4-BE49-F238E27FC236}">
                <a16:creationId xmlns:a16="http://schemas.microsoft.com/office/drawing/2014/main" id="{FE073556-7B98-4E7F-9F59-DA9447804F88}"/>
              </a:ext>
            </a:extLst>
          </p:cNvPr>
          <p:cNvSpPr>
            <a:spLocks noGrp="1"/>
          </p:cNvSpPr>
          <p:nvPr/>
        </p:nvSpPr>
        <p:spPr>
          <a:xfrm>
            <a:off x="3562350" y="2628900"/>
            <a:ext cx="2190750" cy="1047750"/>
          </a:xfrm>
          <a:prstGeom prst="roundRect">
            <a:avLst>
              <a:gd name="adj" fmla="val 13636"/>
            </a:avLst>
          </a:prstGeom>
          <a:solidFill>
            <a:srgbClr val="24234A"/>
          </a:solidFill>
          <a:ln w="9525">
            <a:solidFill>
              <a:srgbClr val="4A496A"/>
            </a:solidFill>
            <a:prstDash val="solid"/>
          </a:ln>
        </p:spPr>
      </p:sp>
      <p:sp>
        <p:nvSpPr>
          <p:cNvPr id="13" name="Rectangle 12">
            <a:extLst>
              <a:ext uri="{FF2B5EF4-FFF2-40B4-BE49-F238E27FC236}">
                <a16:creationId xmlns:a16="http://schemas.microsoft.com/office/drawing/2014/main" id="{8CB26D95-6A26-4492-96E1-3A72E469415E}"/>
              </a:ext>
            </a:extLst>
          </p:cNvPr>
          <p:cNvSpPr>
            <a:spLocks noGrp="1"/>
          </p:cNvSpPr>
          <p:nvPr/>
        </p:nvSpPr>
        <p:spPr>
          <a:xfrm>
            <a:off x="3752850" y="2781300"/>
            <a:ext cx="438150" cy="266700"/>
          </a:xfrm>
          <a:prstGeom prst="rect">
            <a:avLst/>
          </a:prstGeom>
          <a:noFill/>
          <a:ln w="0">
            <a:noFill/>
            <a:prstDash val="solid"/>
          </a:ln>
        </p:spPr>
        <p:txBody>
          <a:bodyPr lIns="0" tIns="0" rIns="0" bIns="0" anchor="t">
            <a:normAutofit/>
          </a:bodyPr>
          <a:lstStyle>
            <a:defPPr algn="l">
              <a:defRPr sz="1350" b="1">
                <a:solidFill>
                  <a:srgbClr val="9178FF"/>
                </a:solidFill>
                <a:latin typeface="Segoe UI"/>
                <a:ea typeface="Segoe UI"/>
                <a:cs typeface="Segoe UI"/>
              </a:defRPr>
            </a:defPPr>
          </a:lstStyle>
          <a:p>
            <a:pPr algn="l">
              <a:defRPr sz="1350" b="1">
                <a:solidFill>
                  <a:srgbClr val="9178FF"/>
                </a:solidFill>
                <a:latin typeface="Segoe UI"/>
                <a:ea typeface="Segoe UI"/>
                <a:cs typeface="Segoe UI"/>
              </a:defRPr>
            </a:pPr>
            <a:r>
              <a:rPr sz="1350" b="1">
                <a:solidFill>
                  <a:srgbClr val="9178FF"/>
                </a:solidFill>
                <a:latin typeface="Segoe UI"/>
                <a:ea typeface="Segoe UI"/>
                <a:cs typeface="Segoe UI"/>
              </a:rPr>
              <a:t>02</a:t>
            </a:r>
          </a:p>
        </p:txBody>
      </p:sp>
      <p:sp>
        <p:nvSpPr>
          <p:cNvPr id="14" name="Rectangle 13">
            <a:extLst>
              <a:ext uri="{FF2B5EF4-FFF2-40B4-BE49-F238E27FC236}">
                <a16:creationId xmlns:a16="http://schemas.microsoft.com/office/drawing/2014/main" id="{2F5D5777-3343-4408-95AC-4B2256A9AC17}"/>
              </a:ext>
            </a:extLst>
          </p:cNvPr>
          <p:cNvSpPr>
            <a:spLocks noGrp="1"/>
          </p:cNvSpPr>
          <p:nvPr/>
        </p:nvSpPr>
        <p:spPr>
          <a:xfrm>
            <a:off x="3752850" y="3105150"/>
            <a:ext cx="1866900" cy="295275"/>
          </a:xfrm>
          <a:prstGeom prst="rect">
            <a:avLst/>
          </a:prstGeom>
          <a:noFill/>
          <a:ln w="0">
            <a:noFill/>
            <a:prstDash val="solid"/>
          </a:ln>
        </p:spPr>
        <p:txBody>
          <a:bodyPr lIns="0" tIns="0" rIns="0" bIns="0" anchor="t">
            <a:normAutofit/>
          </a:bodyPr>
          <a:lstStyle>
            <a:defPPr algn="l">
              <a:defRPr sz="1575" b="1">
                <a:solidFill>
                  <a:srgbClr val="FFFFFF"/>
                </a:solidFill>
                <a:latin typeface="Segoe UI"/>
                <a:ea typeface="Segoe UI"/>
                <a:cs typeface="Segoe UI"/>
              </a:defRPr>
            </a:defPPr>
          </a:lstStyle>
          <a:p>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Checkout</a:t>
            </a:r>
          </a:p>
        </p:txBody>
      </p:sp>
      <p:sp>
        <p:nvSpPr>
          <p:cNvPr id="15" name="Rectangle 14">
            <a:extLst>
              <a:ext uri="{FF2B5EF4-FFF2-40B4-BE49-F238E27FC236}">
                <a16:creationId xmlns:a16="http://schemas.microsoft.com/office/drawing/2014/main" id="{8E39E13A-2067-42E9-8D17-2F8A1C197769}"/>
              </a:ext>
            </a:extLst>
          </p:cNvPr>
          <p:cNvSpPr>
            <a:spLocks noGrp="1"/>
          </p:cNvSpPr>
          <p:nvPr/>
        </p:nvSpPr>
        <p:spPr>
          <a:xfrm>
            <a:off x="3581400" y="3857625"/>
            <a:ext cx="2152650" cy="457200"/>
          </a:xfrm>
          <a:prstGeom prst="rect">
            <a:avLst/>
          </a:prstGeom>
          <a:noFill/>
          <a:ln w="0">
            <a:noFill/>
            <a:prstDash val="solid"/>
          </a:ln>
        </p:spPr>
        <p:txBody>
          <a:bodyPr lIns="0" tIns="0" rIns="0" bIns="0" anchor="t">
            <a:normAutofit/>
          </a:bodyPr>
          <a:lstStyle>
            <a:defPPr algn="ctr">
              <a:defRPr sz="1275" b="0">
                <a:solidFill>
                  <a:srgbClr val="E6E5F4"/>
                </a:solidFill>
                <a:latin typeface="Segoe UI"/>
                <a:ea typeface="Segoe UI"/>
                <a:cs typeface="Segoe UI"/>
              </a:defRPr>
            </a:defPPr>
          </a:lstStyle>
          <a:p>
            <a:pPr algn="ctr">
              <a:defRPr sz="1275" b="0">
                <a:solidFill>
                  <a:srgbClr val="E6E5F4"/>
                </a:solidFill>
                <a:latin typeface="Segoe UI"/>
                <a:ea typeface="Segoe UI"/>
                <a:cs typeface="Segoe UI"/>
              </a:defRPr>
            </a:pPr>
            <a:r>
              <a:rPr sz="1275" b="0">
                <a:solidFill>
                  <a:srgbClr val="E6E5F4"/>
                </a:solidFill>
                <a:latin typeface="Segoe UI"/>
                <a:ea typeface="Segoe UI"/>
                <a:cs typeface="Segoe UI"/>
              </a:rPr>
              <a:t>Confirm the order</a:t>
            </a:r>
          </a:p>
        </p:txBody>
      </p:sp>
      <p:sp>
        <p:nvSpPr>
          <p:cNvPr id="16" name="Rectangle 15">
            <a:extLst>
              <a:ext uri="{FF2B5EF4-FFF2-40B4-BE49-F238E27FC236}">
                <a16:creationId xmlns:a16="http://schemas.microsoft.com/office/drawing/2014/main" id="{94891AFA-FD1B-4F91-8534-283795ED84AA}"/>
              </a:ext>
            </a:extLst>
          </p:cNvPr>
          <p:cNvSpPr>
            <a:spLocks noGrp="1"/>
          </p:cNvSpPr>
          <p:nvPr/>
        </p:nvSpPr>
        <p:spPr>
          <a:xfrm>
            <a:off x="5772150" y="3133725"/>
            <a:ext cx="466725" cy="19050"/>
          </a:xfrm>
          <a:prstGeom prst="rect">
            <a:avLst/>
          </a:prstGeom>
          <a:solidFill>
            <a:srgbClr val="6F6D91"/>
          </a:solidFill>
          <a:ln w="0">
            <a:noFill/>
            <a:prstDash val="solid"/>
          </a:ln>
        </p:spPr>
      </p:sp>
      <p:sp>
        <p:nvSpPr>
          <p:cNvPr id="17" name="Rectangle: Rounded Corners 16">
            <a:extLst>
              <a:ext uri="{FF2B5EF4-FFF2-40B4-BE49-F238E27FC236}">
                <a16:creationId xmlns:a16="http://schemas.microsoft.com/office/drawing/2014/main" id="{E9F02584-9043-4D98-8DB7-0E334630EC2F}"/>
              </a:ext>
            </a:extLst>
          </p:cNvPr>
          <p:cNvSpPr>
            <a:spLocks noGrp="1"/>
          </p:cNvSpPr>
          <p:nvPr/>
        </p:nvSpPr>
        <p:spPr>
          <a:xfrm>
            <a:off x="6248400" y="2628900"/>
            <a:ext cx="2190750" cy="1047750"/>
          </a:xfrm>
          <a:prstGeom prst="roundRect">
            <a:avLst>
              <a:gd name="adj" fmla="val 13636"/>
            </a:avLst>
          </a:prstGeom>
          <a:solidFill>
            <a:srgbClr val="24234A"/>
          </a:solidFill>
          <a:ln w="9525">
            <a:solidFill>
              <a:srgbClr val="4A496A"/>
            </a:solidFill>
            <a:prstDash val="solid"/>
          </a:ln>
        </p:spPr>
      </p:sp>
      <p:sp>
        <p:nvSpPr>
          <p:cNvPr id="18" name="Rectangle 17">
            <a:extLst>
              <a:ext uri="{FF2B5EF4-FFF2-40B4-BE49-F238E27FC236}">
                <a16:creationId xmlns:a16="http://schemas.microsoft.com/office/drawing/2014/main" id="{AC91399E-D299-40A1-B124-427EE9A2C0EA}"/>
              </a:ext>
            </a:extLst>
          </p:cNvPr>
          <p:cNvSpPr>
            <a:spLocks noGrp="1"/>
          </p:cNvSpPr>
          <p:nvPr/>
        </p:nvSpPr>
        <p:spPr>
          <a:xfrm>
            <a:off x="6438900" y="2781300"/>
            <a:ext cx="438150" cy="266700"/>
          </a:xfrm>
          <a:prstGeom prst="rect">
            <a:avLst/>
          </a:prstGeom>
          <a:noFill/>
          <a:ln w="0">
            <a:noFill/>
            <a:prstDash val="solid"/>
          </a:ln>
        </p:spPr>
        <p:txBody>
          <a:bodyPr lIns="0" tIns="0" rIns="0" bIns="0" anchor="t">
            <a:normAutofit/>
          </a:bodyPr>
          <a:lstStyle>
            <a:defPPr algn="l">
              <a:defRPr sz="1350" b="1">
                <a:solidFill>
                  <a:srgbClr val="9178FF"/>
                </a:solidFill>
                <a:latin typeface="Segoe UI"/>
                <a:ea typeface="Segoe UI"/>
                <a:cs typeface="Segoe UI"/>
              </a:defRPr>
            </a:defPPr>
          </a:lstStyle>
          <a:p>
            <a:pPr algn="l">
              <a:defRPr sz="1350" b="1">
                <a:solidFill>
                  <a:srgbClr val="9178FF"/>
                </a:solidFill>
                <a:latin typeface="Segoe UI"/>
                <a:ea typeface="Segoe UI"/>
                <a:cs typeface="Segoe UI"/>
              </a:defRPr>
            </a:pPr>
            <a:r>
              <a:rPr sz="1350" b="1">
                <a:solidFill>
                  <a:srgbClr val="9178FF"/>
                </a:solidFill>
                <a:latin typeface="Segoe UI"/>
                <a:ea typeface="Segoe UI"/>
                <a:cs typeface="Segoe UI"/>
              </a:rPr>
              <a:t>03</a:t>
            </a:r>
          </a:p>
        </p:txBody>
      </p:sp>
      <p:sp>
        <p:nvSpPr>
          <p:cNvPr id="19" name="Rectangle 18">
            <a:extLst>
              <a:ext uri="{FF2B5EF4-FFF2-40B4-BE49-F238E27FC236}">
                <a16:creationId xmlns:a16="http://schemas.microsoft.com/office/drawing/2014/main" id="{59C9A8A8-9767-4150-955B-6CCDDBEA29A8}"/>
              </a:ext>
            </a:extLst>
          </p:cNvPr>
          <p:cNvSpPr>
            <a:spLocks noGrp="1"/>
          </p:cNvSpPr>
          <p:nvPr/>
        </p:nvSpPr>
        <p:spPr>
          <a:xfrm>
            <a:off x="6438900" y="3105150"/>
            <a:ext cx="1866900" cy="295275"/>
          </a:xfrm>
          <a:prstGeom prst="rect">
            <a:avLst/>
          </a:prstGeom>
          <a:noFill/>
          <a:ln w="0">
            <a:noFill/>
            <a:prstDash val="solid"/>
          </a:ln>
        </p:spPr>
        <p:txBody>
          <a:bodyPr lIns="0" tIns="0" rIns="0" bIns="0" anchor="t">
            <a:normAutofit/>
          </a:bodyPr>
          <a:lstStyle>
            <a:defPPr algn="l">
              <a:defRPr sz="1575" b="1">
                <a:solidFill>
                  <a:srgbClr val="FFFFFF"/>
                </a:solidFill>
                <a:latin typeface="Segoe UI"/>
                <a:ea typeface="Segoe UI"/>
                <a:cs typeface="Segoe UI"/>
              </a:defRPr>
            </a:defPPr>
          </a:lstStyle>
          <a:p>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Order placed</a:t>
            </a:r>
          </a:p>
        </p:txBody>
      </p:sp>
      <p:sp>
        <p:nvSpPr>
          <p:cNvPr id="20" name="Rectangle 19">
            <a:extLst>
              <a:ext uri="{FF2B5EF4-FFF2-40B4-BE49-F238E27FC236}">
                <a16:creationId xmlns:a16="http://schemas.microsoft.com/office/drawing/2014/main" id="{72E8BE66-F732-4459-99A1-667EC65A9703}"/>
              </a:ext>
            </a:extLst>
          </p:cNvPr>
          <p:cNvSpPr>
            <a:spLocks noGrp="1"/>
          </p:cNvSpPr>
          <p:nvPr/>
        </p:nvSpPr>
        <p:spPr>
          <a:xfrm>
            <a:off x="6267450" y="3857625"/>
            <a:ext cx="2152650" cy="457200"/>
          </a:xfrm>
          <a:prstGeom prst="rect">
            <a:avLst/>
          </a:prstGeom>
          <a:noFill/>
          <a:ln w="0">
            <a:noFill/>
            <a:prstDash val="solid"/>
          </a:ln>
        </p:spPr>
        <p:txBody>
          <a:bodyPr lIns="0" tIns="0" rIns="0" bIns="0" anchor="t">
            <a:normAutofit/>
          </a:bodyPr>
          <a:lstStyle>
            <a:defPPr algn="ctr">
              <a:defRPr sz="1275" b="0">
                <a:solidFill>
                  <a:srgbClr val="E6E5F4"/>
                </a:solidFill>
                <a:latin typeface="Segoe UI"/>
                <a:ea typeface="Segoe UI"/>
                <a:cs typeface="Segoe UI"/>
              </a:defRPr>
            </a:defPPr>
          </a:lstStyle>
          <a:p>
            <a:pPr algn="ctr">
              <a:defRPr sz="1275" b="0">
                <a:solidFill>
                  <a:srgbClr val="E6E5F4"/>
                </a:solidFill>
                <a:latin typeface="Segoe UI"/>
                <a:ea typeface="Segoe UI"/>
                <a:cs typeface="Segoe UI"/>
              </a:defRPr>
            </a:pPr>
            <a:r>
              <a:rPr sz="1275" b="0">
                <a:solidFill>
                  <a:srgbClr val="E6E5F4"/>
                </a:solidFill>
                <a:latin typeface="Segoe UI"/>
                <a:ea typeface="Segoe UI"/>
                <a:cs typeface="Segoe UI"/>
              </a:rPr>
              <a:t>Order record created</a:t>
            </a:r>
          </a:p>
        </p:txBody>
      </p:sp>
      <p:sp>
        <p:nvSpPr>
          <p:cNvPr id="21" name="Rectangle 20">
            <a:extLst>
              <a:ext uri="{FF2B5EF4-FFF2-40B4-BE49-F238E27FC236}">
                <a16:creationId xmlns:a16="http://schemas.microsoft.com/office/drawing/2014/main" id="{2F68B09D-16D4-4734-8F3C-145E09C26758}"/>
              </a:ext>
            </a:extLst>
          </p:cNvPr>
          <p:cNvSpPr>
            <a:spLocks noGrp="1"/>
          </p:cNvSpPr>
          <p:nvPr/>
        </p:nvSpPr>
        <p:spPr>
          <a:xfrm>
            <a:off x="8458200" y="3133725"/>
            <a:ext cx="466725" cy="19050"/>
          </a:xfrm>
          <a:prstGeom prst="rect">
            <a:avLst/>
          </a:prstGeom>
          <a:solidFill>
            <a:srgbClr val="6F6D91"/>
          </a:solidFill>
          <a:ln w="0">
            <a:noFill/>
            <a:prstDash val="solid"/>
          </a:ln>
        </p:spPr>
      </p:sp>
      <p:sp>
        <p:nvSpPr>
          <p:cNvPr id="22" name="Rectangle: Rounded Corners 21">
            <a:extLst>
              <a:ext uri="{FF2B5EF4-FFF2-40B4-BE49-F238E27FC236}">
                <a16:creationId xmlns:a16="http://schemas.microsoft.com/office/drawing/2014/main" id="{F3E69E8A-F01E-4C28-B26A-4835A2B4030F}"/>
              </a:ext>
            </a:extLst>
          </p:cNvPr>
          <p:cNvSpPr>
            <a:spLocks noGrp="1"/>
          </p:cNvSpPr>
          <p:nvPr/>
        </p:nvSpPr>
        <p:spPr>
          <a:xfrm>
            <a:off x="8934450" y="2628900"/>
            <a:ext cx="2190750" cy="1047750"/>
          </a:xfrm>
          <a:prstGeom prst="roundRect">
            <a:avLst>
              <a:gd name="adj" fmla="val 13636"/>
            </a:avLst>
          </a:prstGeom>
          <a:solidFill>
            <a:srgbClr val="27B99A"/>
          </a:solidFill>
          <a:ln w="9525">
            <a:solidFill>
              <a:srgbClr val="27B99A"/>
            </a:solidFill>
            <a:prstDash val="solid"/>
          </a:ln>
        </p:spPr>
      </p:sp>
      <p:sp>
        <p:nvSpPr>
          <p:cNvPr id="23" name="Rectangle 22">
            <a:extLst>
              <a:ext uri="{FF2B5EF4-FFF2-40B4-BE49-F238E27FC236}">
                <a16:creationId xmlns:a16="http://schemas.microsoft.com/office/drawing/2014/main" id="{D8E8F390-CE55-492B-9D45-4F33714DB0D9}"/>
              </a:ext>
            </a:extLst>
          </p:cNvPr>
          <p:cNvSpPr>
            <a:spLocks noGrp="1"/>
          </p:cNvSpPr>
          <p:nvPr/>
        </p:nvSpPr>
        <p:spPr>
          <a:xfrm>
            <a:off x="9124950" y="2781300"/>
            <a:ext cx="438150" cy="266700"/>
          </a:xfrm>
          <a:prstGeom prst="rect">
            <a:avLst/>
          </a:prstGeom>
          <a:noFill/>
          <a:ln w="0">
            <a:noFill/>
            <a:prstDash val="solid"/>
          </a:ln>
        </p:spPr>
        <p:txBody>
          <a:bodyPr lIns="0" tIns="0" rIns="0" bIns="0" anchor="t">
            <a:normAutofit/>
          </a:bodyPr>
          <a:lstStyle>
            <a:defPPr algn="l">
              <a:defRPr sz="1350" b="1">
                <a:solidFill>
                  <a:srgbClr val="171832"/>
                </a:solidFill>
                <a:latin typeface="Segoe UI"/>
                <a:ea typeface="Segoe UI"/>
                <a:cs typeface="Segoe UI"/>
              </a:defRPr>
            </a:defPPr>
          </a:lstStyle>
          <a:p>
            <a:pPr algn="l">
              <a:defRPr sz="1350" b="1">
                <a:solidFill>
                  <a:srgbClr val="171832"/>
                </a:solidFill>
                <a:latin typeface="Segoe UI"/>
                <a:ea typeface="Segoe UI"/>
                <a:cs typeface="Segoe UI"/>
              </a:defRPr>
            </a:pPr>
            <a:r>
              <a:rPr sz="1350" b="1">
                <a:solidFill>
                  <a:srgbClr val="171832"/>
                </a:solidFill>
                <a:latin typeface="Segoe UI"/>
                <a:ea typeface="Segoe UI"/>
                <a:cs typeface="Segoe UI"/>
              </a:rPr>
              <a:t>04</a:t>
            </a:r>
          </a:p>
        </p:txBody>
      </p:sp>
      <p:sp>
        <p:nvSpPr>
          <p:cNvPr id="24" name="Rectangle 23">
            <a:extLst>
              <a:ext uri="{FF2B5EF4-FFF2-40B4-BE49-F238E27FC236}">
                <a16:creationId xmlns:a16="http://schemas.microsoft.com/office/drawing/2014/main" id="{915265A9-BBF9-4A70-A986-BBAD4C2E02C2}"/>
              </a:ext>
            </a:extLst>
          </p:cNvPr>
          <p:cNvSpPr>
            <a:spLocks noGrp="1"/>
          </p:cNvSpPr>
          <p:nvPr/>
        </p:nvSpPr>
        <p:spPr>
          <a:xfrm>
            <a:off x="9124950" y="3105150"/>
            <a:ext cx="1866900" cy="295275"/>
          </a:xfrm>
          <a:prstGeom prst="rect">
            <a:avLst/>
          </a:prstGeom>
          <a:noFill/>
          <a:ln w="0">
            <a:noFill/>
            <a:prstDash val="solid"/>
          </a:ln>
        </p:spPr>
        <p:txBody>
          <a:bodyPr lIns="0" tIns="0" rIns="0" bIns="0" anchor="t">
            <a:normAutofit/>
          </a:bodyPr>
          <a:lstStyle>
            <a:defPPr algn="l">
              <a:defRPr sz="1575" b="1">
                <a:solidFill>
                  <a:srgbClr val="FFFFFF"/>
                </a:solidFill>
                <a:latin typeface="Segoe UI"/>
                <a:ea typeface="Segoe UI"/>
                <a:cs typeface="Segoe UI"/>
              </a:defRPr>
            </a:defPPr>
          </a:lstStyle>
          <a:p>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My Orders</a:t>
            </a:r>
          </a:p>
        </p:txBody>
      </p:sp>
      <p:sp>
        <p:nvSpPr>
          <p:cNvPr id="25" name="Rectangle 24">
            <a:extLst>
              <a:ext uri="{FF2B5EF4-FFF2-40B4-BE49-F238E27FC236}">
                <a16:creationId xmlns:a16="http://schemas.microsoft.com/office/drawing/2014/main" id="{EEEF87C6-56F5-41E5-BB16-67B20854B031}"/>
              </a:ext>
            </a:extLst>
          </p:cNvPr>
          <p:cNvSpPr>
            <a:spLocks noGrp="1"/>
          </p:cNvSpPr>
          <p:nvPr/>
        </p:nvSpPr>
        <p:spPr>
          <a:xfrm>
            <a:off x="8953500" y="3857625"/>
            <a:ext cx="2152650" cy="457200"/>
          </a:xfrm>
          <a:prstGeom prst="rect">
            <a:avLst/>
          </a:prstGeom>
          <a:noFill/>
          <a:ln w="0">
            <a:noFill/>
            <a:prstDash val="solid"/>
          </a:ln>
        </p:spPr>
        <p:txBody>
          <a:bodyPr lIns="0" tIns="0" rIns="0" bIns="0" anchor="t">
            <a:normAutofit/>
          </a:bodyPr>
          <a:lstStyle>
            <a:defPPr algn="ctr">
              <a:defRPr sz="1275" b="0">
                <a:solidFill>
                  <a:srgbClr val="E6E5F4"/>
                </a:solidFill>
                <a:latin typeface="Segoe UI"/>
                <a:ea typeface="Segoe UI"/>
                <a:cs typeface="Segoe UI"/>
              </a:defRPr>
            </a:defPPr>
          </a:lstStyle>
          <a:p>
            <a:pPr algn="ctr">
              <a:defRPr sz="1275" b="0">
                <a:solidFill>
                  <a:srgbClr val="E6E5F4"/>
                </a:solidFill>
                <a:latin typeface="Segoe UI"/>
                <a:ea typeface="Segoe UI"/>
                <a:cs typeface="Segoe UI"/>
              </a:defRPr>
            </a:pPr>
            <a:r>
              <a:rPr sz="1275" b="0">
                <a:solidFill>
                  <a:srgbClr val="E6E5F4"/>
                </a:solidFill>
                <a:latin typeface="Segoe UI"/>
                <a:ea typeface="Segoe UI"/>
                <a:cs typeface="Segoe UI"/>
              </a:rPr>
              <a:t>Check order and payment status</a:t>
            </a:r>
          </a:p>
        </p:txBody>
      </p:sp>
      <p:sp>
        <p:nvSpPr>
          <p:cNvPr id="26" name="Rectangle 25">
            <a:extLst>
              <a:ext uri="{FF2B5EF4-FFF2-40B4-BE49-F238E27FC236}">
                <a16:creationId xmlns:a16="http://schemas.microsoft.com/office/drawing/2014/main" id="{232DD97D-F074-41E5-83D6-8881D0BC192F}"/>
              </a:ext>
            </a:extLst>
          </p:cNvPr>
          <p:cNvSpPr>
            <a:spLocks noGrp="1"/>
          </p:cNvSpPr>
          <p:nvPr/>
        </p:nvSpPr>
        <p:spPr>
          <a:xfrm>
            <a:off x="876300" y="5048250"/>
            <a:ext cx="9906000" cy="476250"/>
          </a:xfrm>
          <a:prstGeom prst="rect">
            <a:avLst/>
          </a:prstGeom>
          <a:noFill/>
          <a:ln w="0">
            <a:noFill/>
            <a:prstDash val="solid"/>
          </a:ln>
        </p:spPr>
        <p:txBody>
          <a:bodyPr lIns="0" tIns="0" rIns="0" bIns="0" anchor="t">
            <a:normAutofit/>
          </a:bodyPr>
          <a:lstStyle>
            <a:defPPr algn="l">
              <a:defRPr sz="1875" b="1">
                <a:solidFill>
                  <a:srgbClr val="FFFFFF"/>
                </a:solidFill>
                <a:latin typeface="Segoe UI"/>
                <a:ea typeface="Segoe UI"/>
                <a:cs typeface="Segoe UI"/>
              </a:defRPr>
            </a:defPPr>
          </a:lstStyle>
          <a:p>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Order tracking and service booking have their own status views.</a:t>
            </a:r>
          </a:p>
        </p:txBody>
      </p:sp>
    </p:spTree>
    <p:extLst>
      <p:ext uri="{BB962C8B-B14F-4D97-AF65-F5344CB8AC3E}">
        <p14:creationId xmlns:p14="http://schemas.microsoft.com/office/powerpoint/2010/main" val="3393656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9846082-51E3-42D9-A700-967D9A660064}"/>
              </a:ext>
            </a:extLst>
          </p:cNvPr>
          <p:cNvSpPr>
            <a:spLocks noGrp="1"/>
          </p:cNvSpPr>
          <p:nvPr/>
        </p:nvSpPr>
        <p:spPr>
          <a:xfrm>
            <a:off x="704850" y="400050"/>
            <a:ext cx="5715000" cy="209550"/>
          </a:xfrm>
          <a:prstGeom prst="rect">
            <a:avLst/>
          </a:prstGeom>
          <a:noFill/>
          <a:ln w="0">
            <a:noFill/>
            <a:prstDash val="solid"/>
          </a:ln>
        </p:spPr>
        <p:txBody>
          <a:bodyPr lIns="0" tIns="0" rIns="0" bIns="0" anchor="t">
            <a:normAutofit/>
          </a:bodyPr>
          <a:lstStyle>
            <a:defPPr algn="l">
              <a:defRPr sz="1050" b="1">
                <a:solidFill>
                  <a:srgbClr val="7156E8"/>
                </a:solidFill>
                <a:latin typeface="Segoe UI"/>
                <a:ea typeface="Segoe UI"/>
                <a:cs typeface="Segoe UI"/>
              </a:defRPr>
            </a:defPPr>
          </a:lstStyle>
          <a:p>
            <a:pPr algn="l">
              <a:defRPr sz="1050" b="1">
                <a:solidFill>
                  <a:srgbClr val="7156E8"/>
                </a:solidFill>
                <a:latin typeface="Segoe UI"/>
                <a:ea typeface="Segoe UI"/>
                <a:cs typeface="Segoe UI"/>
              </a:defRPr>
            </a:pPr>
            <a:r>
              <a:rPr sz="1050" b="1">
                <a:solidFill>
                  <a:srgbClr val="7156E8"/>
                </a:solidFill>
                <a:latin typeface="Segoe UI"/>
                <a:ea typeface="Segoe UI"/>
                <a:cs typeface="Segoe UI"/>
              </a:rPr>
              <a:t>PAYMENTS AND BILLS</a:t>
            </a:r>
          </a:p>
        </p:txBody>
      </p:sp>
      <p:sp>
        <p:nvSpPr>
          <p:cNvPr id="2" name="Rectangle 1">
            <a:extLst>
              <a:ext uri="{FF2B5EF4-FFF2-40B4-BE49-F238E27FC236}">
                <a16:creationId xmlns:a16="http://schemas.microsoft.com/office/drawing/2014/main" id="{D59BF364-0F2B-478A-B8DA-D561B99B0542}"/>
              </a:ext>
            </a:extLst>
          </p:cNvPr>
          <p:cNvSpPr>
            <a:spLocks noGrp="1"/>
          </p:cNvSpPr>
          <p:nvPr/>
        </p:nvSpPr>
        <p:spPr>
          <a:xfrm>
            <a:off x="704850" y="742950"/>
            <a:ext cx="10715625" cy="723900"/>
          </a:xfrm>
          <a:prstGeom prst="rect">
            <a:avLst/>
          </a:prstGeom>
          <a:noFill/>
          <a:ln w="0">
            <a:noFill/>
            <a:prstDash val="solid"/>
          </a:ln>
        </p:spPr>
        <p:txBody>
          <a:bodyPr lIns="0" tIns="0" rIns="0" bIns="0" anchor="t">
            <a:normAutofit/>
          </a:bodyPr>
          <a:lstStyle>
            <a:defPPr algn="l">
              <a:defRPr sz="3450" b="1">
                <a:solidFill>
                  <a:srgbClr val="22233D"/>
                </a:solidFill>
                <a:latin typeface="Segoe UI"/>
                <a:ea typeface="Segoe UI"/>
                <a:cs typeface="Segoe UI"/>
              </a:defRPr>
            </a:defPPr>
          </a:lstStyle>
          <a:p>
            <a:pPr algn="l">
              <a:defRPr sz="3450" b="1">
                <a:solidFill>
                  <a:srgbClr val="22233D"/>
                </a:solidFill>
                <a:latin typeface="Segoe UI"/>
                <a:ea typeface="Segoe UI"/>
                <a:cs typeface="Segoe UI"/>
              </a:defRPr>
            </a:pPr>
            <a:r>
              <a:rPr sz="3450" b="1">
                <a:solidFill>
                  <a:srgbClr val="22233D"/>
                </a:solidFill>
                <a:latin typeface="Segoe UI"/>
                <a:ea typeface="Segoe UI"/>
                <a:cs typeface="Segoe UI"/>
              </a:rPr>
              <a:t>UPI payment with manual admin verification</a:t>
            </a:r>
          </a:p>
        </p:txBody>
      </p:sp>
      <p:sp>
        <p:nvSpPr>
          <p:cNvPr id="3" name="Rectangle 2">
            <a:extLst>
              <a:ext uri="{FF2B5EF4-FFF2-40B4-BE49-F238E27FC236}">
                <a16:creationId xmlns:a16="http://schemas.microsoft.com/office/drawing/2014/main" id="{D1D3299D-801C-4AFD-BBE3-07BA14A63A46}"/>
              </a:ext>
            </a:extLst>
          </p:cNvPr>
          <p:cNvSpPr>
            <a:spLocks noGrp="1"/>
          </p:cNvSpPr>
          <p:nvPr/>
        </p:nvSpPr>
        <p:spPr>
          <a:xfrm>
            <a:off x="704850" y="6400800"/>
            <a:ext cx="10782300" cy="9525"/>
          </a:xfrm>
          <a:prstGeom prst="rect">
            <a:avLst/>
          </a:prstGeom>
          <a:solidFill>
            <a:srgbClr val="E4E5EF"/>
          </a:solidFill>
          <a:ln w="0">
            <a:noFill/>
            <a:prstDash val="solid"/>
          </a:ln>
        </p:spPr>
      </p:sp>
      <p:sp>
        <p:nvSpPr>
          <p:cNvPr id="4" name="Rectangle 3">
            <a:extLst>
              <a:ext uri="{FF2B5EF4-FFF2-40B4-BE49-F238E27FC236}">
                <a16:creationId xmlns:a16="http://schemas.microsoft.com/office/drawing/2014/main" id="{2034A92E-0334-408B-8FAE-A1B809306F44}"/>
              </a:ext>
            </a:extLst>
          </p:cNvPr>
          <p:cNvSpPr>
            <a:spLocks noGrp="1"/>
          </p:cNvSpPr>
          <p:nvPr/>
        </p:nvSpPr>
        <p:spPr>
          <a:xfrm>
            <a:off x="704850" y="6505575"/>
            <a:ext cx="6667500" cy="190500"/>
          </a:xfrm>
          <a:prstGeom prst="rect">
            <a:avLst/>
          </a:prstGeom>
          <a:noFill/>
          <a:ln w="0">
            <a:noFill/>
            <a:prstDash val="solid"/>
          </a:ln>
        </p:spPr>
        <p:txBody>
          <a:bodyPr lIns="0" tIns="0" rIns="0" bIns="0" anchor="t">
            <a:normAutofit/>
          </a:bodyPr>
          <a:lstStyle>
            <a:defPPr algn="l">
              <a:defRPr sz="975" b="1">
                <a:solidFill>
                  <a:srgbClr val="777B90"/>
                </a:solidFill>
                <a:latin typeface="Segoe UI"/>
                <a:ea typeface="Segoe UI"/>
                <a:cs typeface="Segoe UI"/>
              </a:defRPr>
            </a:defPPr>
          </a:lstStyle>
          <a:p>
            <a:pPr algn="l">
              <a:defRPr sz="975" b="1">
                <a:solidFill>
                  <a:srgbClr val="777B90"/>
                </a:solidFill>
                <a:latin typeface="Segoe UI"/>
                <a:ea typeface="Segoe UI"/>
                <a:cs typeface="Segoe UI"/>
              </a:defRPr>
            </a:pPr>
            <a:r>
              <a:rPr sz="975" b="1">
                <a:solidFill>
                  <a:srgbClr val="777B90"/>
                </a:solidFill>
                <a:latin typeface="Segoe UI"/>
                <a:ea typeface="Segoe UI"/>
                <a:cs typeface="Segoe UI"/>
              </a:rPr>
              <a:t>HOSTELHUB  /  PROJECT PRESENTATION</a:t>
            </a:r>
          </a:p>
        </p:txBody>
      </p:sp>
      <p:sp>
        <p:nvSpPr>
          <p:cNvPr id="5" name="Rectangle 4">
            <a:extLst>
              <a:ext uri="{FF2B5EF4-FFF2-40B4-BE49-F238E27FC236}">
                <a16:creationId xmlns:a16="http://schemas.microsoft.com/office/drawing/2014/main" id="{91C06589-7A79-4E59-B002-CA96472F85FA}"/>
              </a:ext>
            </a:extLst>
          </p:cNvPr>
          <p:cNvSpPr>
            <a:spLocks noGrp="1"/>
          </p:cNvSpPr>
          <p:nvPr/>
        </p:nvSpPr>
        <p:spPr>
          <a:xfrm>
            <a:off x="11049000" y="6486525"/>
            <a:ext cx="438150" cy="209550"/>
          </a:xfrm>
          <a:prstGeom prst="rect">
            <a:avLst/>
          </a:prstGeom>
          <a:noFill/>
          <a:ln w="0">
            <a:noFill/>
            <a:prstDash val="solid"/>
          </a:ln>
        </p:spPr>
        <p:txBody>
          <a:bodyPr lIns="0" tIns="0" rIns="0" bIns="0" anchor="t">
            <a:normAutofit/>
          </a:bodyPr>
          <a:lstStyle>
            <a:defPPr algn="r">
              <a:defRPr sz="1050" b="1">
                <a:solidFill>
                  <a:srgbClr val="7156E8"/>
                </a:solidFill>
                <a:latin typeface="Segoe UI"/>
                <a:ea typeface="Segoe UI"/>
                <a:cs typeface="Segoe UI"/>
              </a:defRPr>
            </a:defPPr>
          </a:lstStyle>
          <a:p>
            <a:pPr algn="r">
              <a:defRPr sz="1050" b="1">
                <a:solidFill>
                  <a:srgbClr val="7156E8"/>
                </a:solidFill>
                <a:latin typeface="Segoe UI"/>
                <a:ea typeface="Segoe UI"/>
                <a:cs typeface="Segoe UI"/>
              </a:defRPr>
            </a:pPr>
            <a:r>
              <a:rPr sz="1050" b="1">
                <a:solidFill>
                  <a:srgbClr val="7156E8"/>
                </a:solidFill>
                <a:latin typeface="Segoe UI"/>
                <a:ea typeface="Segoe UI"/>
                <a:cs typeface="Segoe UI"/>
              </a:rPr>
              <a:t>07</a:t>
            </a:r>
          </a:p>
        </p:txBody>
      </p:sp>
      <p:sp>
        <p:nvSpPr>
          <p:cNvPr id="6" name="Rectangle 5">
            <a:extLst>
              <a:ext uri="{FF2B5EF4-FFF2-40B4-BE49-F238E27FC236}">
                <a16:creationId xmlns:a16="http://schemas.microsoft.com/office/drawing/2014/main" id="{997CF7FC-7EC3-48A2-B25C-39F4606DEB9D}"/>
              </a:ext>
            </a:extLst>
          </p:cNvPr>
          <p:cNvSpPr>
            <a:spLocks noGrp="1"/>
          </p:cNvSpPr>
          <p:nvPr/>
        </p:nvSpPr>
        <p:spPr>
          <a:xfrm>
            <a:off x="781050" y="1581150"/>
            <a:ext cx="10191750" cy="333375"/>
          </a:xfrm>
          <a:prstGeom prst="rect">
            <a:avLst/>
          </a:prstGeom>
          <a:noFill/>
          <a:ln w="0">
            <a:noFill/>
            <a:prstDash val="solid"/>
          </a:ln>
        </p:spPr>
        <p:txBody>
          <a:bodyPr lIns="0" tIns="0" rIns="0" bIns="0" anchor="t">
            <a:normAutofit/>
          </a:bodyPr>
          <a:lstStyle>
            <a:defPPr algn="l">
              <a:defRPr sz="1650" b="0">
                <a:solidFill>
                  <a:srgbClr val="62667B"/>
                </a:solidFill>
                <a:latin typeface="Segoe UI"/>
                <a:ea typeface="Segoe UI"/>
                <a:cs typeface="Segoe UI"/>
              </a:defRPr>
            </a:defPPr>
          </a:lstStyle>
          <a:p>
            <a:pPr algn="l">
              <a:defRPr sz="1650" b="0">
                <a:solidFill>
                  <a:srgbClr val="62667B"/>
                </a:solidFill>
                <a:latin typeface="Segoe UI"/>
                <a:ea typeface="Segoe UI"/>
                <a:cs typeface="Segoe UI"/>
              </a:defRPr>
            </a:pPr>
            <a:r>
              <a:rPr sz="1650" b="0">
                <a:solidFill>
                  <a:srgbClr val="62667B"/>
                </a:solidFill>
                <a:latin typeface="Segoe UI"/>
                <a:ea typeface="Segoe UI"/>
                <a:cs typeface="Segoe UI"/>
              </a:rPr>
              <a:t>The current payment flow records proof and review status</a:t>
            </a:r>
          </a:p>
        </p:txBody>
      </p:sp>
      <p:sp>
        <p:nvSpPr>
          <p:cNvPr id="7" name="Rectangle 6">
            <a:extLst>
              <a:ext uri="{FF2B5EF4-FFF2-40B4-BE49-F238E27FC236}">
                <a16:creationId xmlns:a16="http://schemas.microsoft.com/office/drawing/2014/main" id="{3C9690E5-A092-4C3C-8677-55F7C9BDEAE8}"/>
              </a:ext>
            </a:extLst>
          </p:cNvPr>
          <p:cNvSpPr>
            <a:spLocks noGrp="1"/>
          </p:cNvSpPr>
          <p:nvPr/>
        </p:nvSpPr>
        <p:spPr>
          <a:xfrm>
            <a:off x="857250" y="2228850"/>
            <a:ext cx="523875" cy="342900"/>
          </a:xfrm>
          <a:prstGeom prst="rect">
            <a:avLst/>
          </a:prstGeom>
          <a:noFill/>
          <a:ln w="0">
            <a:noFill/>
            <a:prstDash val="solid"/>
          </a:ln>
        </p:spPr>
        <p:txBody>
          <a:bodyPr lIns="0" tIns="0" rIns="0" bIns="0" anchor="t">
            <a:normAutofit/>
          </a:bodyPr>
          <a:lstStyle>
            <a:defPPr algn="l">
              <a:defRPr sz="1725" b="1">
                <a:solidFill>
                  <a:srgbClr val="7156E8"/>
                </a:solidFill>
                <a:latin typeface="Segoe UI"/>
                <a:ea typeface="Segoe UI"/>
                <a:cs typeface="Segoe UI"/>
              </a:defRPr>
            </a:defPPr>
          </a:lstStyle>
          <a:p>
            <a:pPr algn="l">
              <a:defRPr sz="1725" b="1">
                <a:solidFill>
                  <a:srgbClr val="7156E8"/>
                </a:solidFill>
                <a:latin typeface="Segoe UI"/>
                <a:ea typeface="Segoe UI"/>
                <a:cs typeface="Segoe UI"/>
              </a:defRPr>
            </a:pPr>
            <a:r>
              <a:rPr sz="1725" b="1">
                <a:solidFill>
                  <a:srgbClr val="7156E8"/>
                </a:solidFill>
                <a:latin typeface="Segoe UI"/>
                <a:ea typeface="Segoe UI"/>
                <a:cs typeface="Segoe UI"/>
              </a:rPr>
              <a:t>01</a:t>
            </a:r>
          </a:p>
        </p:txBody>
      </p:sp>
      <p:sp>
        <p:nvSpPr>
          <p:cNvPr id="8" name="Rectangle 7">
            <a:extLst>
              <a:ext uri="{FF2B5EF4-FFF2-40B4-BE49-F238E27FC236}">
                <a16:creationId xmlns:a16="http://schemas.microsoft.com/office/drawing/2014/main" id="{0AB89BE5-7D30-4058-BB61-97A183BE5B6D}"/>
              </a:ext>
            </a:extLst>
          </p:cNvPr>
          <p:cNvSpPr>
            <a:spLocks noGrp="1"/>
          </p:cNvSpPr>
          <p:nvPr/>
        </p:nvSpPr>
        <p:spPr>
          <a:xfrm>
            <a:off x="1524000" y="2209800"/>
            <a:ext cx="1714500" cy="323850"/>
          </a:xfrm>
          <a:prstGeom prst="rect">
            <a:avLst/>
          </a:prstGeom>
          <a:noFill/>
          <a:ln w="0">
            <a:noFill/>
            <a:prstDash val="solid"/>
          </a:ln>
        </p:spPr>
        <p:txBody>
          <a:bodyPr lIns="0" tIns="0" rIns="0" bIns="0" anchor="t">
            <a:normAutofit/>
          </a:bodyPr>
          <a:lstStyle>
            <a:defPPr algn="l">
              <a:defRPr sz="1650" b="1">
                <a:solidFill>
                  <a:srgbClr val="22233D"/>
                </a:solidFill>
                <a:latin typeface="Segoe UI"/>
                <a:ea typeface="Segoe UI"/>
                <a:cs typeface="Segoe UI"/>
              </a:defRPr>
            </a:defPPr>
          </a:lstStyle>
          <a:p>
            <a:pPr algn="l">
              <a:defRPr sz="1650" b="1">
                <a:solidFill>
                  <a:srgbClr val="22233D"/>
                </a:solidFill>
                <a:latin typeface="Segoe UI"/>
                <a:ea typeface="Segoe UI"/>
                <a:cs typeface="Segoe UI"/>
              </a:defRPr>
            </a:pPr>
            <a:r>
              <a:rPr sz="1650" b="1">
                <a:solidFill>
                  <a:srgbClr val="22233D"/>
                </a:solidFill>
                <a:latin typeface="Segoe UI"/>
                <a:ea typeface="Segoe UI"/>
                <a:cs typeface="Segoe UI"/>
              </a:rPr>
              <a:t>Admin</a:t>
            </a:r>
          </a:p>
        </p:txBody>
      </p:sp>
      <p:sp>
        <p:nvSpPr>
          <p:cNvPr id="9" name="Rectangle 8">
            <a:extLst>
              <a:ext uri="{FF2B5EF4-FFF2-40B4-BE49-F238E27FC236}">
                <a16:creationId xmlns:a16="http://schemas.microsoft.com/office/drawing/2014/main" id="{C9CA3A1F-3DCC-468B-87FA-E03CFF08A295}"/>
              </a:ext>
            </a:extLst>
          </p:cNvPr>
          <p:cNvSpPr>
            <a:spLocks noGrp="1"/>
          </p:cNvSpPr>
          <p:nvPr/>
        </p:nvSpPr>
        <p:spPr>
          <a:xfrm>
            <a:off x="3362325" y="2209800"/>
            <a:ext cx="6953250" cy="381000"/>
          </a:xfrm>
          <a:prstGeom prst="rect">
            <a:avLst/>
          </a:prstGeom>
          <a:noFill/>
          <a:ln w="0">
            <a:noFill/>
            <a:prstDash val="solid"/>
          </a:ln>
        </p:spPr>
        <p:txBody>
          <a:bodyPr lIns="0" tIns="0" rIns="0" bIns="0" anchor="t">
            <a:normAutofit/>
          </a:bodyPr>
          <a:lstStyle>
            <a:defPPr algn="l">
              <a:defRPr sz="1575" b="0">
                <a:solidFill>
                  <a:srgbClr val="62667B"/>
                </a:solidFill>
                <a:latin typeface="Segoe UI"/>
                <a:ea typeface="Segoe UI"/>
                <a:cs typeface="Segoe UI"/>
              </a:defRPr>
            </a:defPPr>
          </a:lstStyle>
          <a:p>
            <a:pPr algn="l">
              <a:defRPr sz="1575" b="0">
                <a:solidFill>
                  <a:srgbClr val="62667B"/>
                </a:solidFill>
                <a:latin typeface="Segoe UI"/>
                <a:ea typeface="Segoe UI"/>
                <a:cs typeface="Segoe UI"/>
              </a:defRPr>
            </a:pPr>
            <a:r>
              <a:rPr sz="1575" b="0">
                <a:solidFill>
                  <a:srgbClr val="62667B"/>
                </a:solidFill>
                <a:latin typeface="Segoe UI"/>
                <a:ea typeface="Segoe UI"/>
                <a:cs typeface="Segoe UI"/>
              </a:rPr>
              <a:t>Adds UPI ID or uploads QR</a:t>
            </a:r>
          </a:p>
        </p:txBody>
      </p:sp>
      <p:sp>
        <p:nvSpPr>
          <p:cNvPr id="10" name="Rectangle 9">
            <a:extLst>
              <a:ext uri="{FF2B5EF4-FFF2-40B4-BE49-F238E27FC236}">
                <a16:creationId xmlns:a16="http://schemas.microsoft.com/office/drawing/2014/main" id="{87E0788C-8CD8-41DE-AA61-1D924E032ED2}"/>
              </a:ext>
            </a:extLst>
          </p:cNvPr>
          <p:cNvSpPr>
            <a:spLocks noGrp="1"/>
          </p:cNvSpPr>
          <p:nvPr/>
        </p:nvSpPr>
        <p:spPr>
          <a:xfrm>
            <a:off x="1524000" y="2733675"/>
            <a:ext cx="8810625" cy="9525"/>
          </a:xfrm>
          <a:prstGeom prst="rect">
            <a:avLst/>
          </a:prstGeom>
          <a:solidFill>
            <a:srgbClr val="E4E5EF"/>
          </a:solidFill>
          <a:ln w="0">
            <a:noFill/>
            <a:prstDash val="solid"/>
          </a:ln>
        </p:spPr>
      </p:sp>
      <p:sp>
        <p:nvSpPr>
          <p:cNvPr id="11" name="Rectangle 10">
            <a:extLst>
              <a:ext uri="{FF2B5EF4-FFF2-40B4-BE49-F238E27FC236}">
                <a16:creationId xmlns:a16="http://schemas.microsoft.com/office/drawing/2014/main" id="{40ADEA2D-9ABF-457F-9A0D-84C507D8C50D}"/>
              </a:ext>
            </a:extLst>
          </p:cNvPr>
          <p:cNvSpPr>
            <a:spLocks noGrp="1"/>
          </p:cNvSpPr>
          <p:nvPr/>
        </p:nvSpPr>
        <p:spPr>
          <a:xfrm>
            <a:off x="857250" y="3105150"/>
            <a:ext cx="523875" cy="342900"/>
          </a:xfrm>
          <a:prstGeom prst="rect">
            <a:avLst/>
          </a:prstGeom>
          <a:noFill/>
          <a:ln w="0">
            <a:noFill/>
            <a:prstDash val="solid"/>
          </a:ln>
        </p:spPr>
        <p:txBody>
          <a:bodyPr lIns="0" tIns="0" rIns="0" bIns="0" anchor="t">
            <a:normAutofit/>
          </a:bodyPr>
          <a:lstStyle>
            <a:defPPr algn="l">
              <a:defRPr sz="1725" b="1">
                <a:solidFill>
                  <a:srgbClr val="27B99A"/>
                </a:solidFill>
                <a:latin typeface="Segoe UI"/>
                <a:ea typeface="Segoe UI"/>
                <a:cs typeface="Segoe UI"/>
              </a:defRPr>
            </a:defPPr>
          </a:lstStyle>
          <a:p>
            <a:pPr algn="l">
              <a:defRPr sz="1725" b="1">
                <a:solidFill>
                  <a:srgbClr val="27B99A"/>
                </a:solidFill>
                <a:latin typeface="Segoe UI"/>
                <a:ea typeface="Segoe UI"/>
                <a:cs typeface="Segoe UI"/>
              </a:defRPr>
            </a:pPr>
            <a:r>
              <a:rPr sz="1725" b="1">
                <a:solidFill>
                  <a:srgbClr val="27B99A"/>
                </a:solidFill>
                <a:latin typeface="Segoe UI"/>
                <a:ea typeface="Segoe UI"/>
                <a:cs typeface="Segoe UI"/>
              </a:rPr>
              <a:t>02</a:t>
            </a:r>
          </a:p>
        </p:txBody>
      </p:sp>
      <p:sp>
        <p:nvSpPr>
          <p:cNvPr id="12" name="Rectangle 11">
            <a:extLst>
              <a:ext uri="{FF2B5EF4-FFF2-40B4-BE49-F238E27FC236}">
                <a16:creationId xmlns:a16="http://schemas.microsoft.com/office/drawing/2014/main" id="{6F1EEACF-5435-44FF-A985-7F69F9EA7490}"/>
              </a:ext>
            </a:extLst>
          </p:cNvPr>
          <p:cNvSpPr>
            <a:spLocks noGrp="1"/>
          </p:cNvSpPr>
          <p:nvPr/>
        </p:nvSpPr>
        <p:spPr>
          <a:xfrm>
            <a:off x="1524000" y="3086100"/>
            <a:ext cx="1714500" cy="323850"/>
          </a:xfrm>
          <a:prstGeom prst="rect">
            <a:avLst/>
          </a:prstGeom>
          <a:noFill/>
          <a:ln w="0">
            <a:noFill/>
            <a:prstDash val="solid"/>
          </a:ln>
        </p:spPr>
        <p:txBody>
          <a:bodyPr lIns="0" tIns="0" rIns="0" bIns="0" anchor="t">
            <a:normAutofit/>
          </a:bodyPr>
          <a:lstStyle>
            <a:defPPr algn="l">
              <a:defRPr sz="1650" b="1">
                <a:solidFill>
                  <a:srgbClr val="22233D"/>
                </a:solidFill>
                <a:latin typeface="Segoe UI"/>
                <a:ea typeface="Segoe UI"/>
                <a:cs typeface="Segoe UI"/>
              </a:defRPr>
            </a:defPPr>
          </a:lstStyle>
          <a:p>
            <a:pPr algn="l">
              <a:defRPr sz="1650" b="1">
                <a:solidFill>
                  <a:srgbClr val="22233D"/>
                </a:solidFill>
                <a:latin typeface="Segoe UI"/>
                <a:ea typeface="Segoe UI"/>
                <a:cs typeface="Segoe UI"/>
              </a:defRPr>
            </a:pPr>
            <a:r>
              <a:rPr sz="1650" b="1">
                <a:solidFill>
                  <a:srgbClr val="22233D"/>
                </a:solidFill>
                <a:latin typeface="Segoe UI"/>
                <a:ea typeface="Segoe UI"/>
                <a:cs typeface="Segoe UI"/>
              </a:rPr>
              <a:t>Student</a:t>
            </a:r>
          </a:p>
        </p:txBody>
      </p:sp>
      <p:sp>
        <p:nvSpPr>
          <p:cNvPr id="13" name="Rectangle 12">
            <a:extLst>
              <a:ext uri="{FF2B5EF4-FFF2-40B4-BE49-F238E27FC236}">
                <a16:creationId xmlns:a16="http://schemas.microsoft.com/office/drawing/2014/main" id="{24DC4B55-0153-4A0A-BA6C-38D279608059}"/>
              </a:ext>
            </a:extLst>
          </p:cNvPr>
          <p:cNvSpPr>
            <a:spLocks noGrp="1"/>
          </p:cNvSpPr>
          <p:nvPr/>
        </p:nvSpPr>
        <p:spPr>
          <a:xfrm>
            <a:off x="3362325" y="3086100"/>
            <a:ext cx="6953250" cy="381000"/>
          </a:xfrm>
          <a:prstGeom prst="rect">
            <a:avLst/>
          </a:prstGeom>
          <a:noFill/>
          <a:ln w="0">
            <a:noFill/>
            <a:prstDash val="solid"/>
          </a:ln>
        </p:spPr>
        <p:txBody>
          <a:bodyPr lIns="0" tIns="0" rIns="0" bIns="0" anchor="t">
            <a:normAutofit/>
          </a:bodyPr>
          <a:lstStyle>
            <a:defPPr algn="l">
              <a:defRPr sz="1575" b="0">
                <a:solidFill>
                  <a:srgbClr val="62667B"/>
                </a:solidFill>
                <a:latin typeface="Segoe UI"/>
                <a:ea typeface="Segoe UI"/>
                <a:cs typeface="Segoe UI"/>
              </a:defRPr>
            </a:defPPr>
          </a:lstStyle>
          <a:p>
            <a:pPr algn="l">
              <a:defRPr sz="1575" b="0">
                <a:solidFill>
                  <a:srgbClr val="62667B"/>
                </a:solidFill>
                <a:latin typeface="Segoe UI"/>
                <a:ea typeface="Segoe UI"/>
                <a:cs typeface="Segoe UI"/>
              </a:defRPr>
            </a:pPr>
            <a:r>
              <a:rPr sz="1575" b="0">
                <a:solidFill>
                  <a:srgbClr val="62667B"/>
                </a:solidFill>
                <a:latin typeface="Segoe UI"/>
                <a:ea typeface="Segoe UI"/>
                <a:cs typeface="Segoe UI"/>
              </a:rPr>
              <a:t>Opens Pay Now for an order</a:t>
            </a:r>
          </a:p>
        </p:txBody>
      </p:sp>
      <p:sp>
        <p:nvSpPr>
          <p:cNvPr id="14" name="Rectangle 13">
            <a:extLst>
              <a:ext uri="{FF2B5EF4-FFF2-40B4-BE49-F238E27FC236}">
                <a16:creationId xmlns:a16="http://schemas.microsoft.com/office/drawing/2014/main" id="{267D8B67-4116-4A2B-B3C7-0C846C34B937}"/>
              </a:ext>
            </a:extLst>
          </p:cNvPr>
          <p:cNvSpPr>
            <a:spLocks noGrp="1"/>
          </p:cNvSpPr>
          <p:nvPr/>
        </p:nvSpPr>
        <p:spPr>
          <a:xfrm>
            <a:off x="1524000" y="3609975"/>
            <a:ext cx="8810625" cy="9525"/>
          </a:xfrm>
          <a:prstGeom prst="rect">
            <a:avLst/>
          </a:prstGeom>
          <a:solidFill>
            <a:srgbClr val="E4E5EF"/>
          </a:solidFill>
          <a:ln w="0">
            <a:noFill/>
            <a:prstDash val="solid"/>
          </a:ln>
        </p:spPr>
      </p:sp>
      <p:sp>
        <p:nvSpPr>
          <p:cNvPr id="15" name="Rectangle 14">
            <a:extLst>
              <a:ext uri="{FF2B5EF4-FFF2-40B4-BE49-F238E27FC236}">
                <a16:creationId xmlns:a16="http://schemas.microsoft.com/office/drawing/2014/main" id="{BDD22FFA-B655-4D49-81A5-3A015980FA80}"/>
              </a:ext>
            </a:extLst>
          </p:cNvPr>
          <p:cNvSpPr>
            <a:spLocks noGrp="1"/>
          </p:cNvSpPr>
          <p:nvPr/>
        </p:nvSpPr>
        <p:spPr>
          <a:xfrm>
            <a:off x="857250" y="3981450"/>
            <a:ext cx="523875" cy="342900"/>
          </a:xfrm>
          <a:prstGeom prst="rect">
            <a:avLst/>
          </a:prstGeom>
          <a:noFill/>
          <a:ln w="0">
            <a:noFill/>
            <a:prstDash val="solid"/>
          </a:ln>
        </p:spPr>
        <p:txBody>
          <a:bodyPr lIns="0" tIns="0" rIns="0" bIns="0" anchor="t">
            <a:normAutofit/>
          </a:bodyPr>
          <a:lstStyle>
            <a:defPPr algn="l">
              <a:defRPr sz="1725" b="1">
                <a:solidFill>
                  <a:srgbClr val="E9A83A"/>
                </a:solidFill>
                <a:latin typeface="Segoe UI"/>
                <a:ea typeface="Segoe UI"/>
                <a:cs typeface="Segoe UI"/>
              </a:defRPr>
            </a:defPPr>
          </a:lstStyle>
          <a:p>
            <a:pPr algn="l">
              <a:defRPr sz="1725" b="1">
                <a:solidFill>
                  <a:srgbClr val="E9A83A"/>
                </a:solidFill>
                <a:latin typeface="Segoe UI"/>
                <a:ea typeface="Segoe UI"/>
                <a:cs typeface="Segoe UI"/>
              </a:defRPr>
            </a:pPr>
            <a:r>
              <a:rPr sz="1725" b="1">
                <a:solidFill>
                  <a:srgbClr val="E9A83A"/>
                </a:solidFill>
                <a:latin typeface="Segoe UI"/>
                <a:ea typeface="Segoe UI"/>
                <a:cs typeface="Segoe UI"/>
              </a:rPr>
              <a:t>03</a:t>
            </a:r>
          </a:p>
        </p:txBody>
      </p:sp>
      <p:sp>
        <p:nvSpPr>
          <p:cNvPr id="16" name="Rectangle 15">
            <a:extLst>
              <a:ext uri="{FF2B5EF4-FFF2-40B4-BE49-F238E27FC236}">
                <a16:creationId xmlns:a16="http://schemas.microsoft.com/office/drawing/2014/main" id="{16D194AF-A7C9-40F1-AB43-B8BBF0B5AEFC}"/>
              </a:ext>
            </a:extLst>
          </p:cNvPr>
          <p:cNvSpPr>
            <a:spLocks noGrp="1"/>
          </p:cNvSpPr>
          <p:nvPr/>
        </p:nvSpPr>
        <p:spPr>
          <a:xfrm>
            <a:off x="1524000" y="3962400"/>
            <a:ext cx="1714500" cy="323850"/>
          </a:xfrm>
          <a:prstGeom prst="rect">
            <a:avLst/>
          </a:prstGeom>
          <a:noFill/>
          <a:ln w="0">
            <a:noFill/>
            <a:prstDash val="solid"/>
          </a:ln>
        </p:spPr>
        <p:txBody>
          <a:bodyPr lIns="0" tIns="0" rIns="0" bIns="0" anchor="t">
            <a:normAutofit/>
          </a:bodyPr>
          <a:lstStyle>
            <a:defPPr algn="l">
              <a:defRPr sz="1650" b="1">
                <a:solidFill>
                  <a:srgbClr val="22233D"/>
                </a:solidFill>
                <a:latin typeface="Segoe UI"/>
                <a:ea typeface="Segoe UI"/>
                <a:cs typeface="Segoe UI"/>
              </a:defRPr>
            </a:defPPr>
          </a:lstStyle>
          <a:p>
            <a:pPr algn="l">
              <a:defRPr sz="1650" b="1">
                <a:solidFill>
                  <a:srgbClr val="22233D"/>
                </a:solidFill>
                <a:latin typeface="Segoe UI"/>
                <a:ea typeface="Segoe UI"/>
                <a:cs typeface="Segoe UI"/>
              </a:defRPr>
            </a:pPr>
            <a:r>
              <a:rPr sz="1650" b="1">
                <a:solidFill>
                  <a:srgbClr val="22233D"/>
                </a:solidFill>
                <a:latin typeface="Segoe UI"/>
                <a:ea typeface="Segoe UI"/>
                <a:cs typeface="Segoe UI"/>
              </a:rPr>
              <a:t>Student</a:t>
            </a:r>
          </a:p>
        </p:txBody>
      </p:sp>
      <p:sp>
        <p:nvSpPr>
          <p:cNvPr id="17" name="Rectangle 16">
            <a:extLst>
              <a:ext uri="{FF2B5EF4-FFF2-40B4-BE49-F238E27FC236}">
                <a16:creationId xmlns:a16="http://schemas.microsoft.com/office/drawing/2014/main" id="{438DAE4A-CC17-4311-8675-2F5EFDBE3A1C}"/>
              </a:ext>
            </a:extLst>
          </p:cNvPr>
          <p:cNvSpPr>
            <a:spLocks noGrp="1"/>
          </p:cNvSpPr>
          <p:nvPr/>
        </p:nvSpPr>
        <p:spPr>
          <a:xfrm>
            <a:off x="3362325" y="3962400"/>
            <a:ext cx="6953250" cy="381000"/>
          </a:xfrm>
          <a:prstGeom prst="rect">
            <a:avLst/>
          </a:prstGeom>
          <a:noFill/>
          <a:ln w="0">
            <a:noFill/>
            <a:prstDash val="solid"/>
          </a:ln>
        </p:spPr>
        <p:txBody>
          <a:bodyPr lIns="0" tIns="0" rIns="0" bIns="0" anchor="t">
            <a:normAutofit/>
          </a:bodyPr>
          <a:lstStyle>
            <a:defPPr algn="l">
              <a:defRPr sz="1575" b="0">
                <a:solidFill>
                  <a:srgbClr val="62667B"/>
                </a:solidFill>
                <a:latin typeface="Segoe UI"/>
                <a:ea typeface="Segoe UI"/>
                <a:cs typeface="Segoe UI"/>
              </a:defRPr>
            </a:defPPr>
          </a:lstStyle>
          <a:p>
            <a:pPr algn="l">
              <a:defRPr sz="1575" b="0">
                <a:solidFill>
                  <a:srgbClr val="62667B"/>
                </a:solidFill>
                <a:latin typeface="Segoe UI"/>
                <a:ea typeface="Segoe UI"/>
                <a:cs typeface="Segoe UI"/>
              </a:defRPr>
            </a:pPr>
            <a:r>
              <a:rPr sz="1575" b="0">
                <a:solidFill>
                  <a:srgbClr val="62667B"/>
                </a:solidFill>
                <a:latin typeface="Segoe UI"/>
                <a:ea typeface="Segoe UI"/>
                <a:cs typeface="Segoe UI"/>
              </a:rPr>
              <a:t>Pays in their UPI app and submits reference</a:t>
            </a:r>
          </a:p>
        </p:txBody>
      </p:sp>
      <p:sp>
        <p:nvSpPr>
          <p:cNvPr id="18" name="Rectangle 17">
            <a:extLst>
              <a:ext uri="{FF2B5EF4-FFF2-40B4-BE49-F238E27FC236}">
                <a16:creationId xmlns:a16="http://schemas.microsoft.com/office/drawing/2014/main" id="{C603210C-5580-4BBD-B767-C855A0C03C48}"/>
              </a:ext>
            </a:extLst>
          </p:cNvPr>
          <p:cNvSpPr>
            <a:spLocks noGrp="1"/>
          </p:cNvSpPr>
          <p:nvPr/>
        </p:nvSpPr>
        <p:spPr>
          <a:xfrm>
            <a:off x="1524000" y="4486275"/>
            <a:ext cx="8810625" cy="9525"/>
          </a:xfrm>
          <a:prstGeom prst="rect">
            <a:avLst/>
          </a:prstGeom>
          <a:solidFill>
            <a:srgbClr val="E4E5EF"/>
          </a:solidFill>
          <a:ln w="0">
            <a:noFill/>
            <a:prstDash val="solid"/>
          </a:ln>
        </p:spPr>
      </p:sp>
      <p:sp>
        <p:nvSpPr>
          <p:cNvPr id="19" name="Rectangle 18">
            <a:extLst>
              <a:ext uri="{FF2B5EF4-FFF2-40B4-BE49-F238E27FC236}">
                <a16:creationId xmlns:a16="http://schemas.microsoft.com/office/drawing/2014/main" id="{68271413-83F2-4E8C-B9EC-D287EC19E772}"/>
              </a:ext>
            </a:extLst>
          </p:cNvPr>
          <p:cNvSpPr>
            <a:spLocks noGrp="1"/>
          </p:cNvSpPr>
          <p:nvPr/>
        </p:nvSpPr>
        <p:spPr>
          <a:xfrm>
            <a:off x="857250" y="4857750"/>
            <a:ext cx="523875" cy="342900"/>
          </a:xfrm>
          <a:prstGeom prst="rect">
            <a:avLst/>
          </a:prstGeom>
          <a:noFill/>
          <a:ln w="0">
            <a:noFill/>
            <a:prstDash val="solid"/>
          </a:ln>
        </p:spPr>
        <p:txBody>
          <a:bodyPr lIns="0" tIns="0" rIns="0" bIns="0" anchor="t">
            <a:normAutofit/>
          </a:bodyPr>
          <a:lstStyle>
            <a:defPPr algn="l">
              <a:defRPr sz="1725" b="1">
                <a:solidFill>
                  <a:srgbClr val="E27668"/>
                </a:solidFill>
                <a:latin typeface="Segoe UI"/>
                <a:ea typeface="Segoe UI"/>
                <a:cs typeface="Segoe UI"/>
              </a:defRPr>
            </a:defPPr>
          </a:lstStyle>
          <a:p>
            <a:pPr algn="l">
              <a:defRPr sz="1725" b="1">
                <a:solidFill>
                  <a:srgbClr val="E27668"/>
                </a:solidFill>
                <a:latin typeface="Segoe UI"/>
                <a:ea typeface="Segoe UI"/>
                <a:cs typeface="Segoe UI"/>
              </a:defRPr>
            </a:pPr>
            <a:r>
              <a:rPr sz="1725" b="1">
                <a:solidFill>
                  <a:srgbClr val="E27668"/>
                </a:solidFill>
                <a:latin typeface="Segoe UI"/>
                <a:ea typeface="Segoe UI"/>
                <a:cs typeface="Segoe UI"/>
              </a:rPr>
              <a:t>04</a:t>
            </a:r>
          </a:p>
        </p:txBody>
      </p:sp>
      <p:sp>
        <p:nvSpPr>
          <p:cNvPr id="20" name="Rectangle 19">
            <a:extLst>
              <a:ext uri="{FF2B5EF4-FFF2-40B4-BE49-F238E27FC236}">
                <a16:creationId xmlns:a16="http://schemas.microsoft.com/office/drawing/2014/main" id="{526E4192-6350-4688-90BE-35CFB608B607}"/>
              </a:ext>
            </a:extLst>
          </p:cNvPr>
          <p:cNvSpPr>
            <a:spLocks noGrp="1"/>
          </p:cNvSpPr>
          <p:nvPr/>
        </p:nvSpPr>
        <p:spPr>
          <a:xfrm>
            <a:off x="1524000" y="4838700"/>
            <a:ext cx="1714500" cy="323850"/>
          </a:xfrm>
          <a:prstGeom prst="rect">
            <a:avLst/>
          </a:prstGeom>
          <a:noFill/>
          <a:ln w="0">
            <a:noFill/>
            <a:prstDash val="solid"/>
          </a:ln>
        </p:spPr>
        <p:txBody>
          <a:bodyPr lIns="0" tIns="0" rIns="0" bIns="0" anchor="t">
            <a:normAutofit/>
          </a:bodyPr>
          <a:lstStyle>
            <a:defPPr algn="l">
              <a:defRPr sz="1650" b="1">
                <a:solidFill>
                  <a:srgbClr val="22233D"/>
                </a:solidFill>
                <a:latin typeface="Segoe UI"/>
                <a:ea typeface="Segoe UI"/>
                <a:cs typeface="Segoe UI"/>
              </a:defRPr>
            </a:defPPr>
          </a:lstStyle>
          <a:p>
            <a:pPr algn="l">
              <a:defRPr sz="1650" b="1">
                <a:solidFill>
                  <a:srgbClr val="22233D"/>
                </a:solidFill>
                <a:latin typeface="Segoe UI"/>
                <a:ea typeface="Segoe UI"/>
                <a:cs typeface="Segoe UI"/>
              </a:defRPr>
            </a:pPr>
            <a:r>
              <a:rPr sz="1650" b="1">
                <a:solidFill>
                  <a:srgbClr val="22233D"/>
                </a:solidFill>
                <a:latin typeface="Segoe UI"/>
                <a:ea typeface="Segoe UI"/>
                <a:cs typeface="Segoe UI"/>
              </a:rPr>
              <a:t>Admin</a:t>
            </a:r>
          </a:p>
        </p:txBody>
      </p:sp>
      <p:sp>
        <p:nvSpPr>
          <p:cNvPr id="21" name="Rectangle 20">
            <a:extLst>
              <a:ext uri="{FF2B5EF4-FFF2-40B4-BE49-F238E27FC236}">
                <a16:creationId xmlns:a16="http://schemas.microsoft.com/office/drawing/2014/main" id="{1ABB7BBF-C2D9-4B6B-AA2A-357664461232}"/>
              </a:ext>
            </a:extLst>
          </p:cNvPr>
          <p:cNvSpPr>
            <a:spLocks noGrp="1"/>
          </p:cNvSpPr>
          <p:nvPr/>
        </p:nvSpPr>
        <p:spPr>
          <a:xfrm>
            <a:off x="3362325" y="4838700"/>
            <a:ext cx="6953250" cy="381000"/>
          </a:xfrm>
          <a:prstGeom prst="rect">
            <a:avLst/>
          </a:prstGeom>
          <a:noFill/>
          <a:ln w="0">
            <a:noFill/>
            <a:prstDash val="solid"/>
          </a:ln>
        </p:spPr>
        <p:txBody>
          <a:bodyPr lIns="0" tIns="0" rIns="0" bIns="0" anchor="t">
            <a:normAutofit/>
          </a:bodyPr>
          <a:lstStyle>
            <a:defPPr algn="l">
              <a:defRPr sz="1575" b="0">
                <a:solidFill>
                  <a:srgbClr val="62667B"/>
                </a:solidFill>
                <a:latin typeface="Segoe UI"/>
                <a:ea typeface="Segoe UI"/>
                <a:cs typeface="Segoe UI"/>
              </a:defRPr>
            </a:defPPr>
          </a:lstStyle>
          <a:p>
            <a:pPr algn="l">
              <a:defRPr sz="1575" b="0">
                <a:solidFill>
                  <a:srgbClr val="62667B"/>
                </a:solidFill>
                <a:latin typeface="Segoe UI"/>
                <a:ea typeface="Segoe UI"/>
                <a:cs typeface="Segoe UI"/>
              </a:defRPr>
            </a:pPr>
            <a:r>
              <a:rPr sz="1575" b="0">
                <a:solidFill>
                  <a:srgbClr val="62667B"/>
                </a:solidFill>
                <a:latin typeface="Segoe UI"/>
                <a:ea typeface="Segoe UI"/>
                <a:cs typeface="Segoe UI"/>
              </a:rPr>
              <a:t>Reviews and verifies the payment</a:t>
            </a:r>
          </a:p>
        </p:txBody>
      </p:sp>
      <p:sp>
        <p:nvSpPr>
          <p:cNvPr id="22" name="Rectangle: Rounded Corners 21">
            <a:extLst>
              <a:ext uri="{FF2B5EF4-FFF2-40B4-BE49-F238E27FC236}">
                <a16:creationId xmlns:a16="http://schemas.microsoft.com/office/drawing/2014/main" id="{56E0BAB5-8810-4D38-8867-7393C8E66453}"/>
              </a:ext>
            </a:extLst>
          </p:cNvPr>
          <p:cNvSpPr>
            <a:spLocks noGrp="1"/>
          </p:cNvSpPr>
          <p:nvPr/>
        </p:nvSpPr>
        <p:spPr>
          <a:xfrm>
            <a:off x="1524000" y="5791200"/>
            <a:ext cx="8810625" cy="371475"/>
          </a:xfrm>
          <a:prstGeom prst="roundRect">
            <a:avLst>
              <a:gd name="adj" fmla="val 25641"/>
            </a:avLst>
          </a:prstGeom>
          <a:solidFill>
            <a:srgbClr val="FFF4DE"/>
          </a:solidFill>
          <a:ln w="0">
            <a:solidFill>
              <a:srgbClr val="FFF4DE"/>
            </a:solidFill>
            <a:prstDash val="solid"/>
          </a:ln>
        </p:spPr>
      </p:sp>
      <p:sp>
        <p:nvSpPr>
          <p:cNvPr id="23" name="Rectangle 22">
            <a:extLst>
              <a:ext uri="{FF2B5EF4-FFF2-40B4-BE49-F238E27FC236}">
                <a16:creationId xmlns:a16="http://schemas.microsoft.com/office/drawing/2014/main" id="{A37C9B0B-B01C-4664-8674-F0E0EAA205AE}"/>
              </a:ext>
            </a:extLst>
          </p:cNvPr>
          <p:cNvSpPr>
            <a:spLocks noGrp="1"/>
          </p:cNvSpPr>
          <p:nvPr/>
        </p:nvSpPr>
        <p:spPr>
          <a:xfrm>
            <a:off x="1695450" y="5867400"/>
            <a:ext cx="8572500" cy="228600"/>
          </a:xfrm>
          <a:prstGeom prst="rect">
            <a:avLst/>
          </a:prstGeom>
          <a:noFill/>
          <a:ln w="0">
            <a:noFill/>
            <a:prstDash val="solid"/>
          </a:ln>
        </p:spPr>
        <p:txBody>
          <a:bodyPr lIns="0" tIns="0" rIns="0" bIns="0" anchor="t">
            <a:normAutofit/>
          </a:bodyPr>
          <a:lstStyle>
            <a:defPPr algn="l">
              <a:defRPr sz="1200" b="1">
                <a:solidFill>
                  <a:srgbClr val="75531A"/>
                </a:solidFill>
                <a:latin typeface="Segoe UI"/>
                <a:ea typeface="Segoe UI"/>
                <a:cs typeface="Segoe UI"/>
              </a:defRPr>
            </a:defPPr>
          </a:lstStyle>
          <a:p>
            <a:pPr algn="l">
              <a:defRPr sz="1200" b="1">
                <a:solidFill>
                  <a:srgbClr val="75531A"/>
                </a:solidFill>
                <a:latin typeface="Segoe UI"/>
                <a:ea typeface="Segoe UI"/>
                <a:cs typeface="Segoe UI"/>
              </a:defRPr>
            </a:pPr>
            <a:r>
              <a:rPr sz="1200" b="1">
                <a:solidFill>
                  <a:srgbClr val="75531A"/>
                </a:solidFill>
                <a:latin typeface="Segoe UI"/>
                <a:ea typeface="Segoe UI"/>
                <a:cs typeface="Segoe UI"/>
              </a:rPr>
              <a:t>Status remains awaiting verification until an administrator confirms it.</a:t>
            </a:r>
          </a:p>
        </p:txBody>
      </p:sp>
    </p:spTree>
    <p:extLst>
      <p:ext uri="{BB962C8B-B14F-4D97-AF65-F5344CB8AC3E}">
        <p14:creationId xmlns:p14="http://schemas.microsoft.com/office/powerpoint/2010/main" val="17099560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13A9751-B8F7-459C-A3DF-465DE4B28445}"/>
              </a:ext>
            </a:extLst>
          </p:cNvPr>
          <p:cNvSpPr>
            <a:spLocks noGrp="1"/>
          </p:cNvSpPr>
          <p:nvPr/>
        </p:nvSpPr>
        <p:spPr>
          <a:xfrm>
            <a:off x="704850" y="400050"/>
            <a:ext cx="5715000" cy="209550"/>
          </a:xfrm>
          <a:prstGeom prst="rect">
            <a:avLst/>
          </a:prstGeom>
          <a:noFill/>
          <a:ln w="0">
            <a:noFill/>
            <a:prstDash val="solid"/>
          </a:ln>
        </p:spPr>
        <p:txBody>
          <a:bodyPr lIns="0" tIns="0" rIns="0" bIns="0" anchor="t">
            <a:normAutofit/>
          </a:bodyPr>
          <a:lstStyle>
            <a:defPPr algn="l">
              <a:defRPr sz="1050" b="1">
                <a:solidFill>
                  <a:srgbClr val="7156E8"/>
                </a:solidFill>
                <a:latin typeface="Segoe UI"/>
                <a:ea typeface="Segoe UI"/>
                <a:cs typeface="Segoe UI"/>
              </a:defRPr>
            </a:defPPr>
          </a:lstStyle>
          <a:p>
            <a:pPr algn="l">
              <a:defRPr sz="1050" b="1">
                <a:solidFill>
                  <a:srgbClr val="7156E8"/>
                </a:solidFill>
                <a:latin typeface="Segoe UI"/>
                <a:ea typeface="Segoe UI"/>
                <a:cs typeface="Segoe UI"/>
              </a:defRPr>
            </a:pPr>
            <a:r>
              <a:rPr sz="1050" b="1">
                <a:solidFill>
                  <a:srgbClr val="7156E8"/>
                </a:solidFill>
                <a:latin typeface="Segoe UI"/>
                <a:ea typeface="Segoe UI"/>
                <a:cs typeface="Segoe UI"/>
              </a:rPr>
              <a:t>MEDICAL AND HEALTH</a:t>
            </a:r>
          </a:p>
        </p:txBody>
      </p:sp>
      <p:sp>
        <p:nvSpPr>
          <p:cNvPr id="2" name="Rectangle 1">
            <a:extLst>
              <a:ext uri="{FF2B5EF4-FFF2-40B4-BE49-F238E27FC236}">
                <a16:creationId xmlns:a16="http://schemas.microsoft.com/office/drawing/2014/main" id="{2EFDC21A-52C2-4E88-993B-B95C5849EE0F}"/>
              </a:ext>
            </a:extLst>
          </p:cNvPr>
          <p:cNvSpPr>
            <a:spLocks noGrp="1"/>
          </p:cNvSpPr>
          <p:nvPr/>
        </p:nvSpPr>
        <p:spPr>
          <a:xfrm>
            <a:off x="704850" y="742950"/>
            <a:ext cx="10715625" cy="723900"/>
          </a:xfrm>
          <a:prstGeom prst="rect">
            <a:avLst/>
          </a:prstGeom>
          <a:noFill/>
          <a:ln w="0">
            <a:noFill/>
            <a:prstDash val="solid"/>
          </a:ln>
        </p:spPr>
        <p:txBody>
          <a:bodyPr lIns="0" tIns="0" rIns="0" bIns="0" anchor="t">
            <a:normAutofit/>
          </a:bodyPr>
          <a:lstStyle>
            <a:defPPr algn="l">
              <a:defRPr sz="3450" b="1">
                <a:solidFill>
                  <a:srgbClr val="22233D"/>
                </a:solidFill>
                <a:latin typeface="Segoe UI"/>
                <a:ea typeface="Segoe UI"/>
                <a:cs typeface="Segoe UI"/>
              </a:defRPr>
            </a:defPPr>
          </a:lstStyle>
          <a:p>
            <a:pPr algn="l">
              <a:defRPr sz="3450" b="1">
                <a:solidFill>
                  <a:srgbClr val="22233D"/>
                </a:solidFill>
                <a:latin typeface="Segoe UI"/>
                <a:ea typeface="Segoe UI"/>
                <a:cs typeface="Segoe UI"/>
              </a:defRPr>
            </a:pPr>
            <a:r>
              <a:rPr sz="3450" b="1">
                <a:solidFill>
                  <a:srgbClr val="22233D"/>
                </a:solidFill>
                <a:latin typeface="Segoe UI"/>
                <a:ea typeface="Segoe UI"/>
                <a:cs typeface="Segoe UI"/>
              </a:rPr>
              <a:t>Medical support for common campus needs</a:t>
            </a:r>
          </a:p>
        </p:txBody>
      </p:sp>
      <p:sp>
        <p:nvSpPr>
          <p:cNvPr id="3" name="Rectangle 2">
            <a:extLst>
              <a:ext uri="{FF2B5EF4-FFF2-40B4-BE49-F238E27FC236}">
                <a16:creationId xmlns:a16="http://schemas.microsoft.com/office/drawing/2014/main" id="{6218CC44-CE1B-454A-842A-E45D970FDFEA}"/>
              </a:ext>
            </a:extLst>
          </p:cNvPr>
          <p:cNvSpPr>
            <a:spLocks noGrp="1"/>
          </p:cNvSpPr>
          <p:nvPr/>
        </p:nvSpPr>
        <p:spPr>
          <a:xfrm>
            <a:off x="704850" y="6400800"/>
            <a:ext cx="10782300" cy="9525"/>
          </a:xfrm>
          <a:prstGeom prst="rect">
            <a:avLst/>
          </a:prstGeom>
          <a:solidFill>
            <a:srgbClr val="E4E5EF"/>
          </a:solidFill>
          <a:ln w="0">
            <a:noFill/>
            <a:prstDash val="solid"/>
          </a:ln>
        </p:spPr>
      </p:sp>
      <p:sp>
        <p:nvSpPr>
          <p:cNvPr id="4" name="Rectangle 3">
            <a:extLst>
              <a:ext uri="{FF2B5EF4-FFF2-40B4-BE49-F238E27FC236}">
                <a16:creationId xmlns:a16="http://schemas.microsoft.com/office/drawing/2014/main" id="{E754894B-0A3D-4C15-85E3-ABF8E1A52736}"/>
              </a:ext>
            </a:extLst>
          </p:cNvPr>
          <p:cNvSpPr>
            <a:spLocks noGrp="1"/>
          </p:cNvSpPr>
          <p:nvPr/>
        </p:nvSpPr>
        <p:spPr>
          <a:xfrm>
            <a:off x="704850" y="6505575"/>
            <a:ext cx="6667500" cy="190500"/>
          </a:xfrm>
          <a:prstGeom prst="rect">
            <a:avLst/>
          </a:prstGeom>
          <a:noFill/>
          <a:ln w="0">
            <a:noFill/>
            <a:prstDash val="solid"/>
          </a:ln>
        </p:spPr>
        <p:txBody>
          <a:bodyPr lIns="0" tIns="0" rIns="0" bIns="0" anchor="t">
            <a:normAutofit/>
          </a:bodyPr>
          <a:lstStyle>
            <a:defPPr algn="l">
              <a:defRPr sz="975" b="1">
                <a:solidFill>
                  <a:srgbClr val="777B90"/>
                </a:solidFill>
                <a:latin typeface="Segoe UI"/>
                <a:ea typeface="Segoe UI"/>
                <a:cs typeface="Segoe UI"/>
              </a:defRPr>
            </a:defPPr>
          </a:lstStyle>
          <a:p>
            <a:pPr algn="l">
              <a:defRPr sz="975" b="1">
                <a:solidFill>
                  <a:srgbClr val="777B90"/>
                </a:solidFill>
                <a:latin typeface="Segoe UI"/>
                <a:ea typeface="Segoe UI"/>
                <a:cs typeface="Segoe UI"/>
              </a:defRPr>
            </a:pPr>
            <a:r>
              <a:rPr sz="975" b="1">
                <a:solidFill>
                  <a:srgbClr val="777B90"/>
                </a:solidFill>
                <a:latin typeface="Segoe UI"/>
                <a:ea typeface="Segoe UI"/>
                <a:cs typeface="Segoe UI"/>
              </a:rPr>
              <a:t>HOSTELHUB  /  PROJECT PRESENTATION</a:t>
            </a:r>
          </a:p>
        </p:txBody>
      </p:sp>
      <p:sp>
        <p:nvSpPr>
          <p:cNvPr id="5" name="Rectangle 4">
            <a:extLst>
              <a:ext uri="{FF2B5EF4-FFF2-40B4-BE49-F238E27FC236}">
                <a16:creationId xmlns:a16="http://schemas.microsoft.com/office/drawing/2014/main" id="{C7EF0F64-5677-4CDC-88F8-D055298C20BC}"/>
              </a:ext>
            </a:extLst>
          </p:cNvPr>
          <p:cNvSpPr>
            <a:spLocks noGrp="1"/>
          </p:cNvSpPr>
          <p:nvPr/>
        </p:nvSpPr>
        <p:spPr>
          <a:xfrm>
            <a:off x="11049000" y="6486525"/>
            <a:ext cx="438150" cy="209550"/>
          </a:xfrm>
          <a:prstGeom prst="rect">
            <a:avLst/>
          </a:prstGeom>
          <a:noFill/>
          <a:ln w="0">
            <a:noFill/>
            <a:prstDash val="solid"/>
          </a:ln>
        </p:spPr>
        <p:txBody>
          <a:bodyPr lIns="0" tIns="0" rIns="0" bIns="0" anchor="t">
            <a:normAutofit/>
          </a:bodyPr>
          <a:lstStyle>
            <a:defPPr algn="r">
              <a:defRPr sz="1050" b="1">
                <a:solidFill>
                  <a:srgbClr val="7156E8"/>
                </a:solidFill>
                <a:latin typeface="Segoe UI"/>
                <a:ea typeface="Segoe UI"/>
                <a:cs typeface="Segoe UI"/>
              </a:defRPr>
            </a:defPPr>
          </a:lstStyle>
          <a:p>
            <a:pPr algn="r">
              <a:defRPr sz="1050" b="1">
                <a:solidFill>
                  <a:srgbClr val="7156E8"/>
                </a:solidFill>
                <a:latin typeface="Segoe UI"/>
                <a:ea typeface="Segoe UI"/>
                <a:cs typeface="Segoe UI"/>
              </a:defRPr>
            </a:pPr>
            <a:r>
              <a:rPr sz="1050" b="1">
                <a:solidFill>
                  <a:srgbClr val="7156E8"/>
                </a:solidFill>
                <a:latin typeface="Segoe UI"/>
                <a:ea typeface="Segoe UI"/>
                <a:cs typeface="Segoe UI"/>
              </a:rPr>
              <a:t>08</a:t>
            </a:r>
          </a:p>
        </p:txBody>
      </p:sp>
      <p:sp>
        <p:nvSpPr>
          <p:cNvPr id="6" name="Rectangle 5">
            <a:extLst>
              <a:ext uri="{FF2B5EF4-FFF2-40B4-BE49-F238E27FC236}">
                <a16:creationId xmlns:a16="http://schemas.microsoft.com/office/drawing/2014/main" id="{D5849DFE-FD63-4BBA-80E4-C9BB59F13009}"/>
              </a:ext>
            </a:extLst>
          </p:cNvPr>
          <p:cNvSpPr>
            <a:spLocks noGrp="1"/>
          </p:cNvSpPr>
          <p:nvPr/>
        </p:nvSpPr>
        <p:spPr>
          <a:xfrm>
            <a:off x="781050" y="1581150"/>
            <a:ext cx="10191750" cy="323850"/>
          </a:xfrm>
          <a:prstGeom prst="rect">
            <a:avLst/>
          </a:prstGeom>
          <a:noFill/>
          <a:ln w="0">
            <a:noFill/>
            <a:prstDash val="solid"/>
          </a:ln>
        </p:spPr>
        <p:txBody>
          <a:bodyPr lIns="0" tIns="0" rIns="0" bIns="0" anchor="t">
            <a:normAutofit/>
          </a:bodyPr>
          <a:lstStyle>
            <a:defPPr algn="l">
              <a:defRPr sz="1650" b="0">
                <a:solidFill>
                  <a:srgbClr val="62667B"/>
                </a:solidFill>
                <a:latin typeface="Segoe UI"/>
                <a:ea typeface="Segoe UI"/>
                <a:cs typeface="Segoe UI"/>
              </a:defRPr>
            </a:defPPr>
          </a:lstStyle>
          <a:p>
            <a:pPr algn="l">
              <a:defRPr sz="1650" b="0">
                <a:solidFill>
                  <a:srgbClr val="62667B"/>
                </a:solidFill>
                <a:latin typeface="Segoe UI"/>
                <a:ea typeface="Segoe UI"/>
                <a:cs typeface="Segoe UI"/>
              </a:defRPr>
            </a:pPr>
            <a:r>
              <a:rPr sz="1650" b="0">
                <a:solidFill>
                  <a:srgbClr val="62667B"/>
                </a:solidFill>
                <a:latin typeface="Segoe UI"/>
                <a:ea typeface="Segoe UI"/>
                <a:cs typeface="Segoe UI"/>
              </a:rPr>
              <a:t>Medical listings and appointment requests live in a dedicated area</a:t>
            </a:r>
          </a:p>
        </p:txBody>
      </p:sp>
      <p:sp>
        <p:nvSpPr>
          <p:cNvPr id="7" name="Rectangle 6">
            <a:extLst>
              <a:ext uri="{FF2B5EF4-FFF2-40B4-BE49-F238E27FC236}">
                <a16:creationId xmlns:a16="http://schemas.microsoft.com/office/drawing/2014/main" id="{DC3A5ABB-AC23-4336-ABB6-74CBCA8BA3D3}"/>
              </a:ext>
            </a:extLst>
          </p:cNvPr>
          <p:cNvSpPr>
            <a:spLocks noGrp="1"/>
          </p:cNvSpPr>
          <p:nvPr/>
        </p:nvSpPr>
        <p:spPr>
          <a:xfrm>
            <a:off x="6048375" y="2190750"/>
            <a:ext cx="19050" cy="3238500"/>
          </a:xfrm>
          <a:prstGeom prst="rect">
            <a:avLst/>
          </a:prstGeom>
          <a:solidFill>
            <a:srgbClr val="E4E5EF"/>
          </a:solidFill>
          <a:ln w="0">
            <a:noFill/>
            <a:prstDash val="solid"/>
          </a:ln>
        </p:spPr>
      </p:sp>
      <p:sp>
        <p:nvSpPr>
          <p:cNvPr id="8" name="Rectangle 7">
            <a:extLst>
              <a:ext uri="{FF2B5EF4-FFF2-40B4-BE49-F238E27FC236}">
                <a16:creationId xmlns:a16="http://schemas.microsoft.com/office/drawing/2014/main" id="{3AAFB56F-C2AF-46C5-8E26-5CFB30BE47E5}"/>
              </a:ext>
            </a:extLst>
          </p:cNvPr>
          <p:cNvSpPr>
            <a:spLocks noGrp="1"/>
          </p:cNvSpPr>
          <p:nvPr/>
        </p:nvSpPr>
        <p:spPr>
          <a:xfrm>
            <a:off x="800100" y="2171700"/>
            <a:ext cx="4572000" cy="247650"/>
          </a:xfrm>
          <a:prstGeom prst="rect">
            <a:avLst/>
          </a:prstGeom>
          <a:noFill/>
          <a:ln w="0">
            <a:noFill/>
            <a:prstDash val="solid"/>
          </a:ln>
        </p:spPr>
        <p:txBody>
          <a:bodyPr lIns="0" tIns="0" rIns="0" bIns="0" anchor="t">
            <a:normAutofit/>
          </a:bodyPr>
          <a:lstStyle>
            <a:defPPr algn="l">
              <a:defRPr sz="1125" b="1">
                <a:solidFill>
                  <a:srgbClr val="7156E8"/>
                </a:solidFill>
                <a:latin typeface="Segoe UI"/>
                <a:ea typeface="Segoe UI"/>
                <a:cs typeface="Segoe UI"/>
              </a:defRPr>
            </a:defPPr>
          </a:lstStyle>
          <a:p>
            <a:pPr algn="l">
              <a:defRPr sz="1125" b="1">
                <a:solidFill>
                  <a:srgbClr val="7156E8"/>
                </a:solidFill>
                <a:latin typeface="Segoe UI"/>
                <a:ea typeface="Segoe UI"/>
                <a:cs typeface="Segoe UI"/>
              </a:defRPr>
            </a:pPr>
            <a:r>
              <a:rPr sz="1125" b="1">
                <a:solidFill>
                  <a:srgbClr val="7156E8"/>
                </a:solidFill>
                <a:latin typeface="Segoe UI"/>
                <a:ea typeface="Segoe UI"/>
                <a:cs typeface="Segoe UI"/>
              </a:rPr>
              <a:t>MEDICINES</a:t>
            </a:r>
          </a:p>
        </p:txBody>
      </p:sp>
      <p:sp>
        <p:nvSpPr>
          <p:cNvPr id="9" name="Rectangle 8">
            <a:extLst>
              <a:ext uri="{FF2B5EF4-FFF2-40B4-BE49-F238E27FC236}">
                <a16:creationId xmlns:a16="http://schemas.microsoft.com/office/drawing/2014/main" id="{A047FEC6-1E82-48CF-BB6A-DF27D8C27ABB}"/>
              </a:ext>
            </a:extLst>
          </p:cNvPr>
          <p:cNvSpPr>
            <a:spLocks noGrp="1"/>
          </p:cNvSpPr>
          <p:nvPr/>
        </p:nvSpPr>
        <p:spPr>
          <a:xfrm>
            <a:off x="800100" y="2581275"/>
            <a:ext cx="4667250" cy="590550"/>
          </a:xfrm>
          <a:prstGeom prst="rect">
            <a:avLst/>
          </a:prstGeom>
          <a:noFill/>
          <a:ln w="0">
            <a:noFill/>
            <a:prstDash val="solid"/>
          </a:ln>
        </p:spPr>
        <p:txBody>
          <a:bodyPr lIns="0" tIns="0" rIns="0" bIns="0" anchor="t">
            <a:normAutofit/>
          </a:bodyPr>
          <a:lstStyle>
            <a:defPPr algn="l">
              <a:defRPr sz="2025" b="1">
                <a:solidFill>
                  <a:srgbClr val="22233D"/>
                </a:solidFill>
                <a:latin typeface="Segoe UI"/>
                <a:ea typeface="Segoe UI"/>
                <a:cs typeface="Segoe UI"/>
              </a:defRPr>
            </a:defPPr>
          </a:lstStyle>
          <a:p>
            <a:pPr algn="l">
              <a:defRPr sz="2025" b="1">
                <a:solidFill>
                  <a:srgbClr val="22233D"/>
                </a:solidFill>
                <a:latin typeface="Segoe UI"/>
                <a:ea typeface="Segoe UI"/>
                <a:cs typeface="Segoe UI"/>
              </a:defRPr>
            </a:pPr>
            <a:r>
              <a:rPr sz="2025" b="1">
                <a:solidFill>
                  <a:srgbClr val="22233D"/>
                </a:solidFill>
                <a:latin typeface="Segoe UI"/>
                <a:ea typeface="Segoe UI"/>
                <a:cs typeface="Segoe UI"/>
              </a:rPr>
              <a:t>Medical shops and medicine listings</a:t>
            </a:r>
          </a:p>
        </p:txBody>
      </p:sp>
      <p:sp>
        <p:nvSpPr>
          <p:cNvPr id="10" name="Rectangle 9">
            <a:extLst>
              <a:ext uri="{FF2B5EF4-FFF2-40B4-BE49-F238E27FC236}">
                <a16:creationId xmlns:a16="http://schemas.microsoft.com/office/drawing/2014/main" id="{36F5560B-B8E5-40DF-8F04-C299819CDB05}"/>
              </a:ext>
            </a:extLst>
          </p:cNvPr>
          <p:cNvSpPr>
            <a:spLocks noGrp="1"/>
          </p:cNvSpPr>
          <p:nvPr/>
        </p:nvSpPr>
        <p:spPr>
          <a:xfrm>
            <a:off x="800100" y="3343275"/>
            <a:ext cx="4572000" cy="1219200"/>
          </a:xfrm>
          <a:prstGeom prst="rect">
            <a:avLst/>
          </a:prstGeom>
          <a:noFill/>
          <a:ln w="0">
            <a:noFill/>
            <a:prstDash val="solid"/>
          </a:ln>
        </p:spPr>
        <p:txBody>
          <a:bodyPr lIns="0" tIns="0" rIns="0" bIns="0" anchor="t">
            <a:normAutofit/>
          </a:bodyPr>
          <a:lstStyle>
            <a:defPPr algn="l">
              <a:defRPr sz="1575" b="0">
                <a:solidFill>
                  <a:srgbClr val="62667B"/>
                </a:solidFill>
                <a:latin typeface="Segoe UI"/>
                <a:ea typeface="Segoe UI"/>
                <a:cs typeface="Segoe UI"/>
              </a:defRPr>
            </a:defPPr>
          </a:lstStyle>
          <a:p>
            <a:pPr algn="l">
              <a:defRPr sz="1575" b="0">
                <a:solidFill>
                  <a:srgbClr val="62667B"/>
                </a:solidFill>
                <a:latin typeface="Segoe UI"/>
                <a:ea typeface="Segoe UI"/>
                <a:cs typeface="Segoe UI"/>
              </a:defRPr>
            </a:pPr>
            <a:r>
              <a:rPr sz="1575" b="0">
                <a:solidFill>
                  <a:srgbClr val="62667B"/>
                </a:solidFill>
                <a:latin typeface="Segoe UI"/>
                <a:ea typeface="Segoe UI"/>
                <a:cs typeface="Segoe UI"/>
              </a:rPr>
              <a:t>Students can view item information, stock and price, then save to wishlist, add to cart or place an order.</a:t>
            </a:r>
          </a:p>
        </p:txBody>
      </p:sp>
      <p:sp>
        <p:nvSpPr>
          <p:cNvPr id="11" name="Rectangle 10">
            <a:extLst>
              <a:ext uri="{FF2B5EF4-FFF2-40B4-BE49-F238E27FC236}">
                <a16:creationId xmlns:a16="http://schemas.microsoft.com/office/drawing/2014/main" id="{24712747-759A-4327-8939-31C3F37DF6C4}"/>
              </a:ext>
            </a:extLst>
          </p:cNvPr>
          <p:cNvSpPr>
            <a:spLocks noGrp="1"/>
          </p:cNvSpPr>
          <p:nvPr/>
        </p:nvSpPr>
        <p:spPr>
          <a:xfrm>
            <a:off x="800100" y="4848225"/>
            <a:ext cx="4524375" cy="523875"/>
          </a:xfrm>
          <a:prstGeom prst="rect">
            <a:avLst/>
          </a:prstGeom>
          <a:noFill/>
          <a:ln w="0">
            <a:noFill/>
            <a:prstDash val="solid"/>
          </a:ln>
        </p:spPr>
        <p:txBody>
          <a:bodyPr lIns="0" tIns="0" rIns="0" bIns="0" anchor="t">
            <a:normAutofit/>
          </a:bodyPr>
          <a:lstStyle>
            <a:defPPr algn="l">
              <a:defRPr sz="1350" b="1">
                <a:solidFill>
                  <a:srgbClr val="24234A"/>
                </a:solidFill>
                <a:latin typeface="Segoe UI"/>
                <a:ea typeface="Segoe UI"/>
                <a:cs typeface="Segoe UI"/>
              </a:defRPr>
            </a:defPPr>
          </a:lstStyle>
          <a:p>
            <a:pPr algn="l">
              <a:defRPr sz="1350" b="1">
                <a:solidFill>
                  <a:srgbClr val="24234A"/>
                </a:solidFill>
                <a:latin typeface="Segoe UI"/>
                <a:ea typeface="Segoe UI"/>
                <a:cs typeface="Segoe UI"/>
              </a:defRPr>
            </a:pPr>
            <a:r>
              <a:rPr sz="1350" b="1">
                <a:solidFill>
                  <a:srgbClr val="24234A"/>
                </a:solidFill>
                <a:latin typeface="Segoe UI"/>
                <a:ea typeface="Segoe UI"/>
                <a:cs typeface="Segoe UI"/>
              </a:rPr>
              <a:t>Admins can add medicine details and upload an item image.</a:t>
            </a:r>
          </a:p>
        </p:txBody>
      </p:sp>
      <p:sp>
        <p:nvSpPr>
          <p:cNvPr id="12" name="Rectangle 11">
            <a:extLst>
              <a:ext uri="{FF2B5EF4-FFF2-40B4-BE49-F238E27FC236}">
                <a16:creationId xmlns:a16="http://schemas.microsoft.com/office/drawing/2014/main" id="{AAD61EBC-F72A-4283-AD27-8461C5F6BCB5}"/>
              </a:ext>
            </a:extLst>
          </p:cNvPr>
          <p:cNvSpPr>
            <a:spLocks noGrp="1"/>
          </p:cNvSpPr>
          <p:nvPr/>
        </p:nvSpPr>
        <p:spPr>
          <a:xfrm>
            <a:off x="6648450" y="2171700"/>
            <a:ext cx="4572000" cy="247650"/>
          </a:xfrm>
          <a:prstGeom prst="rect">
            <a:avLst/>
          </a:prstGeom>
          <a:noFill/>
          <a:ln w="0">
            <a:noFill/>
            <a:prstDash val="solid"/>
          </a:ln>
        </p:spPr>
        <p:txBody>
          <a:bodyPr lIns="0" tIns="0" rIns="0" bIns="0" anchor="t">
            <a:normAutofit/>
          </a:bodyPr>
          <a:lstStyle>
            <a:defPPr algn="l">
              <a:defRPr sz="1125" b="1">
                <a:solidFill>
                  <a:srgbClr val="27B99A"/>
                </a:solidFill>
                <a:latin typeface="Segoe UI"/>
                <a:ea typeface="Segoe UI"/>
                <a:cs typeface="Segoe UI"/>
              </a:defRPr>
            </a:defPPr>
          </a:lstStyle>
          <a:p>
            <a:pPr algn="l">
              <a:defRPr sz="1125" b="1">
                <a:solidFill>
                  <a:srgbClr val="27B99A"/>
                </a:solidFill>
                <a:latin typeface="Segoe UI"/>
                <a:ea typeface="Segoe UI"/>
                <a:cs typeface="Segoe UI"/>
              </a:defRPr>
            </a:pPr>
            <a:r>
              <a:rPr sz="1125" b="1">
                <a:solidFill>
                  <a:srgbClr val="27B99A"/>
                </a:solidFill>
                <a:latin typeface="Segoe UI"/>
                <a:ea typeface="Segoe UI"/>
                <a:cs typeface="Segoe UI"/>
              </a:rPr>
              <a:t>CARE</a:t>
            </a:r>
          </a:p>
        </p:txBody>
      </p:sp>
      <p:sp>
        <p:nvSpPr>
          <p:cNvPr id="13" name="Rectangle 12">
            <a:extLst>
              <a:ext uri="{FF2B5EF4-FFF2-40B4-BE49-F238E27FC236}">
                <a16:creationId xmlns:a16="http://schemas.microsoft.com/office/drawing/2014/main" id="{838514EE-7EB2-4C24-ACB0-8E735FC9E27D}"/>
              </a:ext>
            </a:extLst>
          </p:cNvPr>
          <p:cNvSpPr>
            <a:spLocks noGrp="1"/>
          </p:cNvSpPr>
          <p:nvPr/>
        </p:nvSpPr>
        <p:spPr>
          <a:xfrm>
            <a:off x="6648450" y="2581275"/>
            <a:ext cx="4762500" cy="590550"/>
          </a:xfrm>
          <a:prstGeom prst="rect">
            <a:avLst/>
          </a:prstGeom>
          <a:noFill/>
          <a:ln w="0">
            <a:noFill/>
            <a:prstDash val="solid"/>
          </a:ln>
        </p:spPr>
        <p:txBody>
          <a:bodyPr lIns="0" tIns="0" rIns="0" bIns="0" anchor="t">
            <a:normAutofit/>
          </a:bodyPr>
          <a:lstStyle>
            <a:defPPr algn="l">
              <a:defRPr sz="2025" b="1">
                <a:solidFill>
                  <a:srgbClr val="22233D"/>
                </a:solidFill>
                <a:latin typeface="Segoe UI"/>
                <a:ea typeface="Segoe UI"/>
                <a:cs typeface="Segoe UI"/>
              </a:defRPr>
            </a:defPPr>
          </a:lstStyle>
          <a:p>
            <a:pPr algn="l">
              <a:defRPr sz="2025" b="1">
                <a:solidFill>
                  <a:srgbClr val="22233D"/>
                </a:solidFill>
                <a:latin typeface="Segoe UI"/>
                <a:ea typeface="Segoe UI"/>
                <a:cs typeface="Segoe UI"/>
              </a:defRPr>
            </a:pPr>
            <a:r>
              <a:rPr sz="2025" b="1">
                <a:solidFill>
                  <a:srgbClr val="22233D"/>
                </a:solidFill>
                <a:latin typeface="Segoe UI"/>
                <a:ea typeface="Segoe UI"/>
                <a:cs typeface="Segoe UI"/>
              </a:rPr>
              <a:t>Clinics, doctors and health requests</a:t>
            </a:r>
          </a:p>
        </p:txBody>
      </p:sp>
      <p:sp>
        <p:nvSpPr>
          <p:cNvPr id="14" name="Rectangle 13">
            <a:extLst>
              <a:ext uri="{FF2B5EF4-FFF2-40B4-BE49-F238E27FC236}">
                <a16:creationId xmlns:a16="http://schemas.microsoft.com/office/drawing/2014/main" id="{50F7A99A-3C34-4210-B39D-FE0676149B59}"/>
              </a:ext>
            </a:extLst>
          </p:cNvPr>
          <p:cNvSpPr>
            <a:spLocks noGrp="1"/>
          </p:cNvSpPr>
          <p:nvPr/>
        </p:nvSpPr>
        <p:spPr>
          <a:xfrm>
            <a:off x="6648450" y="3343275"/>
            <a:ext cx="4524375" cy="1257300"/>
          </a:xfrm>
          <a:prstGeom prst="rect">
            <a:avLst/>
          </a:prstGeom>
          <a:noFill/>
          <a:ln w="0">
            <a:noFill/>
            <a:prstDash val="solid"/>
          </a:ln>
        </p:spPr>
        <p:txBody>
          <a:bodyPr lIns="0" tIns="0" rIns="0" bIns="0" anchor="t">
            <a:normAutofit/>
          </a:bodyPr>
          <a:lstStyle>
            <a:defPPr algn="l">
              <a:defRPr sz="1575" b="0">
                <a:solidFill>
                  <a:srgbClr val="62667B"/>
                </a:solidFill>
                <a:latin typeface="Segoe UI"/>
                <a:ea typeface="Segoe UI"/>
                <a:cs typeface="Segoe UI"/>
              </a:defRPr>
            </a:defPPr>
          </a:lstStyle>
          <a:p>
            <a:pPr algn="l">
              <a:defRPr sz="1575" b="0">
                <a:solidFill>
                  <a:srgbClr val="62667B"/>
                </a:solidFill>
                <a:latin typeface="Segoe UI"/>
                <a:ea typeface="Segoe UI"/>
                <a:cs typeface="Segoe UI"/>
              </a:defRPr>
            </a:pPr>
            <a:r>
              <a:rPr sz="1575" b="0">
                <a:solidFill>
                  <a:srgbClr val="62667B"/>
                </a:solidFill>
                <a:latin typeface="Segoe UI"/>
                <a:ea typeface="Segoe UI"/>
                <a:cs typeface="Segoe UI"/>
              </a:rPr>
              <a:t>View hospital and clinic information, request a doctor appointment, or submit a medical help request and check its status.</a:t>
            </a:r>
          </a:p>
        </p:txBody>
      </p:sp>
      <p:sp>
        <p:nvSpPr>
          <p:cNvPr id="15" name="Rectangle: Rounded Corners 14">
            <a:extLst>
              <a:ext uri="{FF2B5EF4-FFF2-40B4-BE49-F238E27FC236}">
                <a16:creationId xmlns:a16="http://schemas.microsoft.com/office/drawing/2014/main" id="{73045D8E-284F-4F5D-BEF3-786D71D542B8}"/>
              </a:ext>
            </a:extLst>
          </p:cNvPr>
          <p:cNvSpPr>
            <a:spLocks noGrp="1"/>
          </p:cNvSpPr>
          <p:nvPr/>
        </p:nvSpPr>
        <p:spPr>
          <a:xfrm>
            <a:off x="6648450" y="4857750"/>
            <a:ext cx="4448175" cy="533400"/>
          </a:xfrm>
          <a:prstGeom prst="roundRect">
            <a:avLst>
              <a:gd name="adj" fmla="val 21429"/>
            </a:avLst>
          </a:prstGeom>
          <a:solidFill>
            <a:srgbClr val="E4F7F2"/>
          </a:solidFill>
          <a:ln w="0">
            <a:solidFill>
              <a:srgbClr val="E4F7F2"/>
            </a:solidFill>
            <a:prstDash val="solid"/>
          </a:ln>
        </p:spPr>
      </p:sp>
      <p:sp>
        <p:nvSpPr>
          <p:cNvPr id="16" name="Rectangle 15">
            <a:extLst>
              <a:ext uri="{FF2B5EF4-FFF2-40B4-BE49-F238E27FC236}">
                <a16:creationId xmlns:a16="http://schemas.microsoft.com/office/drawing/2014/main" id="{98254FED-35B7-4B34-B4D6-17F5AFD78EF6}"/>
              </a:ext>
            </a:extLst>
          </p:cNvPr>
          <p:cNvSpPr>
            <a:spLocks noGrp="1"/>
          </p:cNvSpPr>
          <p:nvPr/>
        </p:nvSpPr>
        <p:spPr>
          <a:xfrm>
            <a:off x="6819900" y="5010150"/>
            <a:ext cx="4095750" cy="247650"/>
          </a:xfrm>
          <a:prstGeom prst="rect">
            <a:avLst/>
          </a:prstGeom>
          <a:noFill/>
          <a:ln w="0">
            <a:noFill/>
            <a:prstDash val="solid"/>
          </a:ln>
        </p:spPr>
        <p:txBody>
          <a:bodyPr lIns="0" tIns="0" rIns="0" bIns="0" anchor="t">
            <a:normAutofit/>
          </a:bodyPr>
          <a:lstStyle>
            <a:defPPr algn="l">
              <a:defRPr sz="1350" b="1">
                <a:solidFill>
                  <a:srgbClr val="166E5D"/>
                </a:solidFill>
                <a:latin typeface="Segoe UI"/>
                <a:ea typeface="Segoe UI"/>
                <a:cs typeface="Segoe UI"/>
              </a:defRPr>
            </a:defPPr>
          </a:lstStyle>
          <a:p>
            <a:pPr algn="l">
              <a:defRPr sz="1350" b="1">
                <a:solidFill>
                  <a:srgbClr val="166E5D"/>
                </a:solidFill>
                <a:latin typeface="Segoe UI"/>
                <a:ea typeface="Segoe UI"/>
                <a:cs typeface="Segoe UI"/>
              </a:defRPr>
            </a:pPr>
            <a:r>
              <a:rPr sz="1350" b="1">
                <a:solidFill>
                  <a:srgbClr val="166E5D"/>
                </a:solidFill>
                <a:latin typeface="Segoe UI"/>
                <a:ea typeface="Segoe UI"/>
                <a:cs typeface="Segoe UI"/>
              </a:rPr>
              <a:t>Immediate emergency in India: call 112</a:t>
            </a:r>
          </a:p>
        </p:txBody>
      </p:sp>
    </p:spTree>
    <p:extLst>
      <p:ext uri="{BB962C8B-B14F-4D97-AF65-F5344CB8AC3E}">
        <p14:creationId xmlns:p14="http://schemas.microsoft.com/office/powerpoint/2010/main" val="9161808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71832"/>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6DFDEA0B-0817-4FAC-B8F8-CE73A6F2C8CD}"/>
              </a:ext>
            </a:extLst>
          </p:cNvPr>
          <p:cNvSpPr>
            <a:spLocks noGrp="1"/>
          </p:cNvSpPr>
          <p:nvPr/>
        </p:nvSpPr>
        <p:spPr>
          <a:xfrm>
            <a:off x="704850" y="400050"/>
            <a:ext cx="5715000" cy="209550"/>
          </a:xfrm>
          <a:prstGeom prst="rect">
            <a:avLst/>
          </a:prstGeom>
          <a:noFill/>
          <a:ln w="0">
            <a:noFill/>
            <a:prstDash val="solid"/>
          </a:ln>
        </p:spPr>
        <p:txBody>
          <a:bodyPr lIns="0" tIns="0" rIns="0" bIns="0" anchor="t">
            <a:normAutofit/>
          </a:bodyPr>
          <a:lstStyle>
            <a:defPPr algn="l">
              <a:defRPr sz="1050" b="1">
                <a:solidFill>
                  <a:srgbClr val="9178FF"/>
                </a:solidFill>
                <a:latin typeface="Segoe UI"/>
                <a:ea typeface="Segoe UI"/>
                <a:cs typeface="Segoe UI"/>
              </a:defRPr>
            </a:defPPr>
          </a:lstStyle>
          <a:p>
            <a:pPr algn="l">
              <a:defRPr sz="1050" b="1">
                <a:solidFill>
                  <a:srgbClr val="9178FF"/>
                </a:solidFill>
                <a:latin typeface="Segoe UI"/>
                <a:ea typeface="Segoe UI"/>
                <a:cs typeface="Segoe UI"/>
              </a:defRPr>
            </a:pPr>
            <a:r>
              <a:rPr sz="1050" b="1">
                <a:solidFill>
                  <a:srgbClr val="9178FF"/>
                </a:solidFill>
                <a:latin typeface="Segoe UI"/>
                <a:ea typeface="Segoe UI"/>
                <a:cs typeface="Segoe UI"/>
              </a:rPr>
              <a:t>SERVICES</a:t>
            </a:r>
          </a:p>
        </p:txBody>
      </p:sp>
      <p:sp>
        <p:nvSpPr>
          <p:cNvPr id="2" name="Rectangle 1">
            <a:extLst>
              <a:ext uri="{FF2B5EF4-FFF2-40B4-BE49-F238E27FC236}">
                <a16:creationId xmlns:a16="http://schemas.microsoft.com/office/drawing/2014/main" id="{680DE2EE-B2B8-4755-8537-039C97F3BED8}"/>
              </a:ext>
            </a:extLst>
          </p:cNvPr>
          <p:cNvSpPr>
            <a:spLocks noGrp="1"/>
          </p:cNvSpPr>
          <p:nvPr/>
        </p:nvSpPr>
        <p:spPr>
          <a:xfrm>
            <a:off x="704850" y="742950"/>
            <a:ext cx="10715625" cy="723900"/>
          </a:xfrm>
          <a:prstGeom prst="rect">
            <a:avLst/>
          </a:prstGeom>
          <a:noFill/>
          <a:ln w="0">
            <a:noFill/>
            <a:prstDash val="solid"/>
          </a:ln>
        </p:spPr>
        <p:txBody>
          <a:bodyPr lIns="0" tIns="0" rIns="0" bIns="0" anchor="t">
            <a:normAutofit/>
          </a:bodyPr>
          <a:lstStyle>
            <a:defPPr algn="l">
              <a:defRPr sz="3450" b="1">
                <a:solidFill>
                  <a:srgbClr val="FFFFFF"/>
                </a:solidFill>
                <a:latin typeface="Segoe UI"/>
                <a:ea typeface="Segoe UI"/>
                <a:cs typeface="Segoe UI"/>
              </a:defRPr>
            </a:defPPr>
          </a:lstStyle>
          <a:p>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Campus services with a trackable request</a:t>
            </a:r>
          </a:p>
        </p:txBody>
      </p:sp>
      <p:sp>
        <p:nvSpPr>
          <p:cNvPr id="3" name="Rectangle 2">
            <a:extLst>
              <a:ext uri="{FF2B5EF4-FFF2-40B4-BE49-F238E27FC236}">
                <a16:creationId xmlns:a16="http://schemas.microsoft.com/office/drawing/2014/main" id="{70011FEC-3053-43B1-BC94-8BBB0D8E646C}"/>
              </a:ext>
            </a:extLst>
          </p:cNvPr>
          <p:cNvSpPr>
            <a:spLocks noGrp="1"/>
          </p:cNvSpPr>
          <p:nvPr/>
        </p:nvSpPr>
        <p:spPr>
          <a:xfrm>
            <a:off x="704850" y="6400800"/>
            <a:ext cx="10782300" cy="9525"/>
          </a:xfrm>
          <a:prstGeom prst="rect">
            <a:avLst/>
          </a:prstGeom>
          <a:solidFill>
            <a:srgbClr val="39385C"/>
          </a:solidFill>
          <a:ln w="0">
            <a:noFill/>
            <a:prstDash val="solid"/>
          </a:ln>
        </p:spPr>
      </p:sp>
      <p:sp>
        <p:nvSpPr>
          <p:cNvPr id="4" name="Rectangle 3">
            <a:extLst>
              <a:ext uri="{FF2B5EF4-FFF2-40B4-BE49-F238E27FC236}">
                <a16:creationId xmlns:a16="http://schemas.microsoft.com/office/drawing/2014/main" id="{43415B79-5CED-4842-A735-E59C2023B43D}"/>
              </a:ext>
            </a:extLst>
          </p:cNvPr>
          <p:cNvSpPr>
            <a:spLocks noGrp="1"/>
          </p:cNvSpPr>
          <p:nvPr/>
        </p:nvSpPr>
        <p:spPr>
          <a:xfrm>
            <a:off x="704850" y="6505575"/>
            <a:ext cx="6667500" cy="190500"/>
          </a:xfrm>
          <a:prstGeom prst="rect">
            <a:avLst/>
          </a:prstGeom>
          <a:noFill/>
          <a:ln w="0">
            <a:noFill/>
            <a:prstDash val="solid"/>
          </a:ln>
        </p:spPr>
        <p:txBody>
          <a:bodyPr lIns="0" tIns="0" rIns="0" bIns="0" anchor="t">
            <a:normAutofit/>
          </a:bodyPr>
          <a:lstStyle>
            <a:defPPr algn="l">
              <a:defRPr sz="975" b="1">
                <a:solidFill>
                  <a:srgbClr val="AAA9C4"/>
                </a:solidFill>
                <a:latin typeface="Segoe UI"/>
                <a:ea typeface="Segoe UI"/>
                <a:cs typeface="Segoe UI"/>
              </a:defRPr>
            </a:defPPr>
          </a:lstStyle>
          <a:p>
            <a:pPr algn="l">
              <a:defRPr sz="975" b="1">
                <a:solidFill>
                  <a:srgbClr val="AAA9C4"/>
                </a:solidFill>
                <a:latin typeface="Segoe UI"/>
                <a:ea typeface="Segoe UI"/>
                <a:cs typeface="Segoe UI"/>
              </a:defRPr>
            </a:pPr>
            <a:r>
              <a:rPr sz="975" b="1">
                <a:solidFill>
                  <a:srgbClr val="AAA9C4"/>
                </a:solidFill>
                <a:latin typeface="Segoe UI"/>
                <a:ea typeface="Segoe UI"/>
                <a:cs typeface="Segoe UI"/>
              </a:rPr>
              <a:t>HOSTELHUB  /  PROJECT PRESENTATION</a:t>
            </a:r>
          </a:p>
        </p:txBody>
      </p:sp>
      <p:sp>
        <p:nvSpPr>
          <p:cNvPr id="5" name="Rectangle 4">
            <a:extLst>
              <a:ext uri="{FF2B5EF4-FFF2-40B4-BE49-F238E27FC236}">
                <a16:creationId xmlns:a16="http://schemas.microsoft.com/office/drawing/2014/main" id="{206F1D0F-5CC3-4C92-9667-D9EDE0F6B5C0}"/>
              </a:ext>
            </a:extLst>
          </p:cNvPr>
          <p:cNvSpPr>
            <a:spLocks noGrp="1"/>
          </p:cNvSpPr>
          <p:nvPr/>
        </p:nvSpPr>
        <p:spPr>
          <a:xfrm>
            <a:off x="11049000" y="6486525"/>
            <a:ext cx="438150" cy="209550"/>
          </a:xfrm>
          <a:prstGeom prst="rect">
            <a:avLst/>
          </a:prstGeom>
          <a:noFill/>
          <a:ln w="0">
            <a:noFill/>
            <a:prstDash val="solid"/>
          </a:ln>
        </p:spPr>
        <p:txBody>
          <a:bodyPr lIns="0" tIns="0" rIns="0" bIns="0" anchor="t">
            <a:normAutofit/>
          </a:bodyPr>
          <a:lstStyle>
            <a:defPPr algn="r">
              <a:defRPr sz="1050" b="1">
                <a:solidFill>
                  <a:srgbClr val="9178FF"/>
                </a:solidFill>
                <a:latin typeface="Segoe UI"/>
                <a:ea typeface="Segoe UI"/>
                <a:cs typeface="Segoe UI"/>
              </a:defRPr>
            </a:defPPr>
          </a:lstStyle>
          <a:p>
            <a:pPr algn="r">
              <a:defRPr sz="1050" b="1">
                <a:solidFill>
                  <a:srgbClr val="9178FF"/>
                </a:solidFill>
                <a:latin typeface="Segoe UI"/>
                <a:ea typeface="Segoe UI"/>
                <a:cs typeface="Segoe UI"/>
              </a:defRPr>
            </a:pPr>
            <a:r>
              <a:rPr sz="1050" b="1">
                <a:solidFill>
                  <a:srgbClr val="9178FF"/>
                </a:solidFill>
                <a:latin typeface="Segoe UI"/>
                <a:ea typeface="Segoe UI"/>
                <a:cs typeface="Segoe UI"/>
              </a:rPr>
              <a:t>09</a:t>
            </a:r>
          </a:p>
        </p:txBody>
      </p:sp>
      <p:sp>
        <p:nvSpPr>
          <p:cNvPr id="6" name="Rectangle 5">
            <a:extLst>
              <a:ext uri="{FF2B5EF4-FFF2-40B4-BE49-F238E27FC236}">
                <a16:creationId xmlns:a16="http://schemas.microsoft.com/office/drawing/2014/main" id="{9C928CA5-09C4-4F97-AD77-8FEE0E2DF3A9}"/>
              </a:ext>
            </a:extLst>
          </p:cNvPr>
          <p:cNvSpPr>
            <a:spLocks noGrp="1"/>
          </p:cNvSpPr>
          <p:nvPr/>
        </p:nvSpPr>
        <p:spPr>
          <a:xfrm>
            <a:off x="781050" y="1581150"/>
            <a:ext cx="10287000" cy="323850"/>
          </a:xfrm>
          <a:prstGeom prst="rect">
            <a:avLst/>
          </a:prstGeom>
          <a:noFill/>
          <a:ln w="0">
            <a:noFill/>
            <a:prstDash val="solid"/>
          </a:ln>
        </p:spPr>
        <p:txBody>
          <a:bodyPr lIns="0" tIns="0" rIns="0" bIns="0" anchor="t">
            <a:normAutofit/>
          </a:bodyPr>
          <a:lstStyle>
            <a:defPPr algn="l">
              <a:defRPr sz="1650" b="0">
                <a:solidFill>
                  <a:srgbClr val="C5C4DC"/>
                </a:solidFill>
                <a:latin typeface="Segoe UI"/>
                <a:ea typeface="Segoe UI"/>
                <a:cs typeface="Segoe UI"/>
              </a:defRPr>
            </a:defPPr>
          </a:lstStyle>
          <a:p>
            <a:pPr algn="l">
              <a:defRPr sz="1650" b="0">
                <a:solidFill>
                  <a:srgbClr val="C5C4DC"/>
                </a:solidFill>
                <a:latin typeface="Segoe UI"/>
                <a:ea typeface="Segoe UI"/>
                <a:cs typeface="Segoe UI"/>
              </a:defRPr>
            </a:pPr>
            <a:r>
              <a:rPr sz="1650" b="0">
                <a:solidFill>
                  <a:srgbClr val="C5C4DC"/>
                </a:solidFill>
                <a:latin typeface="Segoe UI"/>
                <a:ea typeface="Segoe UI"/>
                <a:cs typeface="Segoe UI"/>
              </a:rPr>
              <a:t>Students select a service, submit a booking and follow updates</a:t>
            </a:r>
          </a:p>
        </p:txBody>
      </p:sp>
      <p:sp>
        <p:nvSpPr>
          <p:cNvPr id="7" name="Rectangle 6">
            <a:extLst>
              <a:ext uri="{FF2B5EF4-FFF2-40B4-BE49-F238E27FC236}">
                <a16:creationId xmlns:a16="http://schemas.microsoft.com/office/drawing/2014/main" id="{396F7FD8-402B-4398-86C5-529AB48CF02A}"/>
              </a:ext>
            </a:extLst>
          </p:cNvPr>
          <p:cNvSpPr>
            <a:spLocks noGrp="1"/>
          </p:cNvSpPr>
          <p:nvPr/>
        </p:nvSpPr>
        <p:spPr>
          <a:xfrm>
            <a:off x="819150" y="2247900"/>
            <a:ext cx="3810000" cy="247650"/>
          </a:xfrm>
          <a:prstGeom prst="rect">
            <a:avLst/>
          </a:prstGeom>
          <a:noFill/>
          <a:ln w="0">
            <a:noFill/>
            <a:prstDash val="solid"/>
          </a:ln>
        </p:spPr>
        <p:txBody>
          <a:bodyPr lIns="0" tIns="0" rIns="0" bIns="0" anchor="t">
            <a:normAutofit/>
          </a:bodyPr>
          <a:lstStyle>
            <a:defPPr algn="l">
              <a:defRPr sz="1125" b="1">
                <a:solidFill>
                  <a:srgbClr val="9178FF"/>
                </a:solidFill>
                <a:latin typeface="Segoe UI"/>
                <a:ea typeface="Segoe UI"/>
                <a:cs typeface="Segoe UI"/>
              </a:defRPr>
            </a:defPPr>
          </a:lstStyle>
          <a:p>
            <a:pPr algn="l">
              <a:defRPr sz="1125" b="1">
                <a:solidFill>
                  <a:srgbClr val="9178FF"/>
                </a:solidFill>
                <a:latin typeface="Segoe UI"/>
                <a:ea typeface="Segoe UI"/>
                <a:cs typeface="Segoe UI"/>
              </a:defRPr>
            </a:pPr>
            <a:r>
              <a:rPr sz="1125" b="1">
                <a:solidFill>
                  <a:srgbClr val="9178FF"/>
                </a:solidFill>
                <a:latin typeface="Segoe UI"/>
                <a:ea typeface="Segoe UI"/>
                <a:cs typeface="Segoe UI"/>
              </a:rPr>
              <a:t>AVAILABLE CATEGORIES</a:t>
            </a:r>
          </a:p>
        </p:txBody>
      </p:sp>
      <p:sp>
        <p:nvSpPr>
          <p:cNvPr id="8" name="Rectangle 7">
            <a:extLst>
              <a:ext uri="{FF2B5EF4-FFF2-40B4-BE49-F238E27FC236}">
                <a16:creationId xmlns:a16="http://schemas.microsoft.com/office/drawing/2014/main" id="{853DBACD-60F7-465B-A1C0-02FD2ABF6EF2}"/>
              </a:ext>
            </a:extLst>
          </p:cNvPr>
          <p:cNvSpPr>
            <a:spLocks noGrp="1"/>
          </p:cNvSpPr>
          <p:nvPr/>
        </p:nvSpPr>
        <p:spPr>
          <a:xfrm>
            <a:off x="819150" y="2695575"/>
            <a:ext cx="1857375" cy="323850"/>
          </a:xfrm>
          <a:prstGeom prst="rect">
            <a:avLst/>
          </a:prstGeom>
          <a:noFill/>
          <a:ln w="0">
            <a:noFill/>
            <a:prstDash val="solid"/>
          </a:ln>
        </p:spPr>
        <p:txBody>
          <a:bodyPr lIns="0" tIns="0" rIns="0" bIns="0" anchor="t">
            <a:normAutofit/>
          </a:bodyPr>
          <a:lstStyle>
            <a:defPPr algn="l">
              <a:defRPr sz="1575" b="1">
                <a:solidFill>
                  <a:srgbClr val="FFFFFF"/>
                </a:solidFill>
                <a:latin typeface="Segoe UI"/>
                <a:ea typeface="Segoe UI"/>
                <a:cs typeface="Segoe UI"/>
              </a:defRPr>
            </a:defPPr>
          </a:lstStyle>
          <a:p>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Print and Xerox</a:t>
            </a:r>
          </a:p>
        </p:txBody>
      </p:sp>
      <p:sp>
        <p:nvSpPr>
          <p:cNvPr id="9" name="Rectangle 8">
            <a:extLst>
              <a:ext uri="{FF2B5EF4-FFF2-40B4-BE49-F238E27FC236}">
                <a16:creationId xmlns:a16="http://schemas.microsoft.com/office/drawing/2014/main" id="{5F216612-FF59-451B-98A4-1E0C28E4C5B8}"/>
              </a:ext>
            </a:extLst>
          </p:cNvPr>
          <p:cNvSpPr>
            <a:spLocks noGrp="1"/>
          </p:cNvSpPr>
          <p:nvPr/>
        </p:nvSpPr>
        <p:spPr>
          <a:xfrm>
            <a:off x="819150" y="3152775"/>
            <a:ext cx="1666875" cy="28575"/>
          </a:xfrm>
          <a:prstGeom prst="rect">
            <a:avLst/>
          </a:prstGeom>
          <a:solidFill>
            <a:srgbClr val="9178FF"/>
          </a:solidFill>
          <a:ln w="0">
            <a:noFill/>
            <a:prstDash val="solid"/>
          </a:ln>
        </p:spPr>
      </p:sp>
      <p:sp>
        <p:nvSpPr>
          <p:cNvPr id="10" name="Rectangle 9">
            <a:extLst>
              <a:ext uri="{FF2B5EF4-FFF2-40B4-BE49-F238E27FC236}">
                <a16:creationId xmlns:a16="http://schemas.microsoft.com/office/drawing/2014/main" id="{297A7F63-120A-4536-9845-52D5378C287E}"/>
              </a:ext>
            </a:extLst>
          </p:cNvPr>
          <p:cNvSpPr>
            <a:spLocks noGrp="1"/>
          </p:cNvSpPr>
          <p:nvPr/>
        </p:nvSpPr>
        <p:spPr>
          <a:xfrm>
            <a:off x="2895600" y="2695575"/>
            <a:ext cx="1857375" cy="323850"/>
          </a:xfrm>
          <a:prstGeom prst="rect">
            <a:avLst/>
          </a:prstGeom>
          <a:noFill/>
          <a:ln w="0">
            <a:noFill/>
            <a:prstDash val="solid"/>
          </a:ln>
        </p:spPr>
        <p:txBody>
          <a:bodyPr lIns="0" tIns="0" rIns="0" bIns="0" anchor="t">
            <a:normAutofit/>
          </a:bodyPr>
          <a:lstStyle>
            <a:defPPr algn="l">
              <a:defRPr sz="1575" b="1">
                <a:solidFill>
                  <a:srgbClr val="FFFFFF"/>
                </a:solidFill>
                <a:latin typeface="Segoe UI"/>
                <a:ea typeface="Segoe UI"/>
                <a:cs typeface="Segoe UI"/>
              </a:defRPr>
            </a:defPPr>
          </a:lstStyle>
          <a:p>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Laundry</a:t>
            </a:r>
          </a:p>
        </p:txBody>
      </p:sp>
      <p:sp>
        <p:nvSpPr>
          <p:cNvPr id="11" name="Rectangle 10">
            <a:extLst>
              <a:ext uri="{FF2B5EF4-FFF2-40B4-BE49-F238E27FC236}">
                <a16:creationId xmlns:a16="http://schemas.microsoft.com/office/drawing/2014/main" id="{D6C7A466-C2EC-4CB6-BB73-EE44B641B0EB}"/>
              </a:ext>
            </a:extLst>
          </p:cNvPr>
          <p:cNvSpPr>
            <a:spLocks noGrp="1"/>
          </p:cNvSpPr>
          <p:nvPr/>
        </p:nvSpPr>
        <p:spPr>
          <a:xfrm>
            <a:off x="2895600" y="3152775"/>
            <a:ext cx="1666875" cy="28575"/>
          </a:xfrm>
          <a:prstGeom prst="rect">
            <a:avLst/>
          </a:prstGeom>
          <a:solidFill>
            <a:srgbClr val="27B99A"/>
          </a:solidFill>
          <a:ln w="0">
            <a:noFill/>
            <a:prstDash val="solid"/>
          </a:ln>
        </p:spPr>
      </p:sp>
      <p:sp>
        <p:nvSpPr>
          <p:cNvPr id="12" name="Rectangle 11">
            <a:extLst>
              <a:ext uri="{FF2B5EF4-FFF2-40B4-BE49-F238E27FC236}">
                <a16:creationId xmlns:a16="http://schemas.microsoft.com/office/drawing/2014/main" id="{9E565FD8-CE40-4E8A-882B-C3594CEED0E9}"/>
              </a:ext>
            </a:extLst>
          </p:cNvPr>
          <p:cNvSpPr>
            <a:spLocks noGrp="1"/>
          </p:cNvSpPr>
          <p:nvPr/>
        </p:nvSpPr>
        <p:spPr>
          <a:xfrm>
            <a:off x="819150" y="3495675"/>
            <a:ext cx="1857375" cy="323850"/>
          </a:xfrm>
          <a:prstGeom prst="rect">
            <a:avLst/>
          </a:prstGeom>
          <a:noFill/>
          <a:ln w="0">
            <a:noFill/>
            <a:prstDash val="solid"/>
          </a:ln>
        </p:spPr>
        <p:txBody>
          <a:bodyPr lIns="0" tIns="0" rIns="0" bIns="0" anchor="t">
            <a:normAutofit/>
          </a:bodyPr>
          <a:lstStyle>
            <a:defPPr algn="l">
              <a:defRPr sz="1575" b="1">
                <a:solidFill>
                  <a:srgbClr val="FFFFFF"/>
                </a:solidFill>
                <a:latin typeface="Segoe UI"/>
                <a:ea typeface="Segoe UI"/>
                <a:cs typeface="Segoe UI"/>
              </a:defRPr>
            </a:defPPr>
          </a:lstStyle>
          <a:p>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Repairs</a:t>
            </a:r>
          </a:p>
        </p:txBody>
      </p:sp>
      <p:sp>
        <p:nvSpPr>
          <p:cNvPr id="13" name="Rectangle 12">
            <a:extLst>
              <a:ext uri="{FF2B5EF4-FFF2-40B4-BE49-F238E27FC236}">
                <a16:creationId xmlns:a16="http://schemas.microsoft.com/office/drawing/2014/main" id="{2320ED72-AF12-48C7-9629-4E8497EAA9BC}"/>
              </a:ext>
            </a:extLst>
          </p:cNvPr>
          <p:cNvSpPr>
            <a:spLocks noGrp="1"/>
          </p:cNvSpPr>
          <p:nvPr/>
        </p:nvSpPr>
        <p:spPr>
          <a:xfrm>
            <a:off x="819150" y="3952875"/>
            <a:ext cx="1666875" cy="28575"/>
          </a:xfrm>
          <a:prstGeom prst="rect">
            <a:avLst/>
          </a:prstGeom>
          <a:solidFill>
            <a:srgbClr val="E9A83A"/>
          </a:solidFill>
          <a:ln w="0">
            <a:noFill/>
            <a:prstDash val="solid"/>
          </a:ln>
        </p:spPr>
      </p:sp>
      <p:sp>
        <p:nvSpPr>
          <p:cNvPr id="14" name="Rectangle 13">
            <a:extLst>
              <a:ext uri="{FF2B5EF4-FFF2-40B4-BE49-F238E27FC236}">
                <a16:creationId xmlns:a16="http://schemas.microsoft.com/office/drawing/2014/main" id="{3ABE5463-060A-4618-97B7-88EBA245D01D}"/>
              </a:ext>
            </a:extLst>
          </p:cNvPr>
          <p:cNvSpPr>
            <a:spLocks noGrp="1"/>
          </p:cNvSpPr>
          <p:nvPr/>
        </p:nvSpPr>
        <p:spPr>
          <a:xfrm>
            <a:off x="2895600" y="3495675"/>
            <a:ext cx="1857375" cy="323850"/>
          </a:xfrm>
          <a:prstGeom prst="rect">
            <a:avLst/>
          </a:prstGeom>
          <a:noFill/>
          <a:ln w="0">
            <a:noFill/>
            <a:prstDash val="solid"/>
          </a:ln>
        </p:spPr>
        <p:txBody>
          <a:bodyPr lIns="0" tIns="0" rIns="0" bIns="0" anchor="t">
            <a:normAutofit/>
          </a:bodyPr>
          <a:lstStyle>
            <a:defPPr algn="l">
              <a:defRPr sz="1575" b="1">
                <a:solidFill>
                  <a:srgbClr val="FFFFFF"/>
                </a:solidFill>
                <a:latin typeface="Segoe UI"/>
                <a:ea typeface="Segoe UI"/>
                <a:cs typeface="Segoe UI"/>
              </a:defRPr>
            </a:defPPr>
          </a:lstStyle>
          <a:p>
            <a:pPr algn="l">
              <a:defRPr sz="1575" b="1">
                <a:solidFill>
                  <a:srgbClr val="FFFFFF"/>
                </a:solidFill>
                <a:latin typeface="Segoe UI"/>
                <a:ea typeface="Segoe UI"/>
                <a:cs typeface="Segoe UI"/>
              </a:defRPr>
            </a:pPr>
            <a:r>
              <a:rPr sz="1575" b="1">
                <a:solidFill>
                  <a:srgbClr val="FFFFFF"/>
                </a:solidFill>
                <a:latin typeface="Segoe UI"/>
                <a:ea typeface="Segoe UI"/>
                <a:cs typeface="Segoe UI"/>
              </a:rPr>
              <a:t>Tailoring</a:t>
            </a:r>
          </a:p>
        </p:txBody>
      </p:sp>
      <p:sp>
        <p:nvSpPr>
          <p:cNvPr id="15" name="Rectangle 14">
            <a:extLst>
              <a:ext uri="{FF2B5EF4-FFF2-40B4-BE49-F238E27FC236}">
                <a16:creationId xmlns:a16="http://schemas.microsoft.com/office/drawing/2014/main" id="{3C6DC621-D002-4516-9F82-E9B0AB21D1E0}"/>
              </a:ext>
            </a:extLst>
          </p:cNvPr>
          <p:cNvSpPr>
            <a:spLocks noGrp="1"/>
          </p:cNvSpPr>
          <p:nvPr/>
        </p:nvSpPr>
        <p:spPr>
          <a:xfrm>
            <a:off x="2895600" y="3952875"/>
            <a:ext cx="1666875" cy="28575"/>
          </a:xfrm>
          <a:prstGeom prst="rect">
            <a:avLst/>
          </a:prstGeom>
          <a:solidFill>
            <a:srgbClr val="E27668"/>
          </a:solidFill>
          <a:ln w="0">
            <a:noFill/>
            <a:prstDash val="solid"/>
          </a:ln>
        </p:spPr>
      </p:sp>
      <p:sp>
        <p:nvSpPr>
          <p:cNvPr id="16" name="Rectangle 15">
            <a:extLst>
              <a:ext uri="{FF2B5EF4-FFF2-40B4-BE49-F238E27FC236}">
                <a16:creationId xmlns:a16="http://schemas.microsoft.com/office/drawing/2014/main" id="{F9BE49AE-EBE9-40A6-BAD1-46E45B154AA4}"/>
              </a:ext>
            </a:extLst>
          </p:cNvPr>
          <p:cNvSpPr>
            <a:spLocks noGrp="1"/>
          </p:cNvSpPr>
          <p:nvPr/>
        </p:nvSpPr>
        <p:spPr>
          <a:xfrm>
            <a:off x="5219700" y="2133600"/>
            <a:ext cx="19050" cy="3238500"/>
          </a:xfrm>
          <a:prstGeom prst="rect">
            <a:avLst/>
          </a:prstGeom>
          <a:solidFill>
            <a:srgbClr val="42415F"/>
          </a:solidFill>
          <a:ln w="0">
            <a:noFill/>
            <a:prstDash val="solid"/>
          </a:ln>
        </p:spPr>
      </p:sp>
      <p:sp>
        <p:nvSpPr>
          <p:cNvPr id="17" name="Rectangle 16">
            <a:extLst>
              <a:ext uri="{FF2B5EF4-FFF2-40B4-BE49-F238E27FC236}">
                <a16:creationId xmlns:a16="http://schemas.microsoft.com/office/drawing/2014/main" id="{9FFD8B07-D2AC-4E46-BC98-36B9E6658707}"/>
              </a:ext>
            </a:extLst>
          </p:cNvPr>
          <p:cNvSpPr>
            <a:spLocks noGrp="1"/>
          </p:cNvSpPr>
          <p:nvPr/>
        </p:nvSpPr>
        <p:spPr>
          <a:xfrm>
            <a:off x="5772150" y="2247900"/>
            <a:ext cx="4667250" cy="247650"/>
          </a:xfrm>
          <a:prstGeom prst="rect">
            <a:avLst/>
          </a:prstGeom>
          <a:noFill/>
          <a:ln w="0">
            <a:noFill/>
            <a:prstDash val="solid"/>
          </a:ln>
        </p:spPr>
        <p:txBody>
          <a:bodyPr lIns="0" tIns="0" rIns="0" bIns="0" anchor="t">
            <a:normAutofit/>
          </a:bodyPr>
          <a:lstStyle>
            <a:defPPr algn="l">
              <a:defRPr sz="1125" b="1">
                <a:solidFill>
                  <a:srgbClr val="27B99A"/>
                </a:solidFill>
                <a:latin typeface="Segoe UI"/>
                <a:ea typeface="Segoe UI"/>
                <a:cs typeface="Segoe UI"/>
              </a:defRPr>
            </a:defPPr>
          </a:lstStyle>
          <a:p>
            <a:pPr algn="l">
              <a:defRPr sz="1125" b="1">
                <a:solidFill>
                  <a:srgbClr val="27B99A"/>
                </a:solidFill>
                <a:latin typeface="Segoe UI"/>
                <a:ea typeface="Segoe UI"/>
                <a:cs typeface="Segoe UI"/>
              </a:defRPr>
            </a:pPr>
            <a:r>
              <a:rPr sz="1125" b="1">
                <a:solidFill>
                  <a:srgbClr val="27B99A"/>
                </a:solidFill>
                <a:latin typeface="Segoe UI"/>
                <a:ea typeface="Segoe UI"/>
                <a:cs typeface="Segoe UI"/>
              </a:rPr>
              <a:t>SERVICE REQUEST STATUS</a:t>
            </a:r>
          </a:p>
        </p:txBody>
      </p:sp>
      <p:sp>
        <p:nvSpPr>
          <p:cNvPr id="18" name="Oval 17">
            <a:extLst>
              <a:ext uri="{FF2B5EF4-FFF2-40B4-BE49-F238E27FC236}">
                <a16:creationId xmlns:a16="http://schemas.microsoft.com/office/drawing/2014/main" id="{CCF81263-2A2F-4644-81A1-5419336CC7F9}"/>
              </a:ext>
            </a:extLst>
          </p:cNvPr>
          <p:cNvSpPr>
            <a:spLocks noGrp="1"/>
          </p:cNvSpPr>
          <p:nvPr/>
        </p:nvSpPr>
        <p:spPr>
          <a:xfrm>
            <a:off x="5772150" y="2686050"/>
            <a:ext cx="219075" cy="219075"/>
          </a:xfrm>
          <a:prstGeom prst="ellipse">
            <a:avLst/>
          </a:prstGeom>
          <a:solidFill>
            <a:srgbClr val="9178FF"/>
          </a:solidFill>
          <a:ln w="0">
            <a:noFill/>
            <a:prstDash val="solid"/>
          </a:ln>
        </p:spPr>
      </p:sp>
      <p:sp>
        <p:nvSpPr>
          <p:cNvPr id="19" name="Rectangle 18">
            <a:extLst>
              <a:ext uri="{FF2B5EF4-FFF2-40B4-BE49-F238E27FC236}">
                <a16:creationId xmlns:a16="http://schemas.microsoft.com/office/drawing/2014/main" id="{56C1892E-1B1C-4DE9-8529-57ED75694C93}"/>
              </a:ext>
            </a:extLst>
          </p:cNvPr>
          <p:cNvSpPr>
            <a:spLocks noGrp="1"/>
          </p:cNvSpPr>
          <p:nvPr/>
        </p:nvSpPr>
        <p:spPr>
          <a:xfrm>
            <a:off x="6191250" y="2647950"/>
            <a:ext cx="4000500" cy="323850"/>
          </a:xfrm>
          <a:prstGeom prst="rect">
            <a:avLst/>
          </a:prstGeom>
          <a:noFill/>
          <a:ln w="0">
            <a:noFill/>
            <a:prstDash val="solid"/>
          </a:ln>
        </p:spPr>
        <p:txBody>
          <a:bodyPr lIns="0" tIns="0" rIns="0" bIns="0" anchor="t">
            <a:normAutofit/>
          </a:bodyPr>
          <a:lstStyle>
            <a:defPPr algn="l">
              <a:defRPr sz="1500" b="1">
                <a:solidFill>
                  <a:srgbClr val="FFFFFF"/>
                </a:solidFill>
                <a:latin typeface="Segoe UI"/>
                <a:ea typeface="Segoe UI"/>
                <a:cs typeface="Segoe UI"/>
              </a:defRPr>
            </a:defPPr>
          </a:lstStyle>
          <a:p>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Order placed</a:t>
            </a:r>
          </a:p>
        </p:txBody>
      </p:sp>
      <p:sp>
        <p:nvSpPr>
          <p:cNvPr id="20" name="Rectangle 19">
            <a:extLst>
              <a:ext uri="{FF2B5EF4-FFF2-40B4-BE49-F238E27FC236}">
                <a16:creationId xmlns:a16="http://schemas.microsoft.com/office/drawing/2014/main" id="{4CA80A4D-1A6C-4F33-B5F1-09BCF3C1E394}"/>
              </a:ext>
            </a:extLst>
          </p:cNvPr>
          <p:cNvSpPr>
            <a:spLocks noGrp="1"/>
          </p:cNvSpPr>
          <p:nvPr/>
        </p:nvSpPr>
        <p:spPr>
          <a:xfrm>
            <a:off x="5867400" y="2914650"/>
            <a:ext cx="28575" cy="247650"/>
          </a:xfrm>
          <a:prstGeom prst="rect">
            <a:avLst/>
          </a:prstGeom>
          <a:solidFill>
            <a:srgbClr val="565574"/>
          </a:solidFill>
          <a:ln w="0">
            <a:noFill/>
            <a:prstDash val="solid"/>
          </a:ln>
        </p:spPr>
      </p:sp>
      <p:sp>
        <p:nvSpPr>
          <p:cNvPr id="21" name="Oval 20">
            <a:extLst>
              <a:ext uri="{FF2B5EF4-FFF2-40B4-BE49-F238E27FC236}">
                <a16:creationId xmlns:a16="http://schemas.microsoft.com/office/drawing/2014/main" id="{EEA9B2A4-8458-44BE-8F83-9CEA2803A506}"/>
              </a:ext>
            </a:extLst>
          </p:cNvPr>
          <p:cNvSpPr>
            <a:spLocks noGrp="1"/>
          </p:cNvSpPr>
          <p:nvPr/>
        </p:nvSpPr>
        <p:spPr>
          <a:xfrm>
            <a:off x="5772150" y="3190875"/>
            <a:ext cx="219075" cy="219075"/>
          </a:xfrm>
          <a:prstGeom prst="ellipse">
            <a:avLst/>
          </a:prstGeom>
          <a:solidFill>
            <a:srgbClr val="27B99A"/>
          </a:solidFill>
          <a:ln w="0">
            <a:noFill/>
            <a:prstDash val="solid"/>
          </a:ln>
        </p:spPr>
      </p:sp>
      <p:sp>
        <p:nvSpPr>
          <p:cNvPr id="22" name="Rectangle 21">
            <a:extLst>
              <a:ext uri="{FF2B5EF4-FFF2-40B4-BE49-F238E27FC236}">
                <a16:creationId xmlns:a16="http://schemas.microsoft.com/office/drawing/2014/main" id="{A877A90B-A802-497F-8640-5B95DC25C6C9}"/>
              </a:ext>
            </a:extLst>
          </p:cNvPr>
          <p:cNvSpPr>
            <a:spLocks noGrp="1"/>
          </p:cNvSpPr>
          <p:nvPr/>
        </p:nvSpPr>
        <p:spPr>
          <a:xfrm>
            <a:off x="6191250" y="3152775"/>
            <a:ext cx="4000500" cy="323850"/>
          </a:xfrm>
          <a:prstGeom prst="rect">
            <a:avLst/>
          </a:prstGeom>
          <a:noFill/>
          <a:ln w="0">
            <a:noFill/>
            <a:prstDash val="solid"/>
          </a:ln>
        </p:spPr>
        <p:txBody>
          <a:bodyPr lIns="0" tIns="0" rIns="0" bIns="0" anchor="t">
            <a:normAutofit/>
          </a:bodyPr>
          <a:lstStyle>
            <a:defPPr algn="l">
              <a:defRPr sz="1500" b="1">
                <a:solidFill>
                  <a:srgbClr val="FFFFFF"/>
                </a:solidFill>
                <a:latin typeface="Segoe UI"/>
                <a:ea typeface="Segoe UI"/>
                <a:cs typeface="Segoe UI"/>
              </a:defRPr>
            </a:defPPr>
          </a:lstStyle>
          <a:p>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Verified</a:t>
            </a:r>
          </a:p>
        </p:txBody>
      </p:sp>
      <p:sp>
        <p:nvSpPr>
          <p:cNvPr id="23" name="Rectangle 22">
            <a:extLst>
              <a:ext uri="{FF2B5EF4-FFF2-40B4-BE49-F238E27FC236}">
                <a16:creationId xmlns:a16="http://schemas.microsoft.com/office/drawing/2014/main" id="{2DEDC47B-F297-426D-910D-63402DB78705}"/>
              </a:ext>
            </a:extLst>
          </p:cNvPr>
          <p:cNvSpPr>
            <a:spLocks noGrp="1"/>
          </p:cNvSpPr>
          <p:nvPr/>
        </p:nvSpPr>
        <p:spPr>
          <a:xfrm>
            <a:off x="5867400" y="3419475"/>
            <a:ext cx="28575" cy="247650"/>
          </a:xfrm>
          <a:prstGeom prst="rect">
            <a:avLst/>
          </a:prstGeom>
          <a:solidFill>
            <a:srgbClr val="565574"/>
          </a:solidFill>
          <a:ln w="0">
            <a:noFill/>
            <a:prstDash val="solid"/>
          </a:ln>
        </p:spPr>
      </p:sp>
      <p:sp>
        <p:nvSpPr>
          <p:cNvPr id="24" name="Oval 23">
            <a:extLst>
              <a:ext uri="{FF2B5EF4-FFF2-40B4-BE49-F238E27FC236}">
                <a16:creationId xmlns:a16="http://schemas.microsoft.com/office/drawing/2014/main" id="{B77E96A6-AF70-4701-BD72-E992EBC2DA4A}"/>
              </a:ext>
            </a:extLst>
          </p:cNvPr>
          <p:cNvSpPr>
            <a:spLocks noGrp="1"/>
          </p:cNvSpPr>
          <p:nvPr/>
        </p:nvSpPr>
        <p:spPr>
          <a:xfrm>
            <a:off x="5772150" y="3695700"/>
            <a:ext cx="219075" cy="219075"/>
          </a:xfrm>
          <a:prstGeom prst="ellipse">
            <a:avLst/>
          </a:prstGeom>
          <a:solidFill>
            <a:srgbClr val="27B99A"/>
          </a:solidFill>
          <a:ln w="0">
            <a:noFill/>
            <a:prstDash val="solid"/>
          </a:ln>
        </p:spPr>
      </p:sp>
      <p:sp>
        <p:nvSpPr>
          <p:cNvPr id="25" name="Rectangle 24">
            <a:extLst>
              <a:ext uri="{FF2B5EF4-FFF2-40B4-BE49-F238E27FC236}">
                <a16:creationId xmlns:a16="http://schemas.microsoft.com/office/drawing/2014/main" id="{DA6FFDDC-4BE9-4F8C-B90D-EDA815C34333}"/>
              </a:ext>
            </a:extLst>
          </p:cNvPr>
          <p:cNvSpPr>
            <a:spLocks noGrp="1"/>
          </p:cNvSpPr>
          <p:nvPr/>
        </p:nvSpPr>
        <p:spPr>
          <a:xfrm>
            <a:off x="6191250" y="3657600"/>
            <a:ext cx="4000500" cy="323850"/>
          </a:xfrm>
          <a:prstGeom prst="rect">
            <a:avLst/>
          </a:prstGeom>
          <a:noFill/>
          <a:ln w="0">
            <a:noFill/>
            <a:prstDash val="solid"/>
          </a:ln>
        </p:spPr>
        <p:txBody>
          <a:bodyPr lIns="0" tIns="0" rIns="0" bIns="0" anchor="t">
            <a:normAutofit/>
          </a:bodyPr>
          <a:lstStyle>
            <a:defPPr algn="l">
              <a:defRPr sz="1500" b="1">
                <a:solidFill>
                  <a:srgbClr val="FFFFFF"/>
                </a:solidFill>
                <a:latin typeface="Segoe UI"/>
                <a:ea typeface="Segoe UI"/>
                <a:cs typeface="Segoe UI"/>
              </a:defRPr>
            </a:defPPr>
          </a:lstStyle>
          <a:p>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Ready for pickup</a:t>
            </a:r>
          </a:p>
        </p:txBody>
      </p:sp>
      <p:sp>
        <p:nvSpPr>
          <p:cNvPr id="26" name="Rectangle 25">
            <a:extLst>
              <a:ext uri="{FF2B5EF4-FFF2-40B4-BE49-F238E27FC236}">
                <a16:creationId xmlns:a16="http://schemas.microsoft.com/office/drawing/2014/main" id="{97DC1279-9B07-46FA-B43B-14564924FED6}"/>
              </a:ext>
            </a:extLst>
          </p:cNvPr>
          <p:cNvSpPr>
            <a:spLocks noGrp="1"/>
          </p:cNvSpPr>
          <p:nvPr/>
        </p:nvSpPr>
        <p:spPr>
          <a:xfrm>
            <a:off x="5867400" y="3924300"/>
            <a:ext cx="28575" cy="247650"/>
          </a:xfrm>
          <a:prstGeom prst="rect">
            <a:avLst/>
          </a:prstGeom>
          <a:solidFill>
            <a:srgbClr val="565574"/>
          </a:solidFill>
          <a:ln w="0">
            <a:noFill/>
            <a:prstDash val="solid"/>
          </a:ln>
        </p:spPr>
      </p:sp>
      <p:sp>
        <p:nvSpPr>
          <p:cNvPr id="27" name="Oval 26">
            <a:extLst>
              <a:ext uri="{FF2B5EF4-FFF2-40B4-BE49-F238E27FC236}">
                <a16:creationId xmlns:a16="http://schemas.microsoft.com/office/drawing/2014/main" id="{060C8669-E229-44AB-B1BC-88FC8B6885A4}"/>
              </a:ext>
            </a:extLst>
          </p:cNvPr>
          <p:cNvSpPr>
            <a:spLocks noGrp="1"/>
          </p:cNvSpPr>
          <p:nvPr/>
        </p:nvSpPr>
        <p:spPr>
          <a:xfrm>
            <a:off x="5772150" y="4200525"/>
            <a:ext cx="219075" cy="219075"/>
          </a:xfrm>
          <a:prstGeom prst="ellipse">
            <a:avLst/>
          </a:prstGeom>
          <a:solidFill>
            <a:srgbClr val="555371"/>
          </a:solidFill>
          <a:ln w="0">
            <a:noFill/>
            <a:prstDash val="solid"/>
          </a:ln>
        </p:spPr>
      </p:sp>
      <p:sp>
        <p:nvSpPr>
          <p:cNvPr id="28" name="Rectangle 27">
            <a:extLst>
              <a:ext uri="{FF2B5EF4-FFF2-40B4-BE49-F238E27FC236}">
                <a16:creationId xmlns:a16="http://schemas.microsoft.com/office/drawing/2014/main" id="{6AE4D754-CBF5-40EE-88DB-BF3D3629AF3A}"/>
              </a:ext>
            </a:extLst>
          </p:cNvPr>
          <p:cNvSpPr>
            <a:spLocks noGrp="1"/>
          </p:cNvSpPr>
          <p:nvPr/>
        </p:nvSpPr>
        <p:spPr>
          <a:xfrm>
            <a:off x="6191250" y="4162425"/>
            <a:ext cx="4000500" cy="323850"/>
          </a:xfrm>
          <a:prstGeom prst="rect">
            <a:avLst/>
          </a:prstGeom>
          <a:noFill/>
          <a:ln w="0">
            <a:noFill/>
            <a:prstDash val="solid"/>
          </a:ln>
        </p:spPr>
        <p:txBody>
          <a:bodyPr lIns="0" tIns="0" rIns="0" bIns="0" anchor="t">
            <a:normAutofit/>
          </a:bodyPr>
          <a:lstStyle>
            <a:defPPr algn="l">
              <a:defRPr sz="1500" b="0">
                <a:solidFill>
                  <a:srgbClr val="FFFFFF"/>
                </a:solidFill>
                <a:latin typeface="Segoe UI"/>
                <a:ea typeface="Segoe UI"/>
                <a:cs typeface="Segoe UI"/>
              </a:defRPr>
            </a:defPPr>
          </a:lstStyle>
          <a:p>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Service done</a:t>
            </a:r>
          </a:p>
        </p:txBody>
      </p:sp>
      <p:sp>
        <p:nvSpPr>
          <p:cNvPr id="29" name="Rectangle 28">
            <a:extLst>
              <a:ext uri="{FF2B5EF4-FFF2-40B4-BE49-F238E27FC236}">
                <a16:creationId xmlns:a16="http://schemas.microsoft.com/office/drawing/2014/main" id="{4DDB198C-8595-4DA6-A6CA-FB68BC741878}"/>
              </a:ext>
            </a:extLst>
          </p:cNvPr>
          <p:cNvSpPr>
            <a:spLocks noGrp="1"/>
          </p:cNvSpPr>
          <p:nvPr/>
        </p:nvSpPr>
        <p:spPr>
          <a:xfrm>
            <a:off x="5867400" y="4429125"/>
            <a:ext cx="28575" cy="247650"/>
          </a:xfrm>
          <a:prstGeom prst="rect">
            <a:avLst/>
          </a:prstGeom>
          <a:solidFill>
            <a:srgbClr val="565574"/>
          </a:solidFill>
          <a:ln w="0">
            <a:noFill/>
            <a:prstDash val="solid"/>
          </a:ln>
        </p:spPr>
      </p:sp>
      <p:sp>
        <p:nvSpPr>
          <p:cNvPr id="30" name="Oval 29">
            <a:extLst>
              <a:ext uri="{FF2B5EF4-FFF2-40B4-BE49-F238E27FC236}">
                <a16:creationId xmlns:a16="http://schemas.microsoft.com/office/drawing/2014/main" id="{A36ED52D-7D36-4FBF-912C-FCCF9ADB18FF}"/>
              </a:ext>
            </a:extLst>
          </p:cNvPr>
          <p:cNvSpPr>
            <a:spLocks noGrp="1"/>
          </p:cNvSpPr>
          <p:nvPr/>
        </p:nvSpPr>
        <p:spPr>
          <a:xfrm>
            <a:off x="5772150" y="4705350"/>
            <a:ext cx="219075" cy="219075"/>
          </a:xfrm>
          <a:prstGeom prst="ellipse">
            <a:avLst/>
          </a:prstGeom>
          <a:solidFill>
            <a:srgbClr val="555371"/>
          </a:solidFill>
          <a:ln w="0">
            <a:noFill/>
            <a:prstDash val="solid"/>
          </a:ln>
        </p:spPr>
      </p:sp>
      <p:sp>
        <p:nvSpPr>
          <p:cNvPr id="31" name="Rectangle 30">
            <a:extLst>
              <a:ext uri="{FF2B5EF4-FFF2-40B4-BE49-F238E27FC236}">
                <a16:creationId xmlns:a16="http://schemas.microsoft.com/office/drawing/2014/main" id="{638AAA77-995F-4188-A322-F02FAF3AD0F3}"/>
              </a:ext>
            </a:extLst>
          </p:cNvPr>
          <p:cNvSpPr>
            <a:spLocks noGrp="1"/>
          </p:cNvSpPr>
          <p:nvPr/>
        </p:nvSpPr>
        <p:spPr>
          <a:xfrm>
            <a:off x="6191250" y="4667250"/>
            <a:ext cx="4000500" cy="323850"/>
          </a:xfrm>
          <a:prstGeom prst="rect">
            <a:avLst/>
          </a:prstGeom>
          <a:noFill/>
          <a:ln w="0">
            <a:noFill/>
            <a:prstDash val="solid"/>
          </a:ln>
        </p:spPr>
        <p:txBody>
          <a:bodyPr lIns="0" tIns="0" rIns="0" bIns="0" anchor="t">
            <a:normAutofit/>
          </a:bodyPr>
          <a:lstStyle>
            <a:defPPr algn="l">
              <a:defRPr sz="1500" b="0">
                <a:solidFill>
                  <a:srgbClr val="FFFFFF"/>
                </a:solidFill>
                <a:latin typeface="Segoe UI"/>
                <a:ea typeface="Segoe UI"/>
                <a:cs typeface="Segoe UI"/>
              </a:defRPr>
            </a:defPPr>
          </a:lstStyle>
          <a:p>
            <a:pPr algn="l">
              <a:defRPr sz="1500" b="0">
                <a:solidFill>
                  <a:srgbClr val="FFFFFF"/>
                </a:solidFill>
                <a:latin typeface="Segoe UI"/>
                <a:ea typeface="Segoe UI"/>
                <a:cs typeface="Segoe UI"/>
              </a:defRPr>
            </a:pPr>
            <a:r>
              <a:rPr sz="1500" b="0">
                <a:solidFill>
                  <a:srgbClr val="FFFFFF"/>
                </a:solidFill>
                <a:latin typeface="Segoe UI"/>
                <a:ea typeface="Segoe UI"/>
                <a:cs typeface="Segoe UI"/>
              </a:rPr>
              <a:t>Out for delivery</a:t>
            </a:r>
          </a:p>
        </p:txBody>
      </p:sp>
    </p:spTree>
    <p:extLst>
      <p:ext uri="{BB962C8B-B14F-4D97-AF65-F5344CB8AC3E}">
        <p14:creationId xmlns:p14="http://schemas.microsoft.com/office/powerpoint/2010/main" val="1203962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81408DD-6B82-4AC7-9BA8-BE16DDECCC24}"/>
              </a:ext>
            </a:extLst>
          </p:cNvPr>
          <p:cNvSpPr>
            <a:spLocks noGrp="1"/>
          </p:cNvSpPr>
          <p:nvPr/>
        </p:nvSpPr>
        <p:spPr>
          <a:xfrm>
            <a:off x="704850" y="400050"/>
            <a:ext cx="5715000" cy="209550"/>
          </a:xfrm>
          <a:prstGeom prst="rect">
            <a:avLst/>
          </a:prstGeom>
          <a:noFill/>
          <a:ln w="0">
            <a:noFill/>
            <a:prstDash val="solid"/>
          </a:ln>
        </p:spPr>
        <p:txBody>
          <a:bodyPr lIns="0" tIns="0" rIns="0" bIns="0" anchor="t">
            <a:normAutofit/>
          </a:bodyPr>
          <a:lstStyle>
            <a:defPPr algn="l">
              <a:defRPr sz="1050" b="1">
                <a:solidFill>
                  <a:srgbClr val="7156E8"/>
                </a:solidFill>
                <a:latin typeface="Segoe UI"/>
                <a:ea typeface="Segoe UI"/>
                <a:cs typeface="Segoe UI"/>
              </a:defRPr>
            </a:defPPr>
          </a:lstStyle>
          <a:p>
            <a:pPr algn="l">
              <a:defRPr sz="1050" b="1">
                <a:solidFill>
                  <a:srgbClr val="7156E8"/>
                </a:solidFill>
                <a:latin typeface="Segoe UI"/>
                <a:ea typeface="Segoe UI"/>
                <a:cs typeface="Segoe UI"/>
              </a:defRPr>
            </a:pPr>
            <a:r>
              <a:rPr sz="1050" b="1">
                <a:solidFill>
                  <a:srgbClr val="7156E8"/>
                </a:solidFill>
                <a:latin typeface="Segoe UI"/>
                <a:ea typeface="Segoe UI"/>
                <a:cs typeface="Segoe UI"/>
              </a:rPr>
              <a:t>HOSTEL AND MESS</a:t>
            </a:r>
          </a:p>
        </p:txBody>
      </p:sp>
      <p:sp>
        <p:nvSpPr>
          <p:cNvPr id="2" name="Rectangle 1">
            <a:extLst>
              <a:ext uri="{FF2B5EF4-FFF2-40B4-BE49-F238E27FC236}">
                <a16:creationId xmlns:a16="http://schemas.microsoft.com/office/drawing/2014/main" id="{9AFAD940-C571-4602-B2A7-461D6655836E}"/>
              </a:ext>
            </a:extLst>
          </p:cNvPr>
          <p:cNvSpPr>
            <a:spLocks noGrp="1"/>
          </p:cNvSpPr>
          <p:nvPr/>
        </p:nvSpPr>
        <p:spPr>
          <a:xfrm>
            <a:off x="704850" y="742950"/>
            <a:ext cx="10715625" cy="723900"/>
          </a:xfrm>
          <a:prstGeom prst="rect">
            <a:avLst/>
          </a:prstGeom>
          <a:noFill/>
          <a:ln w="0">
            <a:noFill/>
            <a:prstDash val="solid"/>
          </a:ln>
        </p:spPr>
        <p:txBody>
          <a:bodyPr lIns="0" tIns="0" rIns="0" bIns="0" anchor="t">
            <a:normAutofit/>
          </a:bodyPr>
          <a:lstStyle>
            <a:defPPr algn="l">
              <a:defRPr sz="3450" b="1">
                <a:solidFill>
                  <a:srgbClr val="22233D"/>
                </a:solidFill>
                <a:latin typeface="Segoe UI"/>
                <a:ea typeface="Segoe UI"/>
                <a:cs typeface="Segoe UI"/>
              </a:defRPr>
            </a:defPPr>
          </a:lstStyle>
          <a:p>
            <a:pPr algn="l">
              <a:defRPr sz="3450" b="1">
                <a:solidFill>
                  <a:srgbClr val="22233D"/>
                </a:solidFill>
                <a:latin typeface="Segoe UI"/>
                <a:ea typeface="Segoe UI"/>
                <a:cs typeface="Segoe UI"/>
              </a:defRPr>
            </a:pPr>
            <a:r>
              <a:rPr sz="3450" b="1">
                <a:solidFill>
                  <a:srgbClr val="22233D"/>
                </a:solidFill>
                <a:latin typeface="Segoe UI"/>
                <a:ea typeface="Segoe UI"/>
                <a:cs typeface="Segoe UI"/>
              </a:rPr>
              <a:t>Hostel and mess information has its own pages</a:t>
            </a:r>
          </a:p>
        </p:txBody>
      </p:sp>
      <p:sp>
        <p:nvSpPr>
          <p:cNvPr id="3" name="Rectangle 2">
            <a:extLst>
              <a:ext uri="{FF2B5EF4-FFF2-40B4-BE49-F238E27FC236}">
                <a16:creationId xmlns:a16="http://schemas.microsoft.com/office/drawing/2014/main" id="{4D82B512-B15F-41FC-9694-BA78505D638A}"/>
              </a:ext>
            </a:extLst>
          </p:cNvPr>
          <p:cNvSpPr>
            <a:spLocks noGrp="1"/>
          </p:cNvSpPr>
          <p:nvPr/>
        </p:nvSpPr>
        <p:spPr>
          <a:xfrm>
            <a:off x="704850" y="6400800"/>
            <a:ext cx="10782300" cy="9525"/>
          </a:xfrm>
          <a:prstGeom prst="rect">
            <a:avLst/>
          </a:prstGeom>
          <a:solidFill>
            <a:srgbClr val="E4E5EF"/>
          </a:solidFill>
          <a:ln w="0">
            <a:noFill/>
            <a:prstDash val="solid"/>
          </a:ln>
        </p:spPr>
      </p:sp>
      <p:sp>
        <p:nvSpPr>
          <p:cNvPr id="4" name="Rectangle 3">
            <a:extLst>
              <a:ext uri="{FF2B5EF4-FFF2-40B4-BE49-F238E27FC236}">
                <a16:creationId xmlns:a16="http://schemas.microsoft.com/office/drawing/2014/main" id="{F6CD2805-FCAE-438A-95BE-06E9889772C9}"/>
              </a:ext>
            </a:extLst>
          </p:cNvPr>
          <p:cNvSpPr>
            <a:spLocks noGrp="1"/>
          </p:cNvSpPr>
          <p:nvPr/>
        </p:nvSpPr>
        <p:spPr>
          <a:xfrm>
            <a:off x="704850" y="6505575"/>
            <a:ext cx="6667500" cy="190500"/>
          </a:xfrm>
          <a:prstGeom prst="rect">
            <a:avLst/>
          </a:prstGeom>
          <a:noFill/>
          <a:ln w="0">
            <a:noFill/>
            <a:prstDash val="solid"/>
          </a:ln>
        </p:spPr>
        <p:txBody>
          <a:bodyPr lIns="0" tIns="0" rIns="0" bIns="0" anchor="t">
            <a:normAutofit/>
          </a:bodyPr>
          <a:lstStyle>
            <a:defPPr algn="l">
              <a:defRPr sz="975" b="1">
                <a:solidFill>
                  <a:srgbClr val="777B90"/>
                </a:solidFill>
                <a:latin typeface="Segoe UI"/>
                <a:ea typeface="Segoe UI"/>
                <a:cs typeface="Segoe UI"/>
              </a:defRPr>
            </a:defPPr>
          </a:lstStyle>
          <a:p>
            <a:pPr algn="l">
              <a:defRPr sz="975" b="1">
                <a:solidFill>
                  <a:srgbClr val="777B90"/>
                </a:solidFill>
                <a:latin typeface="Segoe UI"/>
                <a:ea typeface="Segoe UI"/>
                <a:cs typeface="Segoe UI"/>
              </a:defRPr>
            </a:pPr>
            <a:r>
              <a:rPr sz="975" b="1">
                <a:solidFill>
                  <a:srgbClr val="777B90"/>
                </a:solidFill>
                <a:latin typeface="Segoe UI"/>
                <a:ea typeface="Segoe UI"/>
                <a:cs typeface="Segoe UI"/>
              </a:rPr>
              <a:t>HOSTELHUB  /  PROJECT PRESENTATION</a:t>
            </a:r>
          </a:p>
        </p:txBody>
      </p:sp>
      <p:sp>
        <p:nvSpPr>
          <p:cNvPr id="5" name="Rectangle 4">
            <a:extLst>
              <a:ext uri="{FF2B5EF4-FFF2-40B4-BE49-F238E27FC236}">
                <a16:creationId xmlns:a16="http://schemas.microsoft.com/office/drawing/2014/main" id="{D898266B-0FFC-4A05-9B0A-1E689C4AE63D}"/>
              </a:ext>
            </a:extLst>
          </p:cNvPr>
          <p:cNvSpPr>
            <a:spLocks noGrp="1"/>
          </p:cNvSpPr>
          <p:nvPr/>
        </p:nvSpPr>
        <p:spPr>
          <a:xfrm>
            <a:off x="11049000" y="6486525"/>
            <a:ext cx="438150" cy="209550"/>
          </a:xfrm>
          <a:prstGeom prst="rect">
            <a:avLst/>
          </a:prstGeom>
          <a:noFill/>
          <a:ln w="0">
            <a:noFill/>
            <a:prstDash val="solid"/>
          </a:ln>
        </p:spPr>
        <p:txBody>
          <a:bodyPr lIns="0" tIns="0" rIns="0" bIns="0" anchor="t">
            <a:normAutofit/>
          </a:bodyPr>
          <a:lstStyle>
            <a:defPPr algn="r">
              <a:defRPr sz="1050" b="1">
                <a:solidFill>
                  <a:srgbClr val="7156E8"/>
                </a:solidFill>
                <a:latin typeface="Segoe UI"/>
                <a:ea typeface="Segoe UI"/>
                <a:cs typeface="Segoe UI"/>
              </a:defRPr>
            </a:defPPr>
          </a:lstStyle>
          <a:p>
            <a:pPr algn="r">
              <a:defRPr sz="1050" b="1">
                <a:solidFill>
                  <a:srgbClr val="7156E8"/>
                </a:solidFill>
                <a:latin typeface="Segoe UI"/>
                <a:ea typeface="Segoe UI"/>
                <a:cs typeface="Segoe UI"/>
              </a:defRPr>
            </a:pPr>
            <a:r>
              <a:rPr sz="1050" b="1">
                <a:solidFill>
                  <a:srgbClr val="7156E8"/>
                </a:solidFill>
                <a:latin typeface="Segoe UI"/>
                <a:ea typeface="Segoe UI"/>
                <a:cs typeface="Segoe UI"/>
              </a:rPr>
              <a:t>10</a:t>
            </a:r>
          </a:p>
        </p:txBody>
      </p:sp>
      <p:sp>
        <p:nvSpPr>
          <p:cNvPr id="6" name="Rectangle 5">
            <a:extLst>
              <a:ext uri="{FF2B5EF4-FFF2-40B4-BE49-F238E27FC236}">
                <a16:creationId xmlns:a16="http://schemas.microsoft.com/office/drawing/2014/main" id="{7E0FCDBF-85B7-4715-8B31-AD9E59CE0962}"/>
              </a:ext>
            </a:extLst>
          </p:cNvPr>
          <p:cNvSpPr>
            <a:spLocks noGrp="1"/>
          </p:cNvSpPr>
          <p:nvPr/>
        </p:nvSpPr>
        <p:spPr>
          <a:xfrm>
            <a:off x="781050" y="1581150"/>
            <a:ext cx="10287000" cy="323850"/>
          </a:xfrm>
          <a:prstGeom prst="rect">
            <a:avLst/>
          </a:prstGeom>
          <a:noFill/>
          <a:ln w="0">
            <a:noFill/>
            <a:prstDash val="solid"/>
          </a:ln>
        </p:spPr>
        <p:txBody>
          <a:bodyPr lIns="0" tIns="0" rIns="0" bIns="0" anchor="t">
            <a:normAutofit/>
          </a:bodyPr>
          <a:lstStyle>
            <a:defPPr algn="l">
              <a:defRPr sz="1650" b="0">
                <a:solidFill>
                  <a:srgbClr val="62667B"/>
                </a:solidFill>
                <a:latin typeface="Segoe UI"/>
                <a:ea typeface="Segoe UI"/>
                <a:cs typeface="Segoe UI"/>
              </a:defRPr>
            </a:defPPr>
          </a:lstStyle>
          <a:p>
            <a:pPr algn="l">
              <a:defRPr sz="1650" b="0">
                <a:solidFill>
                  <a:srgbClr val="62667B"/>
                </a:solidFill>
                <a:latin typeface="Segoe UI"/>
                <a:ea typeface="Segoe UI"/>
                <a:cs typeface="Segoe UI"/>
              </a:defRPr>
            </a:pPr>
            <a:r>
              <a:rPr sz="1650" b="0">
                <a:solidFill>
                  <a:srgbClr val="62667B"/>
                </a:solidFill>
                <a:latin typeface="Segoe UI"/>
                <a:ea typeface="Segoe UI"/>
                <a:cs typeface="Segoe UI"/>
              </a:rPr>
              <a:t>Students can open each area separately from Hostel &amp; Mess Services</a:t>
            </a:r>
          </a:p>
        </p:txBody>
      </p:sp>
      <p:sp>
        <p:nvSpPr>
          <p:cNvPr id="7" name="Rectangle 6">
            <a:extLst>
              <a:ext uri="{FF2B5EF4-FFF2-40B4-BE49-F238E27FC236}">
                <a16:creationId xmlns:a16="http://schemas.microsoft.com/office/drawing/2014/main" id="{AA89D670-74B9-4D8A-8B34-99933B102E9F}"/>
              </a:ext>
            </a:extLst>
          </p:cNvPr>
          <p:cNvSpPr>
            <a:spLocks noGrp="1"/>
          </p:cNvSpPr>
          <p:nvPr/>
        </p:nvSpPr>
        <p:spPr>
          <a:xfrm>
            <a:off x="895350" y="2266950"/>
            <a:ext cx="552450" cy="342900"/>
          </a:xfrm>
          <a:prstGeom prst="rect">
            <a:avLst/>
          </a:prstGeom>
          <a:noFill/>
          <a:ln w="0">
            <a:noFill/>
            <a:prstDash val="solid"/>
          </a:ln>
        </p:spPr>
        <p:txBody>
          <a:bodyPr lIns="0" tIns="0" rIns="0" bIns="0" anchor="t">
            <a:normAutofit/>
          </a:bodyPr>
          <a:lstStyle>
            <a:defPPr algn="l">
              <a:defRPr sz="1650" b="1">
                <a:solidFill>
                  <a:srgbClr val="7156E8"/>
                </a:solidFill>
                <a:latin typeface="Segoe UI"/>
                <a:ea typeface="Segoe UI"/>
                <a:cs typeface="Segoe UI"/>
              </a:defRPr>
            </a:defPPr>
          </a:lstStyle>
          <a:p>
            <a:pPr algn="l">
              <a:defRPr sz="1650" b="1">
                <a:solidFill>
                  <a:srgbClr val="7156E8"/>
                </a:solidFill>
                <a:latin typeface="Segoe UI"/>
                <a:ea typeface="Segoe UI"/>
                <a:cs typeface="Segoe UI"/>
              </a:defRPr>
            </a:pPr>
            <a:r>
              <a:rPr sz="1650" b="1">
                <a:solidFill>
                  <a:srgbClr val="7156E8"/>
                </a:solidFill>
                <a:latin typeface="Segoe UI"/>
                <a:ea typeface="Segoe UI"/>
                <a:cs typeface="Segoe UI"/>
              </a:rPr>
              <a:t>01</a:t>
            </a:r>
          </a:p>
        </p:txBody>
      </p:sp>
      <p:sp>
        <p:nvSpPr>
          <p:cNvPr id="8" name="Rectangle 7">
            <a:extLst>
              <a:ext uri="{FF2B5EF4-FFF2-40B4-BE49-F238E27FC236}">
                <a16:creationId xmlns:a16="http://schemas.microsoft.com/office/drawing/2014/main" id="{45389118-AA48-41AA-9960-4B921C012545}"/>
              </a:ext>
            </a:extLst>
          </p:cNvPr>
          <p:cNvSpPr>
            <a:spLocks noGrp="1"/>
          </p:cNvSpPr>
          <p:nvPr/>
        </p:nvSpPr>
        <p:spPr>
          <a:xfrm>
            <a:off x="1600200" y="2266950"/>
            <a:ext cx="2428875" cy="333375"/>
          </a:xfrm>
          <a:prstGeom prst="rect">
            <a:avLst/>
          </a:prstGeom>
          <a:noFill/>
          <a:ln w="0">
            <a:noFill/>
            <a:prstDash val="solid"/>
          </a:ln>
        </p:spPr>
        <p:txBody>
          <a:bodyPr lIns="0" tIns="0" rIns="0" bIns="0" anchor="t">
            <a:normAutofit/>
          </a:bodyPr>
          <a:lstStyle>
            <a:defPPr algn="l">
              <a:defRPr sz="1725" b="1">
                <a:solidFill>
                  <a:srgbClr val="22233D"/>
                </a:solidFill>
                <a:latin typeface="Segoe UI"/>
                <a:ea typeface="Segoe UI"/>
                <a:cs typeface="Segoe UI"/>
              </a:defRPr>
            </a:defPPr>
          </a:lstStyle>
          <a:p>
            <a:pPr algn="l">
              <a:defRPr sz="1725" b="1">
                <a:solidFill>
                  <a:srgbClr val="22233D"/>
                </a:solidFill>
                <a:latin typeface="Segoe UI"/>
                <a:ea typeface="Segoe UI"/>
                <a:cs typeface="Segoe UI"/>
              </a:defRPr>
            </a:pPr>
            <a:r>
              <a:rPr sz="1725" b="1">
                <a:solidFill>
                  <a:srgbClr val="22233D"/>
                </a:solidFill>
                <a:latin typeface="Segoe UI"/>
                <a:ea typeface="Segoe UI"/>
                <a:cs typeface="Segoe UI"/>
              </a:rPr>
              <a:t>Room details</a:t>
            </a:r>
          </a:p>
        </p:txBody>
      </p:sp>
      <p:sp>
        <p:nvSpPr>
          <p:cNvPr id="9" name="Rectangle 8">
            <a:extLst>
              <a:ext uri="{FF2B5EF4-FFF2-40B4-BE49-F238E27FC236}">
                <a16:creationId xmlns:a16="http://schemas.microsoft.com/office/drawing/2014/main" id="{14A91423-7D84-48A8-A35D-160E61E9E119}"/>
              </a:ext>
            </a:extLst>
          </p:cNvPr>
          <p:cNvSpPr>
            <a:spLocks noGrp="1"/>
          </p:cNvSpPr>
          <p:nvPr/>
        </p:nvSpPr>
        <p:spPr>
          <a:xfrm>
            <a:off x="4095750" y="2266950"/>
            <a:ext cx="6524625" cy="561975"/>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See the room currently assigned by the warden.</a:t>
            </a:r>
          </a:p>
        </p:txBody>
      </p:sp>
      <p:sp>
        <p:nvSpPr>
          <p:cNvPr id="10" name="Rectangle 9">
            <a:extLst>
              <a:ext uri="{FF2B5EF4-FFF2-40B4-BE49-F238E27FC236}">
                <a16:creationId xmlns:a16="http://schemas.microsoft.com/office/drawing/2014/main" id="{8FE44E89-D787-48C9-A9AE-6CFFC7A5841C}"/>
              </a:ext>
            </a:extLst>
          </p:cNvPr>
          <p:cNvSpPr>
            <a:spLocks noGrp="1"/>
          </p:cNvSpPr>
          <p:nvPr/>
        </p:nvSpPr>
        <p:spPr>
          <a:xfrm>
            <a:off x="1600200" y="2924175"/>
            <a:ext cx="9029700" cy="9525"/>
          </a:xfrm>
          <a:prstGeom prst="rect">
            <a:avLst/>
          </a:prstGeom>
          <a:solidFill>
            <a:srgbClr val="E4E5EF"/>
          </a:solidFill>
          <a:ln w="0">
            <a:noFill/>
            <a:prstDash val="solid"/>
          </a:ln>
        </p:spPr>
      </p:sp>
      <p:sp>
        <p:nvSpPr>
          <p:cNvPr id="11" name="Rectangle 10">
            <a:extLst>
              <a:ext uri="{FF2B5EF4-FFF2-40B4-BE49-F238E27FC236}">
                <a16:creationId xmlns:a16="http://schemas.microsoft.com/office/drawing/2014/main" id="{D4BD76C9-2664-4D78-BA61-0A2059298EBB}"/>
              </a:ext>
            </a:extLst>
          </p:cNvPr>
          <p:cNvSpPr>
            <a:spLocks noGrp="1"/>
          </p:cNvSpPr>
          <p:nvPr/>
        </p:nvSpPr>
        <p:spPr>
          <a:xfrm>
            <a:off x="895350" y="3162300"/>
            <a:ext cx="552450" cy="342900"/>
          </a:xfrm>
          <a:prstGeom prst="rect">
            <a:avLst/>
          </a:prstGeom>
          <a:noFill/>
          <a:ln w="0">
            <a:noFill/>
            <a:prstDash val="solid"/>
          </a:ln>
        </p:spPr>
        <p:txBody>
          <a:bodyPr lIns="0" tIns="0" rIns="0" bIns="0" anchor="t">
            <a:normAutofit/>
          </a:bodyPr>
          <a:lstStyle>
            <a:defPPr algn="l">
              <a:defRPr sz="1650" b="1">
                <a:solidFill>
                  <a:srgbClr val="27B99A"/>
                </a:solidFill>
                <a:latin typeface="Segoe UI"/>
                <a:ea typeface="Segoe UI"/>
                <a:cs typeface="Segoe UI"/>
              </a:defRPr>
            </a:defPPr>
          </a:lstStyle>
          <a:p>
            <a:pPr algn="l">
              <a:defRPr sz="1650" b="1">
                <a:solidFill>
                  <a:srgbClr val="27B99A"/>
                </a:solidFill>
                <a:latin typeface="Segoe UI"/>
                <a:ea typeface="Segoe UI"/>
                <a:cs typeface="Segoe UI"/>
              </a:defRPr>
            </a:pPr>
            <a:r>
              <a:rPr sz="1650" b="1">
                <a:solidFill>
                  <a:srgbClr val="27B99A"/>
                </a:solidFill>
                <a:latin typeface="Segoe UI"/>
                <a:ea typeface="Segoe UI"/>
                <a:cs typeface="Segoe UI"/>
              </a:rPr>
              <a:t>02</a:t>
            </a:r>
          </a:p>
        </p:txBody>
      </p:sp>
      <p:sp>
        <p:nvSpPr>
          <p:cNvPr id="12" name="Rectangle 11">
            <a:extLst>
              <a:ext uri="{FF2B5EF4-FFF2-40B4-BE49-F238E27FC236}">
                <a16:creationId xmlns:a16="http://schemas.microsoft.com/office/drawing/2014/main" id="{86736A90-FF85-474A-853C-B49436BA94BC}"/>
              </a:ext>
            </a:extLst>
          </p:cNvPr>
          <p:cNvSpPr>
            <a:spLocks noGrp="1"/>
          </p:cNvSpPr>
          <p:nvPr/>
        </p:nvSpPr>
        <p:spPr>
          <a:xfrm>
            <a:off x="1600200" y="3162300"/>
            <a:ext cx="2428875" cy="333375"/>
          </a:xfrm>
          <a:prstGeom prst="rect">
            <a:avLst/>
          </a:prstGeom>
          <a:noFill/>
          <a:ln w="0">
            <a:noFill/>
            <a:prstDash val="solid"/>
          </a:ln>
        </p:spPr>
        <p:txBody>
          <a:bodyPr lIns="0" tIns="0" rIns="0" bIns="0" anchor="t">
            <a:normAutofit/>
          </a:bodyPr>
          <a:lstStyle>
            <a:defPPr algn="l">
              <a:defRPr sz="1725" b="1">
                <a:solidFill>
                  <a:srgbClr val="22233D"/>
                </a:solidFill>
                <a:latin typeface="Segoe UI"/>
                <a:ea typeface="Segoe UI"/>
                <a:cs typeface="Segoe UI"/>
              </a:defRPr>
            </a:defPPr>
          </a:lstStyle>
          <a:p>
            <a:pPr algn="l">
              <a:defRPr sz="1725" b="1">
                <a:solidFill>
                  <a:srgbClr val="22233D"/>
                </a:solidFill>
                <a:latin typeface="Segoe UI"/>
                <a:ea typeface="Segoe UI"/>
                <a:cs typeface="Segoe UI"/>
              </a:defRPr>
            </a:pPr>
            <a:r>
              <a:rPr sz="1725" b="1">
                <a:solidFill>
                  <a:srgbClr val="22233D"/>
                </a:solidFill>
                <a:latin typeface="Segoe UI"/>
                <a:ea typeface="Segoe UI"/>
                <a:cs typeface="Segoe UI"/>
              </a:rPr>
              <a:t>Mess schedule</a:t>
            </a:r>
          </a:p>
        </p:txBody>
      </p:sp>
      <p:sp>
        <p:nvSpPr>
          <p:cNvPr id="13" name="Rectangle 12">
            <a:extLst>
              <a:ext uri="{FF2B5EF4-FFF2-40B4-BE49-F238E27FC236}">
                <a16:creationId xmlns:a16="http://schemas.microsoft.com/office/drawing/2014/main" id="{13E2E101-786A-4C18-86D1-5CB638809463}"/>
              </a:ext>
            </a:extLst>
          </p:cNvPr>
          <p:cNvSpPr>
            <a:spLocks noGrp="1"/>
          </p:cNvSpPr>
          <p:nvPr/>
        </p:nvSpPr>
        <p:spPr>
          <a:xfrm>
            <a:off x="4095750" y="3162300"/>
            <a:ext cx="6524625" cy="561975"/>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Read the published weekly meal plan.</a:t>
            </a:r>
          </a:p>
        </p:txBody>
      </p:sp>
      <p:sp>
        <p:nvSpPr>
          <p:cNvPr id="14" name="Rectangle 13">
            <a:extLst>
              <a:ext uri="{FF2B5EF4-FFF2-40B4-BE49-F238E27FC236}">
                <a16:creationId xmlns:a16="http://schemas.microsoft.com/office/drawing/2014/main" id="{003282D8-F301-4BBE-9BDB-57727417468F}"/>
              </a:ext>
            </a:extLst>
          </p:cNvPr>
          <p:cNvSpPr>
            <a:spLocks noGrp="1"/>
          </p:cNvSpPr>
          <p:nvPr/>
        </p:nvSpPr>
        <p:spPr>
          <a:xfrm>
            <a:off x="1600200" y="3819525"/>
            <a:ext cx="9029700" cy="9525"/>
          </a:xfrm>
          <a:prstGeom prst="rect">
            <a:avLst/>
          </a:prstGeom>
          <a:solidFill>
            <a:srgbClr val="E4E5EF"/>
          </a:solidFill>
          <a:ln w="0">
            <a:noFill/>
            <a:prstDash val="solid"/>
          </a:ln>
        </p:spPr>
      </p:sp>
      <p:sp>
        <p:nvSpPr>
          <p:cNvPr id="15" name="Rectangle 14">
            <a:extLst>
              <a:ext uri="{FF2B5EF4-FFF2-40B4-BE49-F238E27FC236}">
                <a16:creationId xmlns:a16="http://schemas.microsoft.com/office/drawing/2014/main" id="{A372EDBA-FED6-4327-A92D-22D72EA4F86F}"/>
              </a:ext>
            </a:extLst>
          </p:cNvPr>
          <p:cNvSpPr>
            <a:spLocks noGrp="1"/>
          </p:cNvSpPr>
          <p:nvPr/>
        </p:nvSpPr>
        <p:spPr>
          <a:xfrm>
            <a:off x="895350" y="4057650"/>
            <a:ext cx="552450" cy="342900"/>
          </a:xfrm>
          <a:prstGeom prst="rect">
            <a:avLst/>
          </a:prstGeom>
          <a:noFill/>
          <a:ln w="0">
            <a:noFill/>
            <a:prstDash val="solid"/>
          </a:ln>
        </p:spPr>
        <p:txBody>
          <a:bodyPr lIns="0" tIns="0" rIns="0" bIns="0" anchor="t">
            <a:normAutofit/>
          </a:bodyPr>
          <a:lstStyle>
            <a:defPPr algn="l">
              <a:defRPr sz="1650" b="1">
                <a:solidFill>
                  <a:srgbClr val="E9A83A"/>
                </a:solidFill>
                <a:latin typeface="Segoe UI"/>
                <a:ea typeface="Segoe UI"/>
                <a:cs typeface="Segoe UI"/>
              </a:defRPr>
            </a:defPPr>
          </a:lstStyle>
          <a:p>
            <a:pPr algn="l">
              <a:defRPr sz="1650" b="1">
                <a:solidFill>
                  <a:srgbClr val="E9A83A"/>
                </a:solidFill>
                <a:latin typeface="Segoe UI"/>
                <a:ea typeface="Segoe UI"/>
                <a:cs typeface="Segoe UI"/>
              </a:defRPr>
            </a:pPr>
            <a:r>
              <a:rPr sz="1650" b="1">
                <a:solidFill>
                  <a:srgbClr val="E9A83A"/>
                </a:solidFill>
                <a:latin typeface="Segoe UI"/>
                <a:ea typeface="Segoe UI"/>
                <a:cs typeface="Segoe UI"/>
              </a:rPr>
              <a:t>03</a:t>
            </a:r>
          </a:p>
        </p:txBody>
      </p:sp>
      <p:sp>
        <p:nvSpPr>
          <p:cNvPr id="16" name="Rectangle 15">
            <a:extLst>
              <a:ext uri="{FF2B5EF4-FFF2-40B4-BE49-F238E27FC236}">
                <a16:creationId xmlns:a16="http://schemas.microsoft.com/office/drawing/2014/main" id="{37A1C322-3FFE-4B35-897F-DE08975BD7F9}"/>
              </a:ext>
            </a:extLst>
          </p:cNvPr>
          <p:cNvSpPr>
            <a:spLocks noGrp="1"/>
          </p:cNvSpPr>
          <p:nvPr/>
        </p:nvSpPr>
        <p:spPr>
          <a:xfrm>
            <a:off x="1600200" y="4057650"/>
            <a:ext cx="2428875" cy="333375"/>
          </a:xfrm>
          <a:prstGeom prst="rect">
            <a:avLst/>
          </a:prstGeom>
          <a:noFill/>
          <a:ln w="0">
            <a:noFill/>
            <a:prstDash val="solid"/>
          </a:ln>
        </p:spPr>
        <p:txBody>
          <a:bodyPr lIns="0" tIns="0" rIns="0" bIns="0" anchor="t">
            <a:normAutofit/>
          </a:bodyPr>
          <a:lstStyle>
            <a:defPPr algn="l">
              <a:defRPr sz="1725" b="1">
                <a:solidFill>
                  <a:srgbClr val="22233D"/>
                </a:solidFill>
                <a:latin typeface="Segoe UI"/>
                <a:ea typeface="Segoe UI"/>
                <a:cs typeface="Segoe UI"/>
              </a:defRPr>
            </a:defPPr>
          </a:lstStyle>
          <a:p>
            <a:pPr algn="l">
              <a:defRPr sz="1725" b="1">
                <a:solidFill>
                  <a:srgbClr val="22233D"/>
                </a:solidFill>
                <a:latin typeface="Segoe UI"/>
                <a:ea typeface="Segoe UI"/>
                <a:cs typeface="Segoe UI"/>
              </a:defRPr>
            </a:pPr>
            <a:r>
              <a:rPr sz="1725" b="1">
                <a:solidFill>
                  <a:srgbClr val="22233D"/>
                </a:solidFill>
                <a:latin typeface="Segoe UI"/>
                <a:ea typeface="Segoe UI"/>
                <a:cs typeface="Segoe UI"/>
              </a:rPr>
              <a:t>Service requests</a:t>
            </a:r>
          </a:p>
        </p:txBody>
      </p:sp>
      <p:sp>
        <p:nvSpPr>
          <p:cNvPr id="17" name="Rectangle 16">
            <a:extLst>
              <a:ext uri="{FF2B5EF4-FFF2-40B4-BE49-F238E27FC236}">
                <a16:creationId xmlns:a16="http://schemas.microsoft.com/office/drawing/2014/main" id="{D894F947-AD22-4C33-B97E-542FE2D9A051}"/>
              </a:ext>
            </a:extLst>
          </p:cNvPr>
          <p:cNvSpPr>
            <a:spLocks noGrp="1"/>
          </p:cNvSpPr>
          <p:nvPr/>
        </p:nvSpPr>
        <p:spPr>
          <a:xfrm>
            <a:off x="4095750" y="4057650"/>
            <a:ext cx="6524625" cy="561975"/>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Report Wi-Fi, maintenance, water, safety or food issues; follow status and replies.</a:t>
            </a:r>
          </a:p>
        </p:txBody>
      </p:sp>
      <p:sp>
        <p:nvSpPr>
          <p:cNvPr id="18" name="Rectangle 17">
            <a:extLst>
              <a:ext uri="{FF2B5EF4-FFF2-40B4-BE49-F238E27FC236}">
                <a16:creationId xmlns:a16="http://schemas.microsoft.com/office/drawing/2014/main" id="{B48FA612-B1B5-4E91-B39E-4F1871941F15}"/>
              </a:ext>
            </a:extLst>
          </p:cNvPr>
          <p:cNvSpPr>
            <a:spLocks noGrp="1"/>
          </p:cNvSpPr>
          <p:nvPr/>
        </p:nvSpPr>
        <p:spPr>
          <a:xfrm>
            <a:off x="1600200" y="4714875"/>
            <a:ext cx="9029700" cy="9525"/>
          </a:xfrm>
          <a:prstGeom prst="rect">
            <a:avLst/>
          </a:prstGeom>
          <a:solidFill>
            <a:srgbClr val="E4E5EF"/>
          </a:solidFill>
          <a:ln w="0">
            <a:noFill/>
            <a:prstDash val="solid"/>
          </a:ln>
        </p:spPr>
      </p:sp>
      <p:sp>
        <p:nvSpPr>
          <p:cNvPr id="19" name="Rectangle 18">
            <a:extLst>
              <a:ext uri="{FF2B5EF4-FFF2-40B4-BE49-F238E27FC236}">
                <a16:creationId xmlns:a16="http://schemas.microsoft.com/office/drawing/2014/main" id="{E96314D8-CB7A-4381-BEFE-8C1250AA2EA8}"/>
              </a:ext>
            </a:extLst>
          </p:cNvPr>
          <p:cNvSpPr>
            <a:spLocks noGrp="1"/>
          </p:cNvSpPr>
          <p:nvPr/>
        </p:nvSpPr>
        <p:spPr>
          <a:xfrm>
            <a:off x="895350" y="4953000"/>
            <a:ext cx="552450" cy="342900"/>
          </a:xfrm>
          <a:prstGeom prst="rect">
            <a:avLst/>
          </a:prstGeom>
          <a:noFill/>
          <a:ln w="0">
            <a:noFill/>
            <a:prstDash val="solid"/>
          </a:ln>
        </p:spPr>
        <p:txBody>
          <a:bodyPr lIns="0" tIns="0" rIns="0" bIns="0" anchor="t">
            <a:normAutofit/>
          </a:bodyPr>
          <a:lstStyle>
            <a:defPPr algn="l">
              <a:defRPr sz="1650" b="1">
                <a:solidFill>
                  <a:srgbClr val="E27668"/>
                </a:solidFill>
                <a:latin typeface="Segoe UI"/>
                <a:ea typeface="Segoe UI"/>
                <a:cs typeface="Segoe UI"/>
              </a:defRPr>
            </a:defPPr>
          </a:lstStyle>
          <a:p>
            <a:pPr algn="l">
              <a:defRPr sz="1650" b="1">
                <a:solidFill>
                  <a:srgbClr val="E27668"/>
                </a:solidFill>
                <a:latin typeface="Segoe UI"/>
                <a:ea typeface="Segoe UI"/>
                <a:cs typeface="Segoe UI"/>
              </a:defRPr>
            </a:pPr>
            <a:r>
              <a:rPr sz="1650" b="1">
                <a:solidFill>
                  <a:srgbClr val="E27668"/>
                </a:solidFill>
                <a:latin typeface="Segoe UI"/>
                <a:ea typeface="Segoe UI"/>
                <a:cs typeface="Segoe UI"/>
              </a:rPr>
              <a:t>04</a:t>
            </a:r>
          </a:p>
        </p:txBody>
      </p:sp>
      <p:sp>
        <p:nvSpPr>
          <p:cNvPr id="20" name="Rectangle 19">
            <a:extLst>
              <a:ext uri="{FF2B5EF4-FFF2-40B4-BE49-F238E27FC236}">
                <a16:creationId xmlns:a16="http://schemas.microsoft.com/office/drawing/2014/main" id="{2BC45DB3-3E14-4ADE-8BB2-48F158093CB5}"/>
              </a:ext>
            </a:extLst>
          </p:cNvPr>
          <p:cNvSpPr>
            <a:spLocks noGrp="1"/>
          </p:cNvSpPr>
          <p:nvPr/>
        </p:nvSpPr>
        <p:spPr>
          <a:xfrm>
            <a:off x="1600200" y="4953000"/>
            <a:ext cx="2428875" cy="333375"/>
          </a:xfrm>
          <a:prstGeom prst="rect">
            <a:avLst/>
          </a:prstGeom>
          <a:noFill/>
          <a:ln w="0">
            <a:noFill/>
            <a:prstDash val="solid"/>
          </a:ln>
        </p:spPr>
        <p:txBody>
          <a:bodyPr lIns="0" tIns="0" rIns="0" bIns="0" anchor="t">
            <a:normAutofit/>
          </a:bodyPr>
          <a:lstStyle>
            <a:defPPr algn="l">
              <a:defRPr sz="1725" b="1">
                <a:solidFill>
                  <a:srgbClr val="22233D"/>
                </a:solidFill>
                <a:latin typeface="Segoe UI"/>
                <a:ea typeface="Segoe UI"/>
                <a:cs typeface="Segoe UI"/>
              </a:defRPr>
            </a:defPPr>
          </a:lstStyle>
          <a:p>
            <a:pPr algn="l">
              <a:defRPr sz="1725" b="1">
                <a:solidFill>
                  <a:srgbClr val="22233D"/>
                </a:solidFill>
                <a:latin typeface="Segoe UI"/>
                <a:ea typeface="Segoe UI"/>
                <a:cs typeface="Segoe UI"/>
              </a:defRPr>
            </a:pPr>
            <a:r>
              <a:rPr sz="1725" b="1">
                <a:solidFill>
                  <a:srgbClr val="22233D"/>
                </a:solidFill>
                <a:latin typeface="Segoe UI"/>
                <a:ea typeface="Segoe UI"/>
                <a:cs typeface="Segoe UI"/>
              </a:rPr>
              <a:t>Notices</a:t>
            </a:r>
          </a:p>
        </p:txBody>
      </p:sp>
      <p:sp>
        <p:nvSpPr>
          <p:cNvPr id="21" name="Rectangle 20">
            <a:extLst>
              <a:ext uri="{FF2B5EF4-FFF2-40B4-BE49-F238E27FC236}">
                <a16:creationId xmlns:a16="http://schemas.microsoft.com/office/drawing/2014/main" id="{457884CE-E9D5-4D66-87AC-A6E179FD77FC}"/>
              </a:ext>
            </a:extLst>
          </p:cNvPr>
          <p:cNvSpPr>
            <a:spLocks noGrp="1"/>
          </p:cNvSpPr>
          <p:nvPr/>
        </p:nvSpPr>
        <p:spPr>
          <a:xfrm>
            <a:off x="4095750" y="4953000"/>
            <a:ext cx="6524625" cy="561975"/>
          </a:xfrm>
          <a:prstGeom prst="rect">
            <a:avLst/>
          </a:prstGeom>
          <a:noFill/>
          <a:ln w="0">
            <a:noFill/>
            <a:prstDash val="solid"/>
          </a:ln>
        </p:spPr>
        <p:txBody>
          <a:bodyPr lIns="0" tIns="0" rIns="0" bIns="0" anchor="t">
            <a:normAutofit/>
          </a:bodyPr>
          <a:lstStyle>
            <a:defPPr algn="l">
              <a:defRPr sz="1500" b="0">
                <a:solidFill>
                  <a:srgbClr val="62667B"/>
                </a:solidFill>
                <a:latin typeface="Segoe UI"/>
                <a:ea typeface="Segoe UI"/>
                <a:cs typeface="Segoe UI"/>
              </a:defRPr>
            </a:defPPr>
          </a:lstStyle>
          <a:p>
            <a:pPr algn="l">
              <a:defRPr sz="1500" b="0">
                <a:solidFill>
                  <a:srgbClr val="62667B"/>
                </a:solidFill>
                <a:latin typeface="Segoe UI"/>
                <a:ea typeface="Segoe UI"/>
                <a:cs typeface="Segoe UI"/>
              </a:defRPr>
            </a:pPr>
            <a:r>
              <a:rPr sz="1500" b="0">
                <a:solidFill>
                  <a:srgbClr val="62667B"/>
                </a:solidFill>
                <a:latin typeface="Segoe UI"/>
                <a:ea typeface="Segoe UI"/>
                <a:cs typeface="Segoe UI"/>
              </a:rPr>
              <a:t>Read active announcements published by the warden.</a:t>
            </a:r>
          </a:p>
        </p:txBody>
      </p:sp>
    </p:spTree>
    <p:extLst>
      <p:ext uri="{BB962C8B-B14F-4D97-AF65-F5344CB8AC3E}">
        <p14:creationId xmlns:p14="http://schemas.microsoft.com/office/powerpoint/2010/main" val="955199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602EB1B-D753-496F-8DED-69D235CC25C6}"/>
              </a:ext>
            </a:extLst>
          </p:cNvPr>
          <p:cNvSpPr>
            <a:spLocks noGrp="1"/>
          </p:cNvSpPr>
          <p:nvPr/>
        </p:nvSpPr>
        <p:spPr>
          <a:xfrm>
            <a:off x="704850" y="400050"/>
            <a:ext cx="5715000" cy="209550"/>
          </a:xfrm>
          <a:prstGeom prst="rect">
            <a:avLst/>
          </a:prstGeom>
          <a:noFill/>
          <a:ln w="0">
            <a:noFill/>
            <a:prstDash val="solid"/>
          </a:ln>
        </p:spPr>
        <p:txBody>
          <a:bodyPr lIns="0" tIns="0" rIns="0" bIns="0" anchor="t">
            <a:normAutofit/>
          </a:bodyPr>
          <a:lstStyle>
            <a:defPPr algn="l">
              <a:defRPr sz="1050" b="1">
                <a:solidFill>
                  <a:srgbClr val="7156E8"/>
                </a:solidFill>
                <a:latin typeface="Segoe UI"/>
                <a:ea typeface="Segoe UI"/>
                <a:cs typeface="Segoe UI"/>
              </a:defRPr>
            </a:defPPr>
          </a:lstStyle>
          <a:p>
            <a:pPr algn="l">
              <a:defRPr sz="1050" b="1">
                <a:solidFill>
                  <a:srgbClr val="7156E8"/>
                </a:solidFill>
                <a:latin typeface="Segoe UI"/>
                <a:ea typeface="Segoe UI"/>
                <a:cs typeface="Segoe UI"/>
              </a:defRPr>
            </a:pPr>
            <a:r>
              <a:rPr sz="1050" b="1">
                <a:solidFill>
                  <a:srgbClr val="7156E8"/>
                </a:solidFill>
                <a:latin typeface="Segoe UI"/>
                <a:ea typeface="Segoe UI"/>
                <a:cs typeface="Segoe UI"/>
              </a:rPr>
              <a:t>ROLE DASHBOARDS</a:t>
            </a:r>
          </a:p>
        </p:txBody>
      </p:sp>
      <p:sp>
        <p:nvSpPr>
          <p:cNvPr id="2" name="Rectangle 1">
            <a:extLst>
              <a:ext uri="{FF2B5EF4-FFF2-40B4-BE49-F238E27FC236}">
                <a16:creationId xmlns:a16="http://schemas.microsoft.com/office/drawing/2014/main" id="{4229B15F-F4AB-4D37-B0D3-04F7CA94682C}"/>
              </a:ext>
            </a:extLst>
          </p:cNvPr>
          <p:cNvSpPr>
            <a:spLocks noGrp="1"/>
          </p:cNvSpPr>
          <p:nvPr/>
        </p:nvSpPr>
        <p:spPr>
          <a:xfrm>
            <a:off x="704850" y="742950"/>
            <a:ext cx="10715625" cy="723900"/>
          </a:xfrm>
          <a:prstGeom prst="rect">
            <a:avLst/>
          </a:prstGeom>
          <a:noFill/>
          <a:ln w="0">
            <a:noFill/>
            <a:prstDash val="solid"/>
          </a:ln>
        </p:spPr>
        <p:txBody>
          <a:bodyPr lIns="0" tIns="0" rIns="0" bIns="0" anchor="t">
            <a:normAutofit/>
          </a:bodyPr>
          <a:lstStyle>
            <a:defPPr algn="l">
              <a:defRPr sz="3450" b="1">
                <a:solidFill>
                  <a:srgbClr val="22233D"/>
                </a:solidFill>
                <a:latin typeface="Segoe UI"/>
                <a:ea typeface="Segoe UI"/>
                <a:cs typeface="Segoe UI"/>
              </a:defRPr>
            </a:defPPr>
          </a:lstStyle>
          <a:p>
            <a:pPr algn="l">
              <a:defRPr sz="3450" b="1">
                <a:solidFill>
                  <a:srgbClr val="22233D"/>
                </a:solidFill>
                <a:latin typeface="Segoe UI"/>
                <a:ea typeface="Segoe UI"/>
                <a:cs typeface="Segoe UI"/>
              </a:defRPr>
            </a:pPr>
            <a:r>
              <a:rPr sz="3450" b="1">
                <a:solidFill>
                  <a:srgbClr val="22233D"/>
                </a:solidFill>
                <a:latin typeface="Segoe UI"/>
                <a:ea typeface="Segoe UI"/>
                <a:cs typeface="Segoe UI"/>
              </a:rPr>
              <a:t>Each role has a defined job in the workflow</a:t>
            </a:r>
          </a:p>
        </p:txBody>
      </p:sp>
      <p:sp>
        <p:nvSpPr>
          <p:cNvPr id="3" name="Rectangle 2">
            <a:extLst>
              <a:ext uri="{FF2B5EF4-FFF2-40B4-BE49-F238E27FC236}">
                <a16:creationId xmlns:a16="http://schemas.microsoft.com/office/drawing/2014/main" id="{0729C888-A15C-4C32-B4C0-5281C7014069}"/>
              </a:ext>
            </a:extLst>
          </p:cNvPr>
          <p:cNvSpPr>
            <a:spLocks noGrp="1"/>
          </p:cNvSpPr>
          <p:nvPr/>
        </p:nvSpPr>
        <p:spPr>
          <a:xfrm>
            <a:off x="704850" y="6400800"/>
            <a:ext cx="10782300" cy="9525"/>
          </a:xfrm>
          <a:prstGeom prst="rect">
            <a:avLst/>
          </a:prstGeom>
          <a:solidFill>
            <a:srgbClr val="E4E5EF"/>
          </a:solidFill>
          <a:ln w="0">
            <a:noFill/>
            <a:prstDash val="solid"/>
          </a:ln>
        </p:spPr>
      </p:sp>
      <p:sp>
        <p:nvSpPr>
          <p:cNvPr id="4" name="Rectangle 3">
            <a:extLst>
              <a:ext uri="{FF2B5EF4-FFF2-40B4-BE49-F238E27FC236}">
                <a16:creationId xmlns:a16="http://schemas.microsoft.com/office/drawing/2014/main" id="{E1B643B1-E741-4716-8899-032355E77C9C}"/>
              </a:ext>
            </a:extLst>
          </p:cNvPr>
          <p:cNvSpPr>
            <a:spLocks noGrp="1"/>
          </p:cNvSpPr>
          <p:nvPr/>
        </p:nvSpPr>
        <p:spPr>
          <a:xfrm>
            <a:off x="704850" y="6505575"/>
            <a:ext cx="6667500" cy="190500"/>
          </a:xfrm>
          <a:prstGeom prst="rect">
            <a:avLst/>
          </a:prstGeom>
          <a:noFill/>
          <a:ln w="0">
            <a:noFill/>
            <a:prstDash val="solid"/>
          </a:ln>
        </p:spPr>
        <p:txBody>
          <a:bodyPr lIns="0" tIns="0" rIns="0" bIns="0" anchor="t">
            <a:normAutofit/>
          </a:bodyPr>
          <a:lstStyle>
            <a:defPPr algn="l">
              <a:defRPr sz="975" b="1">
                <a:solidFill>
                  <a:srgbClr val="777B90"/>
                </a:solidFill>
                <a:latin typeface="Segoe UI"/>
                <a:ea typeface="Segoe UI"/>
                <a:cs typeface="Segoe UI"/>
              </a:defRPr>
            </a:defPPr>
          </a:lstStyle>
          <a:p>
            <a:pPr algn="l">
              <a:defRPr sz="975" b="1">
                <a:solidFill>
                  <a:srgbClr val="777B90"/>
                </a:solidFill>
                <a:latin typeface="Segoe UI"/>
                <a:ea typeface="Segoe UI"/>
                <a:cs typeface="Segoe UI"/>
              </a:defRPr>
            </a:pPr>
            <a:r>
              <a:rPr sz="975" b="1">
                <a:solidFill>
                  <a:srgbClr val="777B90"/>
                </a:solidFill>
                <a:latin typeface="Segoe UI"/>
                <a:ea typeface="Segoe UI"/>
                <a:cs typeface="Segoe UI"/>
              </a:rPr>
              <a:t>HOSTELHUB  /  PROJECT PRESENTATION</a:t>
            </a:r>
          </a:p>
        </p:txBody>
      </p:sp>
      <p:sp>
        <p:nvSpPr>
          <p:cNvPr id="5" name="Rectangle 4">
            <a:extLst>
              <a:ext uri="{FF2B5EF4-FFF2-40B4-BE49-F238E27FC236}">
                <a16:creationId xmlns:a16="http://schemas.microsoft.com/office/drawing/2014/main" id="{12F0B7DE-C886-4B4D-92E8-081FE24B318F}"/>
              </a:ext>
            </a:extLst>
          </p:cNvPr>
          <p:cNvSpPr>
            <a:spLocks noGrp="1"/>
          </p:cNvSpPr>
          <p:nvPr/>
        </p:nvSpPr>
        <p:spPr>
          <a:xfrm>
            <a:off x="11049000" y="6486525"/>
            <a:ext cx="438150" cy="209550"/>
          </a:xfrm>
          <a:prstGeom prst="rect">
            <a:avLst/>
          </a:prstGeom>
          <a:noFill/>
          <a:ln w="0">
            <a:noFill/>
            <a:prstDash val="solid"/>
          </a:ln>
        </p:spPr>
        <p:txBody>
          <a:bodyPr lIns="0" tIns="0" rIns="0" bIns="0" anchor="t">
            <a:normAutofit/>
          </a:bodyPr>
          <a:lstStyle>
            <a:defPPr algn="r">
              <a:defRPr sz="1050" b="1">
                <a:solidFill>
                  <a:srgbClr val="7156E8"/>
                </a:solidFill>
                <a:latin typeface="Segoe UI"/>
                <a:ea typeface="Segoe UI"/>
                <a:cs typeface="Segoe UI"/>
              </a:defRPr>
            </a:defPPr>
          </a:lstStyle>
          <a:p>
            <a:pPr algn="r">
              <a:defRPr sz="1050" b="1">
                <a:solidFill>
                  <a:srgbClr val="7156E8"/>
                </a:solidFill>
                <a:latin typeface="Segoe UI"/>
                <a:ea typeface="Segoe UI"/>
                <a:cs typeface="Segoe UI"/>
              </a:defRPr>
            </a:pPr>
            <a:r>
              <a:rPr sz="1050" b="1">
                <a:solidFill>
                  <a:srgbClr val="7156E8"/>
                </a:solidFill>
                <a:latin typeface="Segoe UI"/>
                <a:ea typeface="Segoe UI"/>
                <a:cs typeface="Segoe UI"/>
              </a:rPr>
              <a:t>11</a:t>
            </a:r>
          </a:p>
        </p:txBody>
      </p:sp>
      <p:sp>
        <p:nvSpPr>
          <p:cNvPr id="6" name="Rectangle 5">
            <a:extLst>
              <a:ext uri="{FF2B5EF4-FFF2-40B4-BE49-F238E27FC236}">
                <a16:creationId xmlns:a16="http://schemas.microsoft.com/office/drawing/2014/main" id="{F0174319-7FB2-4FAE-B371-D7D7A34BF0E8}"/>
              </a:ext>
            </a:extLst>
          </p:cNvPr>
          <p:cNvSpPr>
            <a:spLocks noGrp="1"/>
          </p:cNvSpPr>
          <p:nvPr/>
        </p:nvSpPr>
        <p:spPr>
          <a:xfrm>
            <a:off x="781050" y="1790700"/>
            <a:ext cx="4857750" cy="285750"/>
          </a:xfrm>
          <a:prstGeom prst="rect">
            <a:avLst/>
          </a:prstGeom>
          <a:noFill/>
          <a:ln w="0">
            <a:noFill/>
            <a:prstDash val="solid"/>
          </a:ln>
        </p:spPr>
        <p:txBody>
          <a:bodyPr lIns="0" tIns="0" rIns="0" bIns="0" anchor="t">
            <a:normAutofit/>
          </a:bodyPr>
          <a:lstStyle>
            <a:defPPr algn="l">
              <a:defRPr sz="1125" b="1">
                <a:solidFill>
                  <a:srgbClr val="7156E8"/>
                </a:solidFill>
                <a:latin typeface="Segoe UI"/>
                <a:ea typeface="Segoe UI"/>
                <a:cs typeface="Segoe UI"/>
              </a:defRPr>
            </a:defPPr>
          </a:lstStyle>
          <a:p>
            <a:pPr algn="l">
              <a:defRPr sz="1125" b="1">
                <a:solidFill>
                  <a:srgbClr val="7156E8"/>
                </a:solidFill>
                <a:latin typeface="Segoe UI"/>
                <a:ea typeface="Segoe UI"/>
                <a:cs typeface="Segoe UI"/>
              </a:defRPr>
            </a:pPr>
            <a:r>
              <a:rPr sz="1125" b="1">
                <a:solidFill>
                  <a:srgbClr val="7156E8"/>
                </a:solidFill>
                <a:latin typeface="Segoe UI"/>
                <a:ea typeface="Segoe UI"/>
                <a:cs typeface="Segoe UI"/>
              </a:rPr>
              <a:t>STUDENT</a:t>
            </a:r>
          </a:p>
        </p:txBody>
      </p:sp>
      <p:sp>
        <p:nvSpPr>
          <p:cNvPr id="7" name="Rectangle 6">
            <a:extLst>
              <a:ext uri="{FF2B5EF4-FFF2-40B4-BE49-F238E27FC236}">
                <a16:creationId xmlns:a16="http://schemas.microsoft.com/office/drawing/2014/main" id="{C1387F21-79FF-4D8C-9010-C6DC191F1D97}"/>
              </a:ext>
            </a:extLst>
          </p:cNvPr>
          <p:cNvSpPr>
            <a:spLocks noGrp="1"/>
          </p:cNvSpPr>
          <p:nvPr/>
        </p:nvSpPr>
        <p:spPr>
          <a:xfrm>
            <a:off x="781050" y="2238375"/>
            <a:ext cx="4762500" cy="314325"/>
          </a:xfrm>
          <a:prstGeom prst="rect">
            <a:avLst/>
          </a:prstGeom>
          <a:noFill/>
          <a:ln w="0">
            <a:noFill/>
            <a:prstDash val="solid"/>
          </a:ln>
        </p:spPr>
        <p:txBody>
          <a:bodyPr lIns="0" tIns="0" rIns="0" bIns="0" anchor="t">
            <a:normAutofit/>
          </a:bodyPr>
          <a:lstStyle>
            <a:defPPr algn="l">
              <a:defRPr sz="1650" b="1">
                <a:solidFill>
                  <a:srgbClr val="22233D"/>
                </a:solidFill>
                <a:latin typeface="Segoe UI"/>
                <a:ea typeface="Segoe UI"/>
                <a:cs typeface="Segoe UI"/>
              </a:defRPr>
            </a:defPPr>
          </a:lstStyle>
          <a:p>
            <a:pPr algn="l">
              <a:defRPr sz="1650" b="1">
                <a:solidFill>
                  <a:srgbClr val="22233D"/>
                </a:solidFill>
                <a:latin typeface="Segoe UI"/>
                <a:ea typeface="Segoe UI"/>
                <a:cs typeface="Segoe UI"/>
              </a:defRPr>
            </a:pPr>
            <a:r>
              <a:rPr sz="1650" b="1">
                <a:solidFill>
                  <a:srgbClr val="22233D"/>
                </a:solidFill>
                <a:latin typeface="Segoe UI"/>
                <a:ea typeface="Segoe UI"/>
                <a:cs typeface="Segoe UI"/>
              </a:rPr>
              <a:t>Browse, save and order products</a:t>
            </a:r>
          </a:p>
        </p:txBody>
      </p:sp>
      <p:sp>
        <p:nvSpPr>
          <p:cNvPr id="8" name="Rectangle 7">
            <a:extLst>
              <a:ext uri="{FF2B5EF4-FFF2-40B4-BE49-F238E27FC236}">
                <a16:creationId xmlns:a16="http://schemas.microsoft.com/office/drawing/2014/main" id="{25DC122B-F8AA-46FE-B65F-BA026F4705F8}"/>
              </a:ext>
            </a:extLst>
          </p:cNvPr>
          <p:cNvSpPr>
            <a:spLocks noGrp="1"/>
          </p:cNvSpPr>
          <p:nvPr/>
        </p:nvSpPr>
        <p:spPr>
          <a:xfrm>
            <a:off x="781050" y="2657475"/>
            <a:ext cx="4762500" cy="323850"/>
          </a:xfrm>
          <a:prstGeom prst="rect">
            <a:avLst/>
          </a:prstGeom>
          <a:noFill/>
          <a:ln w="0">
            <a:noFill/>
            <a:prstDash val="solid"/>
          </a:ln>
        </p:spPr>
        <p:txBody>
          <a:bodyPr lIns="0" tIns="0" rIns="0" bIns="0" anchor="t">
            <a:normAutofit/>
          </a:bodyPr>
          <a:lstStyle>
            <a:defPPr algn="l">
              <a:defRPr sz="1425" b="0">
                <a:solidFill>
                  <a:srgbClr val="62667B"/>
                </a:solidFill>
                <a:latin typeface="Segoe UI"/>
                <a:ea typeface="Segoe UI"/>
                <a:cs typeface="Segoe UI"/>
              </a:defRPr>
            </a:defPPr>
          </a:lstStyle>
          <a:p>
            <a:pPr algn="l">
              <a:defRPr sz="1425" b="0">
                <a:solidFill>
                  <a:srgbClr val="62667B"/>
                </a:solidFill>
                <a:latin typeface="Segoe UI"/>
                <a:ea typeface="Segoe UI"/>
                <a:cs typeface="Segoe UI"/>
              </a:defRPr>
            </a:pPr>
            <a:r>
              <a:rPr sz="1425" b="0">
                <a:solidFill>
                  <a:srgbClr val="62667B"/>
                </a:solidFill>
                <a:latin typeface="Segoe UI"/>
                <a:ea typeface="Segoe UI"/>
                <a:cs typeface="Segoe UI"/>
              </a:rPr>
              <a:t>Book services and track requests</a:t>
            </a:r>
          </a:p>
        </p:txBody>
      </p:sp>
      <p:sp>
        <p:nvSpPr>
          <p:cNvPr id="9" name="Rectangle 8">
            <a:extLst>
              <a:ext uri="{FF2B5EF4-FFF2-40B4-BE49-F238E27FC236}">
                <a16:creationId xmlns:a16="http://schemas.microsoft.com/office/drawing/2014/main" id="{1B19C3CE-E39A-48DF-ACAB-AA92B190678D}"/>
              </a:ext>
            </a:extLst>
          </p:cNvPr>
          <p:cNvSpPr>
            <a:spLocks noGrp="1"/>
          </p:cNvSpPr>
          <p:nvPr/>
        </p:nvSpPr>
        <p:spPr>
          <a:xfrm>
            <a:off x="781050" y="3086100"/>
            <a:ext cx="4762500" cy="400050"/>
          </a:xfrm>
          <a:prstGeom prst="rect">
            <a:avLst/>
          </a:prstGeom>
          <a:noFill/>
          <a:ln w="0">
            <a:noFill/>
            <a:prstDash val="solid"/>
          </a:ln>
        </p:spPr>
        <p:txBody>
          <a:bodyPr lIns="0" tIns="0" rIns="0" bIns="0" anchor="t">
            <a:normAutofit/>
          </a:bodyPr>
          <a:lstStyle>
            <a:defPPr algn="l">
              <a:defRPr sz="1425" b="0">
                <a:solidFill>
                  <a:srgbClr val="62667B"/>
                </a:solidFill>
                <a:latin typeface="Segoe UI"/>
                <a:ea typeface="Segoe UI"/>
                <a:cs typeface="Segoe UI"/>
              </a:defRPr>
            </a:defPPr>
          </a:lstStyle>
          <a:p>
            <a:pPr algn="l">
              <a:defRPr sz="1425" b="0">
                <a:solidFill>
                  <a:srgbClr val="62667B"/>
                </a:solidFill>
                <a:latin typeface="Segoe UI"/>
                <a:ea typeface="Segoe UI"/>
                <a:cs typeface="Segoe UI"/>
              </a:defRPr>
            </a:pPr>
            <a:r>
              <a:rPr sz="1425" b="0">
                <a:solidFill>
                  <a:srgbClr val="62667B"/>
                </a:solidFill>
                <a:latin typeface="Segoe UI"/>
                <a:ea typeface="Segoe UI"/>
                <a:cs typeface="Segoe UI"/>
              </a:rPr>
              <a:t>View room, mess and notices</a:t>
            </a:r>
          </a:p>
        </p:txBody>
      </p:sp>
      <p:sp>
        <p:nvSpPr>
          <p:cNvPr id="10" name="Rectangle 9">
            <a:extLst>
              <a:ext uri="{FF2B5EF4-FFF2-40B4-BE49-F238E27FC236}">
                <a16:creationId xmlns:a16="http://schemas.microsoft.com/office/drawing/2014/main" id="{82E92F4D-DEF2-4217-BA02-36CBFF03D049}"/>
              </a:ext>
            </a:extLst>
          </p:cNvPr>
          <p:cNvSpPr>
            <a:spLocks noGrp="1"/>
          </p:cNvSpPr>
          <p:nvPr/>
        </p:nvSpPr>
        <p:spPr>
          <a:xfrm>
            <a:off x="781050" y="3609975"/>
            <a:ext cx="4762500" cy="9525"/>
          </a:xfrm>
          <a:prstGeom prst="rect">
            <a:avLst/>
          </a:prstGeom>
          <a:solidFill>
            <a:srgbClr val="E4E5EF"/>
          </a:solidFill>
          <a:ln w="0">
            <a:noFill/>
            <a:prstDash val="solid"/>
          </a:ln>
        </p:spPr>
      </p:sp>
      <p:sp>
        <p:nvSpPr>
          <p:cNvPr id="11" name="Rectangle 10">
            <a:extLst>
              <a:ext uri="{FF2B5EF4-FFF2-40B4-BE49-F238E27FC236}">
                <a16:creationId xmlns:a16="http://schemas.microsoft.com/office/drawing/2014/main" id="{38D3B654-1F8E-4BB1-937F-6529C7849675}"/>
              </a:ext>
            </a:extLst>
          </p:cNvPr>
          <p:cNvSpPr>
            <a:spLocks noGrp="1"/>
          </p:cNvSpPr>
          <p:nvPr/>
        </p:nvSpPr>
        <p:spPr>
          <a:xfrm>
            <a:off x="6162675" y="1790700"/>
            <a:ext cx="4857750" cy="285750"/>
          </a:xfrm>
          <a:prstGeom prst="rect">
            <a:avLst/>
          </a:prstGeom>
          <a:noFill/>
          <a:ln w="0">
            <a:noFill/>
            <a:prstDash val="solid"/>
          </a:ln>
        </p:spPr>
        <p:txBody>
          <a:bodyPr lIns="0" tIns="0" rIns="0" bIns="0" anchor="t">
            <a:normAutofit/>
          </a:bodyPr>
          <a:lstStyle>
            <a:defPPr algn="l">
              <a:defRPr sz="1125" b="1">
                <a:solidFill>
                  <a:srgbClr val="27B99A"/>
                </a:solidFill>
                <a:latin typeface="Segoe UI"/>
                <a:ea typeface="Segoe UI"/>
                <a:cs typeface="Segoe UI"/>
              </a:defRPr>
            </a:defPPr>
          </a:lstStyle>
          <a:p>
            <a:pPr algn="l">
              <a:defRPr sz="1125" b="1">
                <a:solidFill>
                  <a:srgbClr val="27B99A"/>
                </a:solidFill>
                <a:latin typeface="Segoe UI"/>
                <a:ea typeface="Segoe UI"/>
                <a:cs typeface="Segoe UI"/>
              </a:defRPr>
            </a:pPr>
            <a:r>
              <a:rPr sz="1125" b="1">
                <a:solidFill>
                  <a:srgbClr val="27B99A"/>
                </a:solidFill>
                <a:latin typeface="Segoe UI"/>
                <a:ea typeface="Segoe UI"/>
                <a:cs typeface="Segoe UI"/>
              </a:rPr>
              <a:t>WARDEN</a:t>
            </a:r>
          </a:p>
        </p:txBody>
      </p:sp>
      <p:sp>
        <p:nvSpPr>
          <p:cNvPr id="12" name="Rectangle 11">
            <a:extLst>
              <a:ext uri="{FF2B5EF4-FFF2-40B4-BE49-F238E27FC236}">
                <a16:creationId xmlns:a16="http://schemas.microsoft.com/office/drawing/2014/main" id="{0A26DCD2-3865-4B0F-9DDA-E561935DB57C}"/>
              </a:ext>
            </a:extLst>
          </p:cNvPr>
          <p:cNvSpPr>
            <a:spLocks noGrp="1"/>
          </p:cNvSpPr>
          <p:nvPr/>
        </p:nvSpPr>
        <p:spPr>
          <a:xfrm>
            <a:off x="6162675" y="2238375"/>
            <a:ext cx="4762500" cy="314325"/>
          </a:xfrm>
          <a:prstGeom prst="rect">
            <a:avLst/>
          </a:prstGeom>
          <a:noFill/>
          <a:ln w="0">
            <a:noFill/>
            <a:prstDash val="solid"/>
          </a:ln>
        </p:spPr>
        <p:txBody>
          <a:bodyPr lIns="0" tIns="0" rIns="0" bIns="0" anchor="t">
            <a:normAutofit/>
          </a:bodyPr>
          <a:lstStyle>
            <a:defPPr algn="l">
              <a:defRPr sz="1650" b="1">
                <a:solidFill>
                  <a:srgbClr val="22233D"/>
                </a:solidFill>
                <a:latin typeface="Segoe UI"/>
                <a:ea typeface="Segoe UI"/>
                <a:cs typeface="Segoe UI"/>
              </a:defRPr>
            </a:defPPr>
          </a:lstStyle>
          <a:p>
            <a:pPr algn="l">
              <a:defRPr sz="1650" b="1">
                <a:solidFill>
                  <a:srgbClr val="22233D"/>
                </a:solidFill>
                <a:latin typeface="Segoe UI"/>
                <a:ea typeface="Segoe UI"/>
                <a:cs typeface="Segoe UI"/>
              </a:defRPr>
            </a:pPr>
            <a:r>
              <a:rPr sz="1650" b="1">
                <a:solidFill>
                  <a:srgbClr val="22233D"/>
                </a:solidFill>
                <a:latin typeface="Segoe UI"/>
                <a:ea typeface="Segoe UI"/>
                <a:cs typeface="Segoe UI"/>
              </a:rPr>
              <a:t>Assign and release hostel rooms</a:t>
            </a:r>
          </a:p>
        </p:txBody>
      </p:sp>
      <p:sp>
        <p:nvSpPr>
          <p:cNvPr id="13" name="Rectangle 12">
            <a:extLst>
              <a:ext uri="{FF2B5EF4-FFF2-40B4-BE49-F238E27FC236}">
                <a16:creationId xmlns:a16="http://schemas.microsoft.com/office/drawing/2014/main" id="{86233481-9989-4A14-930A-6C79667D257A}"/>
              </a:ext>
            </a:extLst>
          </p:cNvPr>
          <p:cNvSpPr>
            <a:spLocks noGrp="1"/>
          </p:cNvSpPr>
          <p:nvPr/>
        </p:nvSpPr>
        <p:spPr>
          <a:xfrm>
            <a:off x="6162675" y="2657475"/>
            <a:ext cx="4762500" cy="323850"/>
          </a:xfrm>
          <a:prstGeom prst="rect">
            <a:avLst/>
          </a:prstGeom>
          <a:noFill/>
          <a:ln w="0">
            <a:noFill/>
            <a:prstDash val="solid"/>
          </a:ln>
        </p:spPr>
        <p:txBody>
          <a:bodyPr lIns="0" tIns="0" rIns="0" bIns="0" anchor="t">
            <a:normAutofit/>
          </a:bodyPr>
          <a:lstStyle>
            <a:defPPr algn="l">
              <a:defRPr sz="1425" b="0">
                <a:solidFill>
                  <a:srgbClr val="62667B"/>
                </a:solidFill>
                <a:latin typeface="Segoe UI"/>
                <a:ea typeface="Segoe UI"/>
                <a:cs typeface="Segoe UI"/>
              </a:defRPr>
            </a:defPPr>
          </a:lstStyle>
          <a:p>
            <a:pPr algn="l">
              <a:defRPr sz="1425" b="0">
                <a:solidFill>
                  <a:srgbClr val="62667B"/>
                </a:solidFill>
                <a:latin typeface="Segoe UI"/>
                <a:ea typeface="Segoe UI"/>
                <a:cs typeface="Segoe UI"/>
              </a:defRPr>
            </a:pPr>
            <a:r>
              <a:rPr sz="1425" b="0">
                <a:solidFill>
                  <a:srgbClr val="62667B"/>
                </a:solidFill>
                <a:latin typeface="Segoe UI"/>
                <a:ea typeface="Segoe UI"/>
                <a:cs typeface="Segoe UI"/>
              </a:rPr>
              <a:t>Update weekly mess schedule</a:t>
            </a:r>
          </a:p>
        </p:txBody>
      </p:sp>
      <p:sp>
        <p:nvSpPr>
          <p:cNvPr id="14" name="Rectangle 13">
            <a:extLst>
              <a:ext uri="{FF2B5EF4-FFF2-40B4-BE49-F238E27FC236}">
                <a16:creationId xmlns:a16="http://schemas.microsoft.com/office/drawing/2014/main" id="{0DF14440-58E9-4447-9CDE-CF8A52D72406}"/>
              </a:ext>
            </a:extLst>
          </p:cNvPr>
          <p:cNvSpPr>
            <a:spLocks noGrp="1"/>
          </p:cNvSpPr>
          <p:nvPr/>
        </p:nvSpPr>
        <p:spPr>
          <a:xfrm>
            <a:off x="6162675" y="3086100"/>
            <a:ext cx="4762500" cy="400050"/>
          </a:xfrm>
          <a:prstGeom prst="rect">
            <a:avLst/>
          </a:prstGeom>
          <a:noFill/>
          <a:ln w="0">
            <a:noFill/>
            <a:prstDash val="solid"/>
          </a:ln>
        </p:spPr>
        <p:txBody>
          <a:bodyPr lIns="0" tIns="0" rIns="0" bIns="0" anchor="t">
            <a:normAutofit/>
          </a:bodyPr>
          <a:lstStyle>
            <a:defPPr algn="l">
              <a:defRPr sz="1425" b="0">
                <a:solidFill>
                  <a:srgbClr val="62667B"/>
                </a:solidFill>
                <a:latin typeface="Segoe UI"/>
                <a:ea typeface="Segoe UI"/>
                <a:cs typeface="Segoe UI"/>
              </a:defRPr>
            </a:defPPr>
          </a:lstStyle>
          <a:p>
            <a:pPr algn="l">
              <a:defRPr sz="1425" b="0">
                <a:solidFill>
                  <a:srgbClr val="62667B"/>
                </a:solidFill>
                <a:latin typeface="Segoe UI"/>
                <a:ea typeface="Segoe UI"/>
                <a:cs typeface="Segoe UI"/>
              </a:defRPr>
            </a:pPr>
            <a:r>
              <a:rPr sz="1425" b="0">
                <a:solidFill>
                  <a:srgbClr val="62667B"/>
                </a:solidFill>
                <a:latin typeface="Segoe UI"/>
                <a:ea typeface="Segoe UI"/>
                <a:cs typeface="Segoe UI"/>
              </a:rPr>
              <a:t>Manage hostel requests and notices</a:t>
            </a:r>
          </a:p>
        </p:txBody>
      </p:sp>
      <p:sp>
        <p:nvSpPr>
          <p:cNvPr id="15" name="Rectangle 14">
            <a:extLst>
              <a:ext uri="{FF2B5EF4-FFF2-40B4-BE49-F238E27FC236}">
                <a16:creationId xmlns:a16="http://schemas.microsoft.com/office/drawing/2014/main" id="{A4579978-6858-41C1-82DF-DE63B5ED1BCD}"/>
              </a:ext>
            </a:extLst>
          </p:cNvPr>
          <p:cNvSpPr>
            <a:spLocks noGrp="1"/>
          </p:cNvSpPr>
          <p:nvPr/>
        </p:nvSpPr>
        <p:spPr>
          <a:xfrm>
            <a:off x="781050" y="3895725"/>
            <a:ext cx="4857750" cy="285750"/>
          </a:xfrm>
          <a:prstGeom prst="rect">
            <a:avLst/>
          </a:prstGeom>
          <a:noFill/>
          <a:ln w="0">
            <a:noFill/>
            <a:prstDash val="solid"/>
          </a:ln>
        </p:spPr>
        <p:txBody>
          <a:bodyPr lIns="0" tIns="0" rIns="0" bIns="0" anchor="t">
            <a:normAutofit/>
          </a:bodyPr>
          <a:lstStyle>
            <a:defPPr algn="l">
              <a:defRPr sz="1125" b="1">
                <a:solidFill>
                  <a:srgbClr val="E9A83A"/>
                </a:solidFill>
                <a:latin typeface="Segoe UI"/>
                <a:ea typeface="Segoe UI"/>
                <a:cs typeface="Segoe UI"/>
              </a:defRPr>
            </a:defPPr>
          </a:lstStyle>
          <a:p>
            <a:pPr algn="l">
              <a:defRPr sz="1125" b="1">
                <a:solidFill>
                  <a:srgbClr val="E9A83A"/>
                </a:solidFill>
                <a:latin typeface="Segoe UI"/>
                <a:ea typeface="Segoe UI"/>
                <a:cs typeface="Segoe UI"/>
              </a:defRPr>
            </a:pPr>
            <a:r>
              <a:rPr sz="1125" b="1">
                <a:solidFill>
                  <a:srgbClr val="E9A83A"/>
                </a:solidFill>
                <a:latin typeface="Segoe UI"/>
                <a:ea typeface="Segoe UI"/>
                <a:cs typeface="Segoe UI"/>
              </a:rPr>
              <a:t>ADMIN</a:t>
            </a:r>
          </a:p>
        </p:txBody>
      </p:sp>
      <p:sp>
        <p:nvSpPr>
          <p:cNvPr id="16" name="Rectangle 15">
            <a:extLst>
              <a:ext uri="{FF2B5EF4-FFF2-40B4-BE49-F238E27FC236}">
                <a16:creationId xmlns:a16="http://schemas.microsoft.com/office/drawing/2014/main" id="{690D336E-9AE2-4340-8A32-0CCBE8DCA09F}"/>
              </a:ext>
            </a:extLst>
          </p:cNvPr>
          <p:cNvSpPr>
            <a:spLocks noGrp="1"/>
          </p:cNvSpPr>
          <p:nvPr/>
        </p:nvSpPr>
        <p:spPr>
          <a:xfrm>
            <a:off x="781050" y="4343400"/>
            <a:ext cx="4762500" cy="314325"/>
          </a:xfrm>
          <a:prstGeom prst="rect">
            <a:avLst/>
          </a:prstGeom>
          <a:noFill/>
          <a:ln w="0">
            <a:noFill/>
            <a:prstDash val="solid"/>
          </a:ln>
        </p:spPr>
        <p:txBody>
          <a:bodyPr lIns="0" tIns="0" rIns="0" bIns="0" anchor="t">
            <a:normAutofit/>
          </a:bodyPr>
          <a:lstStyle>
            <a:defPPr algn="l">
              <a:defRPr sz="1650" b="1">
                <a:solidFill>
                  <a:srgbClr val="22233D"/>
                </a:solidFill>
                <a:latin typeface="Segoe UI"/>
                <a:ea typeface="Segoe UI"/>
                <a:cs typeface="Segoe UI"/>
              </a:defRPr>
            </a:defPPr>
          </a:lstStyle>
          <a:p>
            <a:pPr algn="l">
              <a:defRPr sz="1650" b="1">
                <a:solidFill>
                  <a:srgbClr val="22233D"/>
                </a:solidFill>
                <a:latin typeface="Segoe UI"/>
                <a:ea typeface="Segoe UI"/>
                <a:cs typeface="Segoe UI"/>
              </a:defRPr>
            </a:pPr>
            <a:r>
              <a:rPr sz="1650" b="1">
                <a:solidFill>
                  <a:srgbClr val="22233D"/>
                </a:solidFill>
                <a:latin typeface="Segoe UI"/>
                <a:ea typeface="Segoe UI"/>
                <a:cs typeface="Segoe UI"/>
              </a:rPr>
              <a:t>Manage products, shops and accounts</a:t>
            </a:r>
          </a:p>
        </p:txBody>
      </p:sp>
      <p:sp>
        <p:nvSpPr>
          <p:cNvPr id="17" name="Rectangle 16">
            <a:extLst>
              <a:ext uri="{FF2B5EF4-FFF2-40B4-BE49-F238E27FC236}">
                <a16:creationId xmlns:a16="http://schemas.microsoft.com/office/drawing/2014/main" id="{D471A0E4-E6DE-4D01-9131-34B397A9E76C}"/>
              </a:ext>
            </a:extLst>
          </p:cNvPr>
          <p:cNvSpPr>
            <a:spLocks noGrp="1"/>
          </p:cNvSpPr>
          <p:nvPr/>
        </p:nvSpPr>
        <p:spPr>
          <a:xfrm>
            <a:off x="781050" y="4762500"/>
            <a:ext cx="4762500" cy="323850"/>
          </a:xfrm>
          <a:prstGeom prst="rect">
            <a:avLst/>
          </a:prstGeom>
          <a:noFill/>
          <a:ln w="0">
            <a:noFill/>
            <a:prstDash val="solid"/>
          </a:ln>
        </p:spPr>
        <p:txBody>
          <a:bodyPr lIns="0" tIns="0" rIns="0" bIns="0" anchor="t">
            <a:normAutofit/>
          </a:bodyPr>
          <a:lstStyle>
            <a:defPPr algn="l">
              <a:defRPr sz="1425" b="0">
                <a:solidFill>
                  <a:srgbClr val="62667B"/>
                </a:solidFill>
                <a:latin typeface="Segoe UI"/>
                <a:ea typeface="Segoe UI"/>
                <a:cs typeface="Segoe UI"/>
              </a:defRPr>
            </a:defPPr>
          </a:lstStyle>
          <a:p>
            <a:pPr algn="l">
              <a:defRPr sz="1425" b="0">
                <a:solidFill>
                  <a:srgbClr val="62667B"/>
                </a:solidFill>
                <a:latin typeface="Segoe UI"/>
                <a:ea typeface="Segoe UI"/>
                <a:cs typeface="Segoe UI"/>
              </a:defRPr>
            </a:pPr>
            <a:r>
              <a:rPr sz="1425" b="0">
                <a:solidFill>
                  <a:srgbClr val="62667B"/>
                </a:solidFill>
                <a:latin typeface="Segoe UI"/>
                <a:ea typeface="Segoe UI"/>
                <a:cs typeface="Segoe UI"/>
              </a:rPr>
              <a:t>Review orders and payments</a:t>
            </a:r>
          </a:p>
        </p:txBody>
      </p:sp>
      <p:sp>
        <p:nvSpPr>
          <p:cNvPr id="18" name="Rectangle 17">
            <a:extLst>
              <a:ext uri="{FF2B5EF4-FFF2-40B4-BE49-F238E27FC236}">
                <a16:creationId xmlns:a16="http://schemas.microsoft.com/office/drawing/2014/main" id="{D63578B2-6B7C-490A-8B79-0708B2F49A98}"/>
              </a:ext>
            </a:extLst>
          </p:cNvPr>
          <p:cNvSpPr>
            <a:spLocks noGrp="1"/>
          </p:cNvSpPr>
          <p:nvPr/>
        </p:nvSpPr>
        <p:spPr>
          <a:xfrm>
            <a:off x="781050" y="5191125"/>
            <a:ext cx="4762500" cy="400050"/>
          </a:xfrm>
          <a:prstGeom prst="rect">
            <a:avLst/>
          </a:prstGeom>
          <a:noFill/>
          <a:ln w="0">
            <a:noFill/>
            <a:prstDash val="solid"/>
          </a:ln>
        </p:spPr>
        <p:txBody>
          <a:bodyPr lIns="0" tIns="0" rIns="0" bIns="0" anchor="t">
            <a:normAutofit/>
          </a:bodyPr>
          <a:lstStyle>
            <a:defPPr algn="l">
              <a:defRPr sz="1425" b="0">
                <a:solidFill>
                  <a:srgbClr val="62667B"/>
                </a:solidFill>
                <a:latin typeface="Segoe UI"/>
                <a:ea typeface="Segoe UI"/>
                <a:cs typeface="Segoe UI"/>
              </a:defRPr>
            </a:defPPr>
          </a:lstStyle>
          <a:p>
            <a:pPr algn="l">
              <a:defRPr sz="1425" b="0">
                <a:solidFill>
                  <a:srgbClr val="62667B"/>
                </a:solidFill>
                <a:latin typeface="Segoe UI"/>
                <a:ea typeface="Segoe UI"/>
                <a:cs typeface="Segoe UI"/>
              </a:defRPr>
            </a:pPr>
            <a:r>
              <a:rPr sz="1425" b="0">
                <a:solidFill>
                  <a:srgbClr val="62667B"/>
                </a:solidFill>
                <a:latin typeface="Segoe UI"/>
                <a:ea typeface="Segoe UI"/>
                <a:cs typeface="Segoe UI"/>
              </a:rPr>
              <a:t>Manage medical and hostel settings</a:t>
            </a:r>
          </a:p>
        </p:txBody>
      </p:sp>
      <p:sp>
        <p:nvSpPr>
          <p:cNvPr id="19" name="Rectangle 18">
            <a:extLst>
              <a:ext uri="{FF2B5EF4-FFF2-40B4-BE49-F238E27FC236}">
                <a16:creationId xmlns:a16="http://schemas.microsoft.com/office/drawing/2014/main" id="{55766BFA-33BF-46D7-B17A-397A1259B5A7}"/>
              </a:ext>
            </a:extLst>
          </p:cNvPr>
          <p:cNvSpPr>
            <a:spLocks noGrp="1"/>
          </p:cNvSpPr>
          <p:nvPr/>
        </p:nvSpPr>
        <p:spPr>
          <a:xfrm>
            <a:off x="781050" y="5715000"/>
            <a:ext cx="4762500" cy="9525"/>
          </a:xfrm>
          <a:prstGeom prst="rect">
            <a:avLst/>
          </a:prstGeom>
          <a:solidFill>
            <a:srgbClr val="E4E5EF"/>
          </a:solidFill>
          <a:ln w="0">
            <a:noFill/>
            <a:prstDash val="solid"/>
          </a:ln>
        </p:spPr>
      </p:sp>
      <p:sp>
        <p:nvSpPr>
          <p:cNvPr id="20" name="Rectangle 19">
            <a:extLst>
              <a:ext uri="{FF2B5EF4-FFF2-40B4-BE49-F238E27FC236}">
                <a16:creationId xmlns:a16="http://schemas.microsoft.com/office/drawing/2014/main" id="{A376069A-9882-4019-A47D-892B30468400}"/>
              </a:ext>
            </a:extLst>
          </p:cNvPr>
          <p:cNvSpPr>
            <a:spLocks noGrp="1"/>
          </p:cNvSpPr>
          <p:nvPr/>
        </p:nvSpPr>
        <p:spPr>
          <a:xfrm>
            <a:off x="6162675" y="3895725"/>
            <a:ext cx="4857750" cy="285750"/>
          </a:xfrm>
          <a:prstGeom prst="rect">
            <a:avLst/>
          </a:prstGeom>
          <a:noFill/>
          <a:ln w="0">
            <a:noFill/>
            <a:prstDash val="solid"/>
          </a:ln>
        </p:spPr>
        <p:txBody>
          <a:bodyPr lIns="0" tIns="0" rIns="0" bIns="0" anchor="t">
            <a:normAutofit/>
          </a:bodyPr>
          <a:lstStyle>
            <a:defPPr algn="l">
              <a:defRPr sz="1125" b="1">
                <a:solidFill>
                  <a:srgbClr val="E27668"/>
                </a:solidFill>
                <a:latin typeface="Segoe UI"/>
                <a:ea typeface="Segoe UI"/>
                <a:cs typeface="Segoe UI"/>
              </a:defRPr>
            </a:defPPr>
          </a:lstStyle>
          <a:p>
            <a:pPr algn="l">
              <a:defRPr sz="1125" b="1">
                <a:solidFill>
                  <a:srgbClr val="E27668"/>
                </a:solidFill>
                <a:latin typeface="Segoe UI"/>
                <a:ea typeface="Segoe UI"/>
                <a:cs typeface="Segoe UI"/>
              </a:defRPr>
            </a:pPr>
            <a:r>
              <a:rPr sz="1125" b="1">
                <a:solidFill>
                  <a:srgbClr val="E27668"/>
                </a:solidFill>
                <a:latin typeface="Segoe UI"/>
                <a:ea typeface="Segoe UI"/>
                <a:cs typeface="Segoe UI"/>
              </a:rPr>
              <a:t>SHOPKEEPER / PROVIDER</a:t>
            </a:r>
          </a:p>
        </p:txBody>
      </p:sp>
      <p:sp>
        <p:nvSpPr>
          <p:cNvPr id="21" name="Rectangle 20">
            <a:extLst>
              <a:ext uri="{FF2B5EF4-FFF2-40B4-BE49-F238E27FC236}">
                <a16:creationId xmlns:a16="http://schemas.microsoft.com/office/drawing/2014/main" id="{16E7741C-F7D0-4302-B760-D2FC5BBE1D82}"/>
              </a:ext>
            </a:extLst>
          </p:cNvPr>
          <p:cNvSpPr>
            <a:spLocks noGrp="1"/>
          </p:cNvSpPr>
          <p:nvPr/>
        </p:nvSpPr>
        <p:spPr>
          <a:xfrm>
            <a:off x="6162675" y="4343400"/>
            <a:ext cx="4762500" cy="314325"/>
          </a:xfrm>
          <a:prstGeom prst="rect">
            <a:avLst/>
          </a:prstGeom>
          <a:noFill/>
          <a:ln w="0">
            <a:noFill/>
            <a:prstDash val="solid"/>
          </a:ln>
        </p:spPr>
        <p:txBody>
          <a:bodyPr lIns="0" tIns="0" rIns="0" bIns="0" anchor="t">
            <a:normAutofit/>
          </a:bodyPr>
          <a:lstStyle>
            <a:defPPr algn="l">
              <a:defRPr sz="1650" b="1">
                <a:solidFill>
                  <a:srgbClr val="22233D"/>
                </a:solidFill>
                <a:latin typeface="Segoe UI"/>
                <a:ea typeface="Segoe UI"/>
                <a:cs typeface="Segoe UI"/>
              </a:defRPr>
            </a:defPPr>
          </a:lstStyle>
          <a:p>
            <a:pPr algn="l">
              <a:defRPr sz="1650" b="1">
                <a:solidFill>
                  <a:srgbClr val="22233D"/>
                </a:solidFill>
                <a:latin typeface="Segoe UI"/>
                <a:ea typeface="Segoe UI"/>
                <a:cs typeface="Segoe UI"/>
              </a:defRPr>
            </a:pPr>
            <a:r>
              <a:rPr sz="1650" b="1">
                <a:solidFill>
                  <a:srgbClr val="22233D"/>
                </a:solidFill>
                <a:latin typeface="Segoe UI"/>
                <a:ea typeface="Segoe UI"/>
                <a:cs typeface="Segoe UI"/>
              </a:rPr>
              <a:t>View assigned services</a:t>
            </a:r>
          </a:p>
        </p:txBody>
      </p:sp>
      <p:sp>
        <p:nvSpPr>
          <p:cNvPr id="22" name="Rectangle 21">
            <a:extLst>
              <a:ext uri="{FF2B5EF4-FFF2-40B4-BE49-F238E27FC236}">
                <a16:creationId xmlns:a16="http://schemas.microsoft.com/office/drawing/2014/main" id="{1ADE5AEE-AF8F-4517-9441-F3D38807D066}"/>
              </a:ext>
            </a:extLst>
          </p:cNvPr>
          <p:cNvSpPr>
            <a:spLocks noGrp="1"/>
          </p:cNvSpPr>
          <p:nvPr/>
        </p:nvSpPr>
        <p:spPr>
          <a:xfrm>
            <a:off x="6162675" y="4762500"/>
            <a:ext cx="4762500" cy="323850"/>
          </a:xfrm>
          <a:prstGeom prst="rect">
            <a:avLst/>
          </a:prstGeom>
          <a:noFill/>
          <a:ln w="0">
            <a:noFill/>
            <a:prstDash val="solid"/>
          </a:ln>
        </p:spPr>
        <p:txBody>
          <a:bodyPr lIns="0" tIns="0" rIns="0" bIns="0" anchor="t">
            <a:normAutofit/>
          </a:bodyPr>
          <a:lstStyle>
            <a:defPPr algn="l">
              <a:defRPr sz="1425" b="0">
                <a:solidFill>
                  <a:srgbClr val="62667B"/>
                </a:solidFill>
                <a:latin typeface="Segoe UI"/>
                <a:ea typeface="Segoe UI"/>
                <a:cs typeface="Segoe UI"/>
              </a:defRPr>
            </a:defPPr>
          </a:lstStyle>
          <a:p>
            <a:pPr algn="l">
              <a:defRPr sz="1425" b="0">
                <a:solidFill>
                  <a:srgbClr val="62667B"/>
                </a:solidFill>
                <a:latin typeface="Segoe UI"/>
                <a:ea typeface="Segoe UI"/>
                <a:cs typeface="Segoe UI"/>
              </a:defRPr>
            </a:pPr>
            <a:r>
              <a:rPr sz="1425" b="0">
                <a:solidFill>
                  <a:srgbClr val="62667B"/>
                </a:solidFill>
                <a:latin typeface="Segoe UI"/>
                <a:ea typeface="Segoe UI"/>
                <a:cs typeface="Segoe UI"/>
              </a:rPr>
              <a:t>Turn service availability on or off</a:t>
            </a:r>
          </a:p>
        </p:txBody>
      </p:sp>
      <p:sp>
        <p:nvSpPr>
          <p:cNvPr id="23" name="Rectangle 22">
            <a:extLst>
              <a:ext uri="{FF2B5EF4-FFF2-40B4-BE49-F238E27FC236}">
                <a16:creationId xmlns:a16="http://schemas.microsoft.com/office/drawing/2014/main" id="{DAC30D08-FFED-4A74-8AE8-2EB310215CF2}"/>
              </a:ext>
            </a:extLst>
          </p:cNvPr>
          <p:cNvSpPr>
            <a:spLocks noGrp="1"/>
          </p:cNvSpPr>
          <p:nvPr/>
        </p:nvSpPr>
        <p:spPr>
          <a:xfrm>
            <a:off x="6162675" y="5191125"/>
            <a:ext cx="4762500" cy="400050"/>
          </a:xfrm>
          <a:prstGeom prst="rect">
            <a:avLst/>
          </a:prstGeom>
          <a:noFill/>
          <a:ln w="0">
            <a:noFill/>
            <a:prstDash val="solid"/>
          </a:ln>
        </p:spPr>
        <p:txBody>
          <a:bodyPr lIns="0" tIns="0" rIns="0" bIns="0" anchor="t">
            <a:normAutofit/>
          </a:bodyPr>
          <a:lstStyle>
            <a:defPPr algn="l">
              <a:defRPr sz="1425" b="0">
                <a:solidFill>
                  <a:srgbClr val="62667B"/>
                </a:solidFill>
                <a:latin typeface="Segoe UI"/>
                <a:ea typeface="Segoe UI"/>
                <a:cs typeface="Segoe UI"/>
              </a:defRPr>
            </a:defPPr>
          </a:lstStyle>
          <a:p>
            <a:pPr algn="l">
              <a:defRPr sz="1425" b="0">
                <a:solidFill>
                  <a:srgbClr val="62667B"/>
                </a:solidFill>
                <a:latin typeface="Segoe UI"/>
                <a:ea typeface="Segoe UI"/>
                <a:cs typeface="Segoe UI"/>
              </a:defRPr>
            </a:pPr>
            <a:r>
              <a:rPr sz="1425" b="0">
                <a:solidFill>
                  <a:srgbClr val="62667B"/>
                </a:solidFill>
                <a:latin typeface="Segoe UI"/>
                <a:ea typeface="Segoe UI"/>
                <a:cs typeface="Segoe UI"/>
              </a:rPr>
              <a:t>Serve student bookings</a:t>
            </a:r>
          </a:p>
        </p:txBody>
      </p:sp>
    </p:spTree>
    <p:extLst>
      <p:ext uri="{BB962C8B-B14F-4D97-AF65-F5344CB8AC3E}">
        <p14:creationId xmlns:p14="http://schemas.microsoft.com/office/powerpoint/2010/main" val="485678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183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B2ED87E-3E5D-451C-B029-C98B60DB00C5}"/>
              </a:ext>
            </a:extLst>
          </p:cNvPr>
          <p:cNvSpPr>
            <a:spLocks noGrp="1"/>
          </p:cNvSpPr>
          <p:nvPr/>
        </p:nvSpPr>
        <p:spPr>
          <a:xfrm>
            <a:off x="704850" y="400050"/>
            <a:ext cx="5715000" cy="209550"/>
          </a:xfrm>
          <a:prstGeom prst="rect">
            <a:avLst/>
          </a:prstGeom>
          <a:noFill/>
          <a:ln w="0">
            <a:noFill/>
            <a:prstDash val="solid"/>
          </a:ln>
        </p:spPr>
        <p:txBody>
          <a:bodyPr lIns="0" tIns="0" rIns="0" bIns="0" anchor="t">
            <a:normAutofit/>
          </a:bodyPr>
          <a:lstStyle>
            <a:defPPr algn="l">
              <a:defRPr sz="1050" b="1">
                <a:solidFill>
                  <a:srgbClr val="9178FF"/>
                </a:solidFill>
                <a:latin typeface="Segoe UI"/>
                <a:ea typeface="Segoe UI"/>
                <a:cs typeface="Segoe UI"/>
              </a:defRPr>
            </a:defPPr>
          </a:lstStyle>
          <a:p>
            <a:pPr algn="l">
              <a:defRPr sz="1050" b="1">
                <a:solidFill>
                  <a:srgbClr val="9178FF"/>
                </a:solidFill>
                <a:latin typeface="Segoe UI"/>
                <a:ea typeface="Segoe UI"/>
                <a:cs typeface="Segoe UI"/>
              </a:defRPr>
            </a:pPr>
            <a:r>
              <a:rPr sz="1050" b="1">
                <a:solidFill>
                  <a:srgbClr val="9178FF"/>
                </a:solidFill>
                <a:latin typeface="Segoe UI"/>
                <a:ea typeface="Segoe UI"/>
                <a:cs typeface="Segoe UI"/>
              </a:rPr>
              <a:t>PROJECT SCOPE</a:t>
            </a:r>
          </a:p>
        </p:txBody>
      </p:sp>
      <p:sp>
        <p:nvSpPr>
          <p:cNvPr id="2" name="Rectangle 1">
            <a:extLst>
              <a:ext uri="{FF2B5EF4-FFF2-40B4-BE49-F238E27FC236}">
                <a16:creationId xmlns:a16="http://schemas.microsoft.com/office/drawing/2014/main" id="{64D8C1C9-C626-451D-85B4-7D04D87CE995}"/>
              </a:ext>
            </a:extLst>
          </p:cNvPr>
          <p:cNvSpPr>
            <a:spLocks noGrp="1"/>
          </p:cNvSpPr>
          <p:nvPr/>
        </p:nvSpPr>
        <p:spPr>
          <a:xfrm>
            <a:off x="704850" y="742950"/>
            <a:ext cx="10715625" cy="723900"/>
          </a:xfrm>
          <a:prstGeom prst="rect">
            <a:avLst/>
          </a:prstGeom>
          <a:noFill/>
          <a:ln w="0">
            <a:noFill/>
            <a:prstDash val="solid"/>
          </a:ln>
        </p:spPr>
        <p:txBody>
          <a:bodyPr lIns="0" tIns="0" rIns="0" bIns="0" anchor="t">
            <a:normAutofit/>
          </a:bodyPr>
          <a:lstStyle>
            <a:defPPr algn="l">
              <a:defRPr sz="3450" b="1">
                <a:solidFill>
                  <a:srgbClr val="FFFFFF"/>
                </a:solidFill>
                <a:latin typeface="Segoe UI"/>
                <a:ea typeface="Segoe UI"/>
                <a:cs typeface="Segoe UI"/>
              </a:defRPr>
            </a:defPPr>
          </a:lstStyle>
          <a:p>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Current scope and practical next steps</a:t>
            </a:r>
          </a:p>
        </p:txBody>
      </p:sp>
      <p:sp>
        <p:nvSpPr>
          <p:cNvPr id="3" name="Rectangle 2">
            <a:extLst>
              <a:ext uri="{FF2B5EF4-FFF2-40B4-BE49-F238E27FC236}">
                <a16:creationId xmlns:a16="http://schemas.microsoft.com/office/drawing/2014/main" id="{3B36ECA5-CD2A-4576-864C-6A3085BF7216}"/>
              </a:ext>
            </a:extLst>
          </p:cNvPr>
          <p:cNvSpPr>
            <a:spLocks noGrp="1"/>
          </p:cNvSpPr>
          <p:nvPr/>
        </p:nvSpPr>
        <p:spPr>
          <a:xfrm>
            <a:off x="704850" y="6400800"/>
            <a:ext cx="10782300" cy="9525"/>
          </a:xfrm>
          <a:prstGeom prst="rect">
            <a:avLst/>
          </a:prstGeom>
          <a:solidFill>
            <a:srgbClr val="39385C"/>
          </a:solidFill>
          <a:ln w="0">
            <a:noFill/>
            <a:prstDash val="solid"/>
          </a:ln>
        </p:spPr>
      </p:sp>
      <p:sp>
        <p:nvSpPr>
          <p:cNvPr id="4" name="Rectangle 3">
            <a:extLst>
              <a:ext uri="{FF2B5EF4-FFF2-40B4-BE49-F238E27FC236}">
                <a16:creationId xmlns:a16="http://schemas.microsoft.com/office/drawing/2014/main" id="{6BEE4E35-698C-40F3-9BA0-013838F801BC}"/>
              </a:ext>
            </a:extLst>
          </p:cNvPr>
          <p:cNvSpPr>
            <a:spLocks noGrp="1"/>
          </p:cNvSpPr>
          <p:nvPr/>
        </p:nvSpPr>
        <p:spPr>
          <a:xfrm>
            <a:off x="704850" y="6505575"/>
            <a:ext cx="6667500" cy="190500"/>
          </a:xfrm>
          <a:prstGeom prst="rect">
            <a:avLst/>
          </a:prstGeom>
          <a:noFill/>
          <a:ln w="0">
            <a:noFill/>
            <a:prstDash val="solid"/>
          </a:ln>
        </p:spPr>
        <p:txBody>
          <a:bodyPr lIns="0" tIns="0" rIns="0" bIns="0" anchor="t">
            <a:normAutofit/>
          </a:bodyPr>
          <a:lstStyle>
            <a:defPPr algn="l">
              <a:defRPr sz="975" b="1">
                <a:solidFill>
                  <a:srgbClr val="AAA9C4"/>
                </a:solidFill>
                <a:latin typeface="Segoe UI"/>
                <a:ea typeface="Segoe UI"/>
                <a:cs typeface="Segoe UI"/>
              </a:defRPr>
            </a:defPPr>
          </a:lstStyle>
          <a:p>
            <a:pPr algn="l">
              <a:defRPr sz="975" b="1">
                <a:solidFill>
                  <a:srgbClr val="AAA9C4"/>
                </a:solidFill>
                <a:latin typeface="Segoe UI"/>
                <a:ea typeface="Segoe UI"/>
                <a:cs typeface="Segoe UI"/>
              </a:defRPr>
            </a:pPr>
            <a:r>
              <a:rPr sz="975" b="1">
                <a:solidFill>
                  <a:srgbClr val="AAA9C4"/>
                </a:solidFill>
                <a:latin typeface="Segoe UI"/>
                <a:ea typeface="Segoe UI"/>
                <a:cs typeface="Segoe UI"/>
              </a:rPr>
              <a:t>HOSTELHUB  /  PROJECT PRESENTATION</a:t>
            </a:r>
          </a:p>
        </p:txBody>
      </p:sp>
      <p:sp>
        <p:nvSpPr>
          <p:cNvPr id="5" name="Rectangle 4">
            <a:extLst>
              <a:ext uri="{FF2B5EF4-FFF2-40B4-BE49-F238E27FC236}">
                <a16:creationId xmlns:a16="http://schemas.microsoft.com/office/drawing/2014/main" id="{333F7343-B98F-4906-8227-3484D37D46EC}"/>
              </a:ext>
            </a:extLst>
          </p:cNvPr>
          <p:cNvSpPr>
            <a:spLocks noGrp="1"/>
          </p:cNvSpPr>
          <p:nvPr/>
        </p:nvSpPr>
        <p:spPr>
          <a:xfrm>
            <a:off x="11049000" y="6486525"/>
            <a:ext cx="438150" cy="209550"/>
          </a:xfrm>
          <a:prstGeom prst="rect">
            <a:avLst/>
          </a:prstGeom>
          <a:noFill/>
          <a:ln w="0">
            <a:noFill/>
            <a:prstDash val="solid"/>
          </a:ln>
        </p:spPr>
        <p:txBody>
          <a:bodyPr lIns="0" tIns="0" rIns="0" bIns="0" anchor="t">
            <a:normAutofit/>
          </a:bodyPr>
          <a:lstStyle>
            <a:defPPr algn="r">
              <a:defRPr sz="1050" b="1">
                <a:solidFill>
                  <a:srgbClr val="9178FF"/>
                </a:solidFill>
                <a:latin typeface="Segoe UI"/>
                <a:ea typeface="Segoe UI"/>
                <a:cs typeface="Segoe UI"/>
              </a:defRPr>
            </a:defPPr>
          </a:lstStyle>
          <a:p>
            <a:pPr algn="r">
              <a:defRPr sz="1050" b="1">
                <a:solidFill>
                  <a:srgbClr val="9178FF"/>
                </a:solidFill>
                <a:latin typeface="Segoe UI"/>
                <a:ea typeface="Segoe UI"/>
                <a:cs typeface="Segoe UI"/>
              </a:defRPr>
            </a:pPr>
            <a:r>
              <a:rPr sz="1050" b="1">
                <a:solidFill>
                  <a:srgbClr val="9178FF"/>
                </a:solidFill>
                <a:latin typeface="Segoe UI"/>
                <a:ea typeface="Segoe UI"/>
                <a:cs typeface="Segoe UI"/>
              </a:rPr>
              <a:t>12</a:t>
            </a:r>
          </a:p>
        </p:txBody>
      </p:sp>
      <p:sp>
        <p:nvSpPr>
          <p:cNvPr id="6" name="Rectangle 5">
            <a:extLst>
              <a:ext uri="{FF2B5EF4-FFF2-40B4-BE49-F238E27FC236}">
                <a16:creationId xmlns:a16="http://schemas.microsoft.com/office/drawing/2014/main" id="{4E0E45B5-DE67-4FF0-B20A-5B794110BE48}"/>
              </a:ext>
            </a:extLst>
          </p:cNvPr>
          <p:cNvSpPr>
            <a:spLocks noGrp="1"/>
          </p:cNvSpPr>
          <p:nvPr/>
        </p:nvSpPr>
        <p:spPr>
          <a:xfrm>
            <a:off x="819150" y="1924050"/>
            <a:ext cx="4476750" cy="266700"/>
          </a:xfrm>
          <a:prstGeom prst="rect">
            <a:avLst/>
          </a:prstGeom>
          <a:noFill/>
          <a:ln w="0">
            <a:noFill/>
            <a:prstDash val="solid"/>
          </a:ln>
        </p:spPr>
        <p:txBody>
          <a:bodyPr lIns="0" tIns="0" rIns="0" bIns="0" anchor="t">
            <a:normAutofit/>
          </a:bodyPr>
          <a:lstStyle>
            <a:defPPr algn="l">
              <a:defRPr sz="1125" b="1">
                <a:solidFill>
                  <a:srgbClr val="27B99A"/>
                </a:solidFill>
                <a:latin typeface="Segoe UI"/>
                <a:ea typeface="Segoe UI"/>
                <a:cs typeface="Segoe UI"/>
              </a:defRPr>
            </a:defPPr>
          </a:lstStyle>
          <a:p>
            <a:pPr algn="l">
              <a:defRPr sz="1125" b="1">
                <a:solidFill>
                  <a:srgbClr val="27B99A"/>
                </a:solidFill>
                <a:latin typeface="Segoe UI"/>
                <a:ea typeface="Segoe UI"/>
                <a:cs typeface="Segoe UI"/>
              </a:defRPr>
            </a:pPr>
            <a:r>
              <a:rPr sz="1125" b="1">
                <a:solidFill>
                  <a:srgbClr val="27B99A"/>
                </a:solidFill>
                <a:latin typeface="Segoe UI"/>
                <a:ea typeface="Segoe UI"/>
                <a:cs typeface="Segoe UI"/>
              </a:rPr>
              <a:t>WORKING PROJECT CAPABILITIES</a:t>
            </a:r>
          </a:p>
        </p:txBody>
      </p:sp>
      <p:sp>
        <p:nvSpPr>
          <p:cNvPr id="7" name="Rectangle 6">
            <a:extLst>
              <a:ext uri="{FF2B5EF4-FFF2-40B4-BE49-F238E27FC236}">
                <a16:creationId xmlns:a16="http://schemas.microsoft.com/office/drawing/2014/main" id="{566C2B04-DB25-4D5E-8F85-5E766AD5143A}"/>
              </a:ext>
            </a:extLst>
          </p:cNvPr>
          <p:cNvSpPr>
            <a:spLocks noGrp="1"/>
          </p:cNvSpPr>
          <p:nvPr/>
        </p:nvSpPr>
        <p:spPr>
          <a:xfrm>
            <a:off x="819150" y="2419350"/>
            <a:ext cx="4714875" cy="2457450"/>
          </a:xfrm>
          <a:prstGeom prst="rect">
            <a:avLst/>
          </a:prstGeom>
          <a:noFill/>
          <a:ln w="0">
            <a:noFill/>
            <a:prstDash val="solid"/>
          </a:ln>
        </p:spPr>
        <p:txBody>
          <a:bodyPr lIns="0" tIns="0" rIns="0" bIns="0" anchor="t">
            <a:normAutofit/>
          </a:bodyPr>
          <a:lstStyle>
            <a:defPPr algn="l">
              <a:defRPr sz="1725" b="0">
                <a:solidFill>
                  <a:srgbClr val="FFFFFF"/>
                </a:solidFill>
                <a:latin typeface="Segoe UI"/>
                <a:ea typeface="Segoe UI"/>
                <a:cs typeface="Segoe UI"/>
              </a:defRPr>
            </a:defPPr>
          </a:lstStyle>
          <a:p>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Role-specific dashboards</a:t>
            </a:r>
          </a:p>
          <a:p>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Campus shopping and service requests</a:t>
            </a:r>
          </a:p>
          <a:p>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Medical listings and appointment requests</a:t>
            </a:r>
          </a:p>
          <a:p>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Hostel room, mess and notices</a:t>
            </a:r>
          </a:p>
          <a:p>
            <a:pPr algn="l">
              <a:defRPr sz="1725" b="0">
                <a:solidFill>
                  <a:srgbClr val="FFFFFF"/>
                </a:solidFill>
                <a:latin typeface="Segoe UI"/>
                <a:ea typeface="Segoe UI"/>
                <a:cs typeface="Segoe UI"/>
              </a:defRPr>
            </a:pPr>
            <a:r>
              <a:rPr sz="1725" b="0">
                <a:solidFill>
                  <a:srgbClr val="FFFFFF"/>
                </a:solidFill>
                <a:latin typeface="Segoe UI"/>
                <a:ea typeface="Segoe UI"/>
                <a:cs typeface="Segoe UI"/>
              </a:rPr>
              <a:t>Order payment review workflow</a:t>
            </a:r>
          </a:p>
        </p:txBody>
      </p:sp>
      <p:sp>
        <p:nvSpPr>
          <p:cNvPr id="8" name="Rectangle 7">
            <a:extLst>
              <a:ext uri="{FF2B5EF4-FFF2-40B4-BE49-F238E27FC236}">
                <a16:creationId xmlns:a16="http://schemas.microsoft.com/office/drawing/2014/main" id="{E006F056-9BBB-47F4-8286-83C9FEA908DC}"/>
              </a:ext>
            </a:extLst>
          </p:cNvPr>
          <p:cNvSpPr>
            <a:spLocks noGrp="1"/>
          </p:cNvSpPr>
          <p:nvPr/>
        </p:nvSpPr>
        <p:spPr>
          <a:xfrm>
            <a:off x="6096000" y="1952625"/>
            <a:ext cx="19050" cy="3429000"/>
          </a:xfrm>
          <a:prstGeom prst="rect">
            <a:avLst/>
          </a:prstGeom>
          <a:solidFill>
            <a:srgbClr val="454466"/>
          </a:solidFill>
          <a:ln w="0">
            <a:noFill/>
            <a:prstDash val="solid"/>
          </a:ln>
        </p:spPr>
      </p:sp>
      <p:sp>
        <p:nvSpPr>
          <p:cNvPr id="9" name="Rectangle 8">
            <a:extLst>
              <a:ext uri="{FF2B5EF4-FFF2-40B4-BE49-F238E27FC236}">
                <a16:creationId xmlns:a16="http://schemas.microsoft.com/office/drawing/2014/main" id="{6828AF3B-2D34-4680-B9D3-4DFC51FB4921}"/>
              </a:ext>
            </a:extLst>
          </p:cNvPr>
          <p:cNvSpPr>
            <a:spLocks noGrp="1"/>
          </p:cNvSpPr>
          <p:nvPr/>
        </p:nvSpPr>
        <p:spPr>
          <a:xfrm>
            <a:off x="6686550" y="1924050"/>
            <a:ext cx="4572000" cy="266700"/>
          </a:xfrm>
          <a:prstGeom prst="rect">
            <a:avLst/>
          </a:prstGeom>
          <a:noFill/>
          <a:ln w="0">
            <a:noFill/>
            <a:prstDash val="solid"/>
          </a:ln>
        </p:spPr>
        <p:txBody>
          <a:bodyPr lIns="0" tIns="0" rIns="0" bIns="0" anchor="t">
            <a:normAutofit/>
          </a:bodyPr>
          <a:lstStyle>
            <a:defPPr algn="l">
              <a:defRPr sz="1125" b="1">
                <a:solidFill>
                  <a:srgbClr val="9178FF"/>
                </a:solidFill>
                <a:latin typeface="Segoe UI"/>
                <a:ea typeface="Segoe UI"/>
                <a:cs typeface="Segoe UI"/>
              </a:defRPr>
            </a:defPPr>
          </a:lstStyle>
          <a:p>
            <a:pPr algn="l">
              <a:defRPr sz="1125" b="1">
                <a:solidFill>
                  <a:srgbClr val="9178FF"/>
                </a:solidFill>
                <a:latin typeface="Segoe UI"/>
                <a:ea typeface="Segoe UI"/>
                <a:cs typeface="Segoe UI"/>
              </a:defRPr>
            </a:pPr>
            <a:r>
              <a:rPr sz="1125" b="1">
                <a:solidFill>
                  <a:srgbClr val="9178FF"/>
                </a:solidFill>
                <a:latin typeface="Segoe UI"/>
                <a:ea typeface="Segoe UI"/>
                <a:cs typeface="Segoe UI"/>
              </a:rPr>
              <a:t>NEXT DEVELOPMENT STEPS</a:t>
            </a:r>
          </a:p>
        </p:txBody>
      </p:sp>
      <p:sp>
        <p:nvSpPr>
          <p:cNvPr id="10" name="Rectangle 9">
            <a:extLst>
              <a:ext uri="{FF2B5EF4-FFF2-40B4-BE49-F238E27FC236}">
                <a16:creationId xmlns:a16="http://schemas.microsoft.com/office/drawing/2014/main" id="{115AECF0-22DA-45A2-B412-68E8EC047FB4}"/>
              </a:ext>
            </a:extLst>
          </p:cNvPr>
          <p:cNvSpPr>
            <a:spLocks noGrp="1"/>
          </p:cNvSpPr>
          <p:nvPr/>
        </p:nvSpPr>
        <p:spPr>
          <a:xfrm>
            <a:off x="6686550" y="2419350"/>
            <a:ext cx="4619625" cy="2362200"/>
          </a:xfrm>
          <a:prstGeom prst="rect">
            <a:avLst/>
          </a:prstGeom>
          <a:noFill/>
          <a:ln w="0">
            <a:noFill/>
            <a:prstDash val="solid"/>
          </a:ln>
        </p:spPr>
        <p:txBody>
          <a:bodyPr lIns="0" tIns="0" rIns="0" bIns="0" anchor="t">
            <a:normAutofit/>
          </a:bodyPr>
          <a:lstStyle>
            <a:defPPr algn="l">
              <a:defRPr sz="1650" b="0">
                <a:solidFill>
                  <a:srgbClr val="E6E5F4"/>
                </a:solidFill>
                <a:latin typeface="Segoe UI"/>
                <a:ea typeface="Segoe UI"/>
                <a:cs typeface="Segoe UI"/>
              </a:defRPr>
            </a:defPPr>
          </a:lstStyle>
          <a:p>
            <a:pPr algn="l">
              <a:defRPr sz="1650" b="0">
                <a:solidFill>
                  <a:srgbClr val="E6E5F4"/>
                </a:solidFill>
                <a:latin typeface="Segoe UI"/>
                <a:ea typeface="Segoe UI"/>
                <a:cs typeface="Segoe UI"/>
              </a:defRPr>
            </a:pPr>
            <a:r>
              <a:rPr sz="1650" b="0">
                <a:solidFill>
                  <a:srgbClr val="E6E5F4"/>
                </a:solidFill>
                <a:latin typeface="Segoe UI"/>
                <a:ea typeface="Segoe UI"/>
                <a:cs typeface="Segoe UI"/>
              </a:rPr>
              <a:t>Deploy the app to a secure hosted environment</a:t>
            </a:r>
          </a:p>
          <a:p>
            <a:pPr algn="l">
              <a:defRPr sz="1650" b="0">
                <a:solidFill>
                  <a:srgbClr val="E6E5F4"/>
                </a:solidFill>
                <a:latin typeface="Segoe UI"/>
                <a:ea typeface="Segoe UI"/>
                <a:cs typeface="Segoe UI"/>
              </a:defRPr>
            </a:pPr>
            <a:r>
              <a:rPr sz="1650" b="0">
                <a:solidFill>
                  <a:srgbClr val="E6E5F4"/>
                </a:solidFill>
                <a:latin typeface="Segoe UI"/>
                <a:ea typeface="Segoe UI"/>
                <a:cs typeface="Segoe UI"/>
              </a:rPr>
              <a:t>Connect a payment gateway if online collection is needed</a:t>
            </a:r>
          </a:p>
          <a:p>
            <a:pPr algn="l">
              <a:defRPr sz="1650" b="0">
                <a:solidFill>
                  <a:srgbClr val="E6E5F4"/>
                </a:solidFill>
                <a:latin typeface="Segoe UI"/>
                <a:ea typeface="Segoe UI"/>
                <a:cs typeface="Segoe UI"/>
              </a:defRPr>
            </a:pPr>
            <a:r>
              <a:rPr sz="1650" b="0">
                <a:solidFill>
                  <a:srgbClr val="E6E5F4"/>
                </a:solidFill>
                <a:latin typeface="Segoe UI"/>
                <a:ea typeface="Segoe UI"/>
                <a:cs typeface="Segoe UI"/>
              </a:rPr>
              <a:t>Add reliable email or in-app notifications</a:t>
            </a:r>
          </a:p>
          <a:p>
            <a:pPr algn="l">
              <a:defRPr sz="1650" b="0">
                <a:solidFill>
                  <a:srgbClr val="E6E5F4"/>
                </a:solidFill>
                <a:latin typeface="Segoe UI"/>
                <a:ea typeface="Segoe UI"/>
                <a:cs typeface="Segoe UI"/>
              </a:defRPr>
            </a:pPr>
            <a:r>
              <a:rPr sz="1650" b="0">
                <a:solidFill>
                  <a:srgbClr val="E6E5F4"/>
                </a:solidFill>
                <a:latin typeface="Segoe UI"/>
                <a:ea typeface="Segoe UI"/>
                <a:cs typeface="Segoe UI"/>
              </a:rPr>
              <a:t>Keep backups and check role access before release</a:t>
            </a:r>
          </a:p>
        </p:txBody>
      </p:sp>
      <p:sp>
        <p:nvSpPr>
          <p:cNvPr id="11" name="Rectangle: Rounded Corners 10">
            <a:extLst>
              <a:ext uri="{FF2B5EF4-FFF2-40B4-BE49-F238E27FC236}">
                <a16:creationId xmlns:a16="http://schemas.microsoft.com/office/drawing/2014/main" id="{9D969427-8092-4EB4-9471-AD0EBC5909B4}"/>
              </a:ext>
            </a:extLst>
          </p:cNvPr>
          <p:cNvSpPr>
            <a:spLocks noGrp="1"/>
          </p:cNvSpPr>
          <p:nvPr/>
        </p:nvSpPr>
        <p:spPr>
          <a:xfrm>
            <a:off x="819150" y="5353050"/>
            <a:ext cx="10410825" cy="561975"/>
          </a:xfrm>
          <a:prstGeom prst="roundRect">
            <a:avLst>
              <a:gd name="adj" fmla="val 20339"/>
            </a:avLst>
          </a:prstGeom>
          <a:solidFill>
            <a:srgbClr val="24234A"/>
          </a:solidFill>
          <a:ln w="0">
            <a:solidFill>
              <a:srgbClr val="24234A"/>
            </a:solidFill>
            <a:prstDash val="solid"/>
          </a:ln>
        </p:spPr>
      </p:sp>
      <p:sp>
        <p:nvSpPr>
          <p:cNvPr id="12" name="Rectangle 11">
            <a:extLst>
              <a:ext uri="{FF2B5EF4-FFF2-40B4-BE49-F238E27FC236}">
                <a16:creationId xmlns:a16="http://schemas.microsoft.com/office/drawing/2014/main" id="{B0643375-CECB-470B-8F0A-9085080EF2B2}"/>
              </a:ext>
            </a:extLst>
          </p:cNvPr>
          <p:cNvSpPr>
            <a:spLocks noGrp="1"/>
          </p:cNvSpPr>
          <p:nvPr/>
        </p:nvSpPr>
        <p:spPr>
          <a:xfrm>
            <a:off x="1028700" y="5524500"/>
            <a:ext cx="10001250" cy="266700"/>
          </a:xfrm>
          <a:prstGeom prst="rect">
            <a:avLst/>
          </a:prstGeom>
          <a:noFill/>
          <a:ln w="0">
            <a:noFill/>
            <a:prstDash val="solid"/>
          </a:ln>
        </p:spPr>
        <p:txBody>
          <a:bodyPr lIns="0" tIns="0" rIns="0" bIns="0" anchor="t">
            <a:normAutofit/>
          </a:bodyPr>
          <a:lstStyle>
            <a:defPPr algn="l">
              <a:defRPr sz="1350" b="1">
                <a:solidFill>
                  <a:srgbClr val="FFFFFF"/>
                </a:solidFill>
                <a:latin typeface="Segoe UI"/>
                <a:ea typeface="Segoe UI"/>
                <a:cs typeface="Segoe UI"/>
              </a:defRPr>
            </a:defPPr>
          </a:lstStyle>
          <a:p>
            <a:pPr algn="l">
              <a:defRPr sz="1350" b="1">
                <a:solidFill>
                  <a:srgbClr val="FFFFFF"/>
                </a:solidFill>
                <a:latin typeface="Segoe UI"/>
                <a:ea typeface="Segoe UI"/>
                <a:cs typeface="Segoe UI"/>
              </a:defRPr>
            </a:pPr>
            <a:r>
              <a:rPr sz="1350" b="1">
                <a:solidFill>
                  <a:srgbClr val="FFFFFF"/>
                </a:solidFill>
                <a:latin typeface="Segoe UI"/>
                <a:ea typeface="Segoe UI"/>
                <a:cs typeface="Segoe UI"/>
              </a:rPr>
              <a:t>Today’s demo runs on the local machine. UPI payment verification is manual.</a:t>
            </a:r>
          </a:p>
        </p:txBody>
      </p:sp>
    </p:spTree>
    <p:extLst>
      <p:ext uri="{BB962C8B-B14F-4D97-AF65-F5344CB8AC3E}">
        <p14:creationId xmlns:p14="http://schemas.microsoft.com/office/powerpoint/2010/main" val="1131936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8FC"/>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83B0996B-4DF5-49E7-802F-FD430FCE9084}"/>
              </a:ext>
            </a:extLst>
          </p:cNvPr>
          <p:cNvSpPr>
            <a:spLocks noGrp="1"/>
          </p:cNvSpPr>
          <p:nvPr/>
        </p:nvSpPr>
        <p:spPr>
          <a:xfrm>
            <a:off x="704850" y="400050"/>
            <a:ext cx="5715000" cy="209550"/>
          </a:xfrm>
          <a:prstGeom prst="rect">
            <a:avLst/>
          </a:prstGeom>
          <a:noFill/>
          <a:ln w="0">
            <a:noFill/>
            <a:prstDash val="solid"/>
          </a:ln>
        </p:spPr>
        <p:txBody>
          <a:bodyPr lIns="0" tIns="0" rIns="0" bIns="0" anchor="t">
            <a:normAutofit/>
          </a:bodyPr>
          <a:lstStyle>
            <a:defPPr algn="l">
              <a:defRPr sz="1050" b="1">
                <a:solidFill>
                  <a:srgbClr val="7156E8"/>
                </a:solidFill>
                <a:latin typeface="Segoe UI"/>
                <a:ea typeface="Segoe UI"/>
                <a:cs typeface="Segoe UI"/>
              </a:defRPr>
            </a:defPPr>
          </a:lstStyle>
          <a:p>
            <a:pPr algn="l">
              <a:defRPr sz="1050" b="1">
                <a:solidFill>
                  <a:srgbClr val="7156E8"/>
                </a:solidFill>
                <a:latin typeface="Segoe UI"/>
                <a:ea typeface="Segoe UI"/>
                <a:cs typeface="Segoe UI"/>
              </a:defRPr>
            </a:pPr>
            <a:r>
              <a:rPr sz="1050" b="1">
                <a:solidFill>
                  <a:srgbClr val="7156E8"/>
                </a:solidFill>
                <a:latin typeface="Segoe UI"/>
                <a:ea typeface="Segoe UI"/>
                <a:cs typeface="Segoe UI"/>
              </a:rPr>
              <a:t>WALKTHROUGH</a:t>
            </a:r>
          </a:p>
        </p:txBody>
      </p:sp>
      <p:sp>
        <p:nvSpPr>
          <p:cNvPr id="2" name="Rectangle 1">
            <a:extLst>
              <a:ext uri="{FF2B5EF4-FFF2-40B4-BE49-F238E27FC236}">
                <a16:creationId xmlns:a16="http://schemas.microsoft.com/office/drawing/2014/main" id="{30C18023-B281-44A4-8F17-EC99BD37E1DB}"/>
              </a:ext>
            </a:extLst>
          </p:cNvPr>
          <p:cNvSpPr>
            <a:spLocks noGrp="1"/>
          </p:cNvSpPr>
          <p:nvPr/>
        </p:nvSpPr>
        <p:spPr>
          <a:xfrm>
            <a:off x="704850" y="742950"/>
            <a:ext cx="10715625" cy="723900"/>
          </a:xfrm>
          <a:prstGeom prst="rect">
            <a:avLst/>
          </a:prstGeom>
          <a:noFill/>
          <a:ln w="0">
            <a:noFill/>
            <a:prstDash val="solid"/>
          </a:ln>
        </p:spPr>
        <p:txBody>
          <a:bodyPr lIns="0" tIns="0" rIns="0" bIns="0" anchor="t">
            <a:normAutofit/>
          </a:bodyPr>
          <a:lstStyle>
            <a:defPPr algn="l">
              <a:defRPr sz="3450" b="1">
                <a:solidFill>
                  <a:srgbClr val="22233D"/>
                </a:solidFill>
                <a:latin typeface="Segoe UI"/>
                <a:ea typeface="Segoe UI"/>
                <a:cs typeface="Segoe UI"/>
              </a:defRPr>
            </a:defPPr>
          </a:lstStyle>
          <a:p>
            <a:pPr algn="l">
              <a:defRPr sz="3450" b="1">
                <a:solidFill>
                  <a:srgbClr val="22233D"/>
                </a:solidFill>
                <a:latin typeface="Segoe UI"/>
                <a:ea typeface="Segoe UI"/>
                <a:cs typeface="Segoe UI"/>
              </a:defRPr>
            </a:pPr>
            <a:r>
              <a:rPr sz="3450" b="1">
                <a:solidFill>
                  <a:srgbClr val="22233D"/>
                </a:solidFill>
                <a:latin typeface="Segoe UI"/>
                <a:ea typeface="Segoe UI"/>
                <a:cs typeface="Segoe UI"/>
              </a:rPr>
              <a:t>Live app demonstration</a:t>
            </a:r>
          </a:p>
        </p:txBody>
      </p:sp>
      <p:sp>
        <p:nvSpPr>
          <p:cNvPr id="3" name="Rectangle 2">
            <a:extLst>
              <a:ext uri="{FF2B5EF4-FFF2-40B4-BE49-F238E27FC236}">
                <a16:creationId xmlns:a16="http://schemas.microsoft.com/office/drawing/2014/main" id="{DEBC2049-811C-4EF7-8F2A-33693B9ABDE8}"/>
              </a:ext>
            </a:extLst>
          </p:cNvPr>
          <p:cNvSpPr>
            <a:spLocks noGrp="1"/>
          </p:cNvSpPr>
          <p:nvPr/>
        </p:nvSpPr>
        <p:spPr>
          <a:xfrm>
            <a:off x="704850" y="6400800"/>
            <a:ext cx="10782300" cy="9525"/>
          </a:xfrm>
          <a:prstGeom prst="rect">
            <a:avLst/>
          </a:prstGeom>
          <a:solidFill>
            <a:srgbClr val="E4E5EF"/>
          </a:solidFill>
          <a:ln w="0">
            <a:noFill/>
            <a:prstDash val="solid"/>
          </a:ln>
        </p:spPr>
      </p:sp>
      <p:sp>
        <p:nvSpPr>
          <p:cNvPr id="4" name="Rectangle 3">
            <a:extLst>
              <a:ext uri="{FF2B5EF4-FFF2-40B4-BE49-F238E27FC236}">
                <a16:creationId xmlns:a16="http://schemas.microsoft.com/office/drawing/2014/main" id="{FB2350FE-5A70-4386-8875-28D833334A46}"/>
              </a:ext>
            </a:extLst>
          </p:cNvPr>
          <p:cNvSpPr>
            <a:spLocks noGrp="1"/>
          </p:cNvSpPr>
          <p:nvPr/>
        </p:nvSpPr>
        <p:spPr>
          <a:xfrm>
            <a:off x="704850" y="6505575"/>
            <a:ext cx="6667500" cy="190500"/>
          </a:xfrm>
          <a:prstGeom prst="rect">
            <a:avLst/>
          </a:prstGeom>
          <a:noFill/>
          <a:ln w="0">
            <a:noFill/>
            <a:prstDash val="solid"/>
          </a:ln>
        </p:spPr>
        <p:txBody>
          <a:bodyPr lIns="0" tIns="0" rIns="0" bIns="0" anchor="t">
            <a:normAutofit/>
          </a:bodyPr>
          <a:lstStyle>
            <a:defPPr algn="l">
              <a:defRPr sz="975" b="1">
                <a:solidFill>
                  <a:srgbClr val="777B90"/>
                </a:solidFill>
                <a:latin typeface="Segoe UI"/>
                <a:ea typeface="Segoe UI"/>
                <a:cs typeface="Segoe UI"/>
              </a:defRPr>
            </a:defPPr>
          </a:lstStyle>
          <a:p>
            <a:pPr algn="l">
              <a:defRPr sz="975" b="1">
                <a:solidFill>
                  <a:srgbClr val="777B90"/>
                </a:solidFill>
                <a:latin typeface="Segoe UI"/>
                <a:ea typeface="Segoe UI"/>
                <a:cs typeface="Segoe UI"/>
              </a:defRPr>
            </a:pPr>
            <a:r>
              <a:rPr sz="975" b="1">
                <a:solidFill>
                  <a:srgbClr val="777B90"/>
                </a:solidFill>
                <a:latin typeface="Segoe UI"/>
                <a:ea typeface="Segoe UI"/>
                <a:cs typeface="Segoe UI"/>
              </a:rPr>
              <a:t>HOSTELHUB  /  PROJECT PRESENTATION</a:t>
            </a:r>
          </a:p>
        </p:txBody>
      </p:sp>
      <p:sp>
        <p:nvSpPr>
          <p:cNvPr id="5" name="Rectangle 4">
            <a:extLst>
              <a:ext uri="{FF2B5EF4-FFF2-40B4-BE49-F238E27FC236}">
                <a16:creationId xmlns:a16="http://schemas.microsoft.com/office/drawing/2014/main" id="{D050488C-979C-4F67-96FB-4B5A1115ECEE}"/>
              </a:ext>
            </a:extLst>
          </p:cNvPr>
          <p:cNvSpPr>
            <a:spLocks noGrp="1"/>
          </p:cNvSpPr>
          <p:nvPr/>
        </p:nvSpPr>
        <p:spPr>
          <a:xfrm>
            <a:off x="11049000" y="6486525"/>
            <a:ext cx="438150" cy="209550"/>
          </a:xfrm>
          <a:prstGeom prst="rect">
            <a:avLst/>
          </a:prstGeom>
          <a:noFill/>
          <a:ln w="0">
            <a:noFill/>
            <a:prstDash val="solid"/>
          </a:ln>
        </p:spPr>
        <p:txBody>
          <a:bodyPr lIns="0" tIns="0" rIns="0" bIns="0" anchor="t">
            <a:normAutofit/>
          </a:bodyPr>
          <a:lstStyle>
            <a:defPPr algn="r">
              <a:defRPr sz="1050" b="1">
                <a:solidFill>
                  <a:srgbClr val="7156E8"/>
                </a:solidFill>
                <a:latin typeface="Segoe UI"/>
                <a:ea typeface="Segoe UI"/>
                <a:cs typeface="Segoe UI"/>
              </a:defRPr>
            </a:defPPr>
          </a:lstStyle>
          <a:p>
            <a:pPr algn="r">
              <a:defRPr sz="1050" b="1">
                <a:solidFill>
                  <a:srgbClr val="7156E8"/>
                </a:solidFill>
                <a:latin typeface="Segoe UI"/>
                <a:ea typeface="Segoe UI"/>
                <a:cs typeface="Segoe UI"/>
              </a:defRPr>
            </a:pPr>
            <a:r>
              <a:rPr sz="1050" b="1">
                <a:solidFill>
                  <a:srgbClr val="7156E8"/>
                </a:solidFill>
                <a:latin typeface="Segoe UI"/>
                <a:ea typeface="Segoe UI"/>
                <a:cs typeface="Segoe UI"/>
              </a:rPr>
              <a:t>13</a:t>
            </a:r>
          </a:p>
        </p:txBody>
      </p:sp>
      <p:sp>
        <p:nvSpPr>
          <p:cNvPr id="6" name="Rectangle 5">
            <a:extLst>
              <a:ext uri="{FF2B5EF4-FFF2-40B4-BE49-F238E27FC236}">
                <a16:creationId xmlns:a16="http://schemas.microsoft.com/office/drawing/2014/main" id="{C56A2220-D565-48FE-9A09-483082563168}"/>
              </a:ext>
            </a:extLst>
          </p:cNvPr>
          <p:cNvSpPr>
            <a:spLocks noGrp="1"/>
          </p:cNvSpPr>
          <p:nvPr/>
        </p:nvSpPr>
        <p:spPr>
          <a:xfrm>
            <a:off x="828675" y="1809750"/>
            <a:ext cx="400050" cy="400050"/>
          </a:xfrm>
          <a:prstGeom prst="rect">
            <a:avLst/>
          </a:prstGeom>
          <a:noFill/>
          <a:ln w="0">
            <a:noFill/>
            <a:prstDash val="solid"/>
          </a:ln>
        </p:spPr>
        <p:txBody>
          <a:bodyPr lIns="0" tIns="0" rIns="0" bIns="0" anchor="t">
            <a:normAutofit/>
          </a:bodyPr>
          <a:lstStyle>
            <a:defPPr algn="l">
              <a:defRPr sz="2100" b="1">
                <a:solidFill>
                  <a:srgbClr val="7156E8"/>
                </a:solidFill>
                <a:latin typeface="Segoe UI"/>
                <a:ea typeface="Segoe UI"/>
                <a:cs typeface="Segoe UI"/>
              </a:defRPr>
            </a:defPPr>
          </a:lstStyle>
          <a:p>
            <a:pPr algn="l">
              <a:defRPr sz="2100" b="1">
                <a:solidFill>
                  <a:srgbClr val="7156E8"/>
                </a:solidFill>
                <a:latin typeface="Segoe UI"/>
                <a:ea typeface="Segoe UI"/>
                <a:cs typeface="Segoe UI"/>
              </a:defRPr>
            </a:pPr>
            <a:r>
              <a:rPr sz="2100" b="1">
                <a:solidFill>
                  <a:srgbClr val="7156E8"/>
                </a:solidFill>
                <a:latin typeface="Segoe UI"/>
                <a:ea typeface="Segoe UI"/>
                <a:cs typeface="Segoe UI"/>
              </a:rPr>
              <a:t>1</a:t>
            </a:r>
          </a:p>
        </p:txBody>
      </p:sp>
      <p:sp>
        <p:nvSpPr>
          <p:cNvPr id="7" name="Rectangle 6">
            <a:extLst>
              <a:ext uri="{FF2B5EF4-FFF2-40B4-BE49-F238E27FC236}">
                <a16:creationId xmlns:a16="http://schemas.microsoft.com/office/drawing/2014/main" id="{8F622682-8CC2-497F-B242-5B6063B22FF0}"/>
              </a:ext>
            </a:extLst>
          </p:cNvPr>
          <p:cNvSpPr>
            <a:spLocks noGrp="1"/>
          </p:cNvSpPr>
          <p:nvPr/>
        </p:nvSpPr>
        <p:spPr>
          <a:xfrm>
            <a:off x="1390650" y="1790700"/>
            <a:ext cx="4286250" cy="361950"/>
          </a:xfrm>
          <a:prstGeom prst="rect">
            <a:avLst/>
          </a:prstGeom>
          <a:noFill/>
          <a:ln w="0">
            <a:noFill/>
            <a:prstDash val="solid"/>
          </a:ln>
        </p:spPr>
        <p:txBody>
          <a:bodyPr lIns="0" tIns="0" rIns="0" bIns="0" anchor="t">
            <a:normAutofit/>
          </a:bodyPr>
          <a:lstStyle>
            <a:defPPr algn="l">
              <a:defRPr sz="1725" b="1">
                <a:solidFill>
                  <a:srgbClr val="22233D"/>
                </a:solidFill>
                <a:latin typeface="Segoe UI"/>
                <a:ea typeface="Segoe UI"/>
                <a:cs typeface="Segoe UI"/>
              </a:defRPr>
            </a:defPPr>
          </a:lstStyle>
          <a:p>
            <a:pPr algn="l">
              <a:defRPr sz="1725" b="1">
                <a:solidFill>
                  <a:srgbClr val="22233D"/>
                </a:solidFill>
                <a:latin typeface="Segoe UI"/>
                <a:ea typeface="Segoe UI"/>
                <a:cs typeface="Segoe UI"/>
              </a:defRPr>
            </a:pPr>
            <a:r>
              <a:rPr sz="1725" b="1">
                <a:solidFill>
                  <a:srgbClr val="22233D"/>
                </a:solidFill>
                <a:latin typeface="Segoe UI"/>
                <a:ea typeface="Segoe UI"/>
                <a:cs typeface="Segoe UI"/>
              </a:rPr>
              <a:t>Open the app on the demo computer</a:t>
            </a:r>
          </a:p>
        </p:txBody>
      </p:sp>
      <p:sp>
        <p:nvSpPr>
          <p:cNvPr id="8" name="Rectangle: Rounded Corners 7">
            <a:extLst>
              <a:ext uri="{FF2B5EF4-FFF2-40B4-BE49-F238E27FC236}">
                <a16:creationId xmlns:a16="http://schemas.microsoft.com/office/drawing/2014/main" id="{A746AFDC-8067-40F5-B25A-B7AF0E5864E5}"/>
              </a:ext>
            </a:extLst>
          </p:cNvPr>
          <p:cNvSpPr>
            <a:spLocks noGrp="1"/>
          </p:cNvSpPr>
          <p:nvPr/>
        </p:nvSpPr>
        <p:spPr>
          <a:xfrm>
            <a:off x="1390650" y="2276475"/>
            <a:ext cx="5143500" cy="590550"/>
          </a:xfrm>
          <a:prstGeom prst="roundRect">
            <a:avLst>
              <a:gd name="adj" fmla="val 17742"/>
            </a:avLst>
          </a:prstGeom>
          <a:solidFill>
            <a:srgbClr val="FFFFFF"/>
          </a:solidFill>
          <a:ln w="9525">
            <a:solidFill>
              <a:srgbClr val="E4E5EF"/>
            </a:solidFill>
            <a:prstDash val="solid"/>
          </a:ln>
        </p:spPr>
        <p:txBody>
          <a:bodyPr lIns="209550" tIns="76200" rIns="133350" bIns="76200" anchor="ctr">
            <a:normAutofit/>
          </a:bodyPr>
          <a:lstStyle>
            <a:defPPr>
              <a:defRPr sz="1575" b="1">
                <a:solidFill>
                  <a:srgbClr val="7156E8"/>
                </a:solidFill>
                <a:latin typeface="Segoe UI"/>
                <a:ea typeface="Segoe UI"/>
                <a:cs typeface="Segoe UI"/>
              </a:defRPr>
            </a:defPPr>
          </a:lstStyle>
          <a:p>
            <a:pPr>
              <a:defRPr sz="1575" b="1">
                <a:solidFill>
                  <a:srgbClr val="7156E8"/>
                </a:solidFill>
                <a:latin typeface="Segoe UI"/>
                <a:ea typeface="Segoe UI"/>
                <a:cs typeface="Segoe UI"/>
              </a:defRPr>
            </a:pPr>
            <a:r>
              <a:rPr sz="1575" b="1">
                <a:solidFill>
                  <a:srgbClr val="7156E8"/>
                </a:solidFill>
                <a:latin typeface="Segoe UI"/>
                <a:ea typeface="Segoe UI"/>
                <a:cs typeface="Segoe UI"/>
                <a:hlinkClick r:id="rId3"/>
              </a:rPr>
              <a:t>http://127.0.0.1:5000/login</a:t>
            </a:r>
          </a:p>
        </p:txBody>
      </p:sp>
      <p:sp>
        <p:nvSpPr>
          <p:cNvPr id="9" name="Rectangle 8">
            <a:extLst>
              <a:ext uri="{FF2B5EF4-FFF2-40B4-BE49-F238E27FC236}">
                <a16:creationId xmlns:a16="http://schemas.microsoft.com/office/drawing/2014/main" id="{E1759873-8879-47D8-8B6D-EADF6B0E7243}"/>
              </a:ext>
            </a:extLst>
          </p:cNvPr>
          <p:cNvSpPr>
            <a:spLocks noGrp="1"/>
          </p:cNvSpPr>
          <p:nvPr/>
        </p:nvSpPr>
        <p:spPr>
          <a:xfrm>
            <a:off x="828675" y="3219450"/>
            <a:ext cx="400050" cy="400050"/>
          </a:xfrm>
          <a:prstGeom prst="rect">
            <a:avLst/>
          </a:prstGeom>
          <a:noFill/>
          <a:ln w="0">
            <a:noFill/>
            <a:prstDash val="solid"/>
          </a:ln>
        </p:spPr>
        <p:txBody>
          <a:bodyPr lIns="0" tIns="0" rIns="0" bIns="0" anchor="t">
            <a:normAutofit/>
          </a:bodyPr>
          <a:lstStyle>
            <a:defPPr algn="l">
              <a:defRPr sz="2100" b="1">
                <a:solidFill>
                  <a:srgbClr val="27B99A"/>
                </a:solidFill>
                <a:latin typeface="Segoe UI"/>
                <a:ea typeface="Segoe UI"/>
                <a:cs typeface="Segoe UI"/>
              </a:defRPr>
            </a:defPPr>
          </a:lstStyle>
          <a:p>
            <a:pPr algn="l">
              <a:defRPr sz="2100" b="1">
                <a:solidFill>
                  <a:srgbClr val="27B99A"/>
                </a:solidFill>
                <a:latin typeface="Segoe UI"/>
                <a:ea typeface="Segoe UI"/>
                <a:cs typeface="Segoe UI"/>
              </a:defRPr>
            </a:pPr>
            <a:r>
              <a:rPr sz="2100" b="1">
                <a:solidFill>
                  <a:srgbClr val="27B99A"/>
                </a:solidFill>
                <a:latin typeface="Segoe UI"/>
                <a:ea typeface="Segoe UI"/>
                <a:cs typeface="Segoe UI"/>
              </a:rPr>
              <a:t>2</a:t>
            </a:r>
          </a:p>
        </p:txBody>
      </p:sp>
      <p:sp>
        <p:nvSpPr>
          <p:cNvPr id="10" name="Rectangle 9">
            <a:extLst>
              <a:ext uri="{FF2B5EF4-FFF2-40B4-BE49-F238E27FC236}">
                <a16:creationId xmlns:a16="http://schemas.microsoft.com/office/drawing/2014/main" id="{FCB2A256-6217-46DE-B34D-0DEAAE912D0A}"/>
              </a:ext>
            </a:extLst>
          </p:cNvPr>
          <p:cNvSpPr>
            <a:spLocks noGrp="1"/>
          </p:cNvSpPr>
          <p:nvPr/>
        </p:nvSpPr>
        <p:spPr>
          <a:xfrm>
            <a:off x="1390650" y="3209925"/>
            <a:ext cx="4857750" cy="619125"/>
          </a:xfrm>
          <a:prstGeom prst="rect">
            <a:avLst/>
          </a:prstGeom>
          <a:noFill/>
          <a:ln w="0">
            <a:noFill/>
            <a:prstDash val="solid"/>
          </a:ln>
        </p:spPr>
        <p:txBody>
          <a:bodyPr lIns="0" tIns="0" rIns="0" bIns="0" anchor="t">
            <a:normAutofit/>
          </a:bodyPr>
          <a:lstStyle>
            <a:defPPr algn="l">
              <a:defRPr sz="1650" b="1">
                <a:solidFill>
                  <a:srgbClr val="22233D"/>
                </a:solidFill>
                <a:latin typeface="Segoe UI"/>
                <a:ea typeface="Segoe UI"/>
                <a:cs typeface="Segoe UI"/>
              </a:defRPr>
            </a:defPPr>
          </a:lstStyle>
          <a:p>
            <a:pPr algn="l">
              <a:defRPr sz="1650" b="1">
                <a:solidFill>
                  <a:srgbClr val="22233D"/>
                </a:solidFill>
                <a:latin typeface="Segoe UI"/>
                <a:ea typeface="Segoe UI"/>
                <a:cs typeface="Segoe UI"/>
              </a:defRPr>
            </a:pPr>
            <a:r>
              <a:rPr sz="1650" b="1">
                <a:solidFill>
                  <a:srgbClr val="22233D"/>
                </a:solidFill>
                <a:latin typeface="Segoe UI"/>
                <a:ea typeface="Segoe UI"/>
                <a:cs typeface="Segoe UI"/>
              </a:rPr>
              <a:t>Choose the correct role and enter your own demo email and password</a:t>
            </a:r>
          </a:p>
        </p:txBody>
      </p:sp>
      <p:sp>
        <p:nvSpPr>
          <p:cNvPr id="11" name="Rectangle 10">
            <a:extLst>
              <a:ext uri="{FF2B5EF4-FFF2-40B4-BE49-F238E27FC236}">
                <a16:creationId xmlns:a16="http://schemas.microsoft.com/office/drawing/2014/main" id="{38645B46-FCFE-46C1-A54F-E8CFE46C5ACF}"/>
              </a:ext>
            </a:extLst>
          </p:cNvPr>
          <p:cNvSpPr>
            <a:spLocks noGrp="1"/>
          </p:cNvSpPr>
          <p:nvPr/>
        </p:nvSpPr>
        <p:spPr>
          <a:xfrm>
            <a:off x="1390650" y="3848100"/>
            <a:ext cx="4857750" cy="266700"/>
          </a:xfrm>
          <a:prstGeom prst="rect">
            <a:avLst/>
          </a:prstGeom>
          <a:noFill/>
          <a:ln w="0">
            <a:noFill/>
            <a:prstDash val="solid"/>
          </a:ln>
        </p:spPr>
        <p:txBody>
          <a:bodyPr lIns="0" tIns="0" rIns="0" bIns="0" anchor="t">
            <a:normAutofit/>
          </a:bodyPr>
          <a:lstStyle>
            <a:defPPr algn="l">
              <a:defRPr sz="1275" b="0">
                <a:solidFill>
                  <a:srgbClr val="62667B"/>
                </a:solidFill>
                <a:latin typeface="Segoe UI"/>
                <a:ea typeface="Segoe UI"/>
                <a:cs typeface="Segoe UI"/>
              </a:defRPr>
            </a:defPPr>
          </a:lstStyle>
          <a:p>
            <a:pPr algn="l">
              <a:defRPr sz="1275" b="0">
                <a:solidFill>
                  <a:srgbClr val="62667B"/>
                </a:solidFill>
                <a:latin typeface="Segoe UI"/>
                <a:ea typeface="Segoe UI"/>
                <a:cs typeface="Segoe UI"/>
              </a:defRPr>
            </a:pPr>
            <a:r>
              <a:rPr sz="1275" b="0">
                <a:solidFill>
                  <a:srgbClr val="62667B"/>
                </a:solidFill>
                <a:latin typeface="Segoe UI"/>
                <a:ea typeface="Segoe UI"/>
                <a:cs typeface="Segoe UI"/>
              </a:rPr>
              <a:t>User  /  Warden  /  Admin  /  Shopkeeper</a:t>
            </a:r>
          </a:p>
        </p:txBody>
      </p:sp>
      <p:sp>
        <p:nvSpPr>
          <p:cNvPr id="12" name="Rectangle 11">
            <a:extLst>
              <a:ext uri="{FF2B5EF4-FFF2-40B4-BE49-F238E27FC236}">
                <a16:creationId xmlns:a16="http://schemas.microsoft.com/office/drawing/2014/main" id="{11C25E0F-C6AC-474D-A801-7407BA6DD873}"/>
              </a:ext>
            </a:extLst>
          </p:cNvPr>
          <p:cNvSpPr>
            <a:spLocks noGrp="1"/>
          </p:cNvSpPr>
          <p:nvPr/>
        </p:nvSpPr>
        <p:spPr>
          <a:xfrm>
            <a:off x="828675" y="4457700"/>
            <a:ext cx="400050" cy="400050"/>
          </a:xfrm>
          <a:prstGeom prst="rect">
            <a:avLst/>
          </a:prstGeom>
          <a:noFill/>
          <a:ln w="0">
            <a:noFill/>
            <a:prstDash val="solid"/>
          </a:ln>
        </p:spPr>
        <p:txBody>
          <a:bodyPr lIns="0" tIns="0" rIns="0" bIns="0" anchor="t">
            <a:normAutofit/>
          </a:bodyPr>
          <a:lstStyle>
            <a:defPPr algn="l">
              <a:defRPr sz="2100" b="1">
                <a:solidFill>
                  <a:srgbClr val="E9A83A"/>
                </a:solidFill>
                <a:latin typeface="Segoe UI"/>
                <a:ea typeface="Segoe UI"/>
                <a:cs typeface="Segoe UI"/>
              </a:defRPr>
            </a:defPPr>
          </a:lstStyle>
          <a:p>
            <a:pPr algn="l">
              <a:defRPr sz="2100" b="1">
                <a:solidFill>
                  <a:srgbClr val="E9A83A"/>
                </a:solidFill>
                <a:latin typeface="Segoe UI"/>
                <a:ea typeface="Segoe UI"/>
                <a:cs typeface="Segoe UI"/>
              </a:defRPr>
            </a:pPr>
            <a:r>
              <a:rPr sz="2100" b="1">
                <a:solidFill>
                  <a:srgbClr val="E9A83A"/>
                </a:solidFill>
                <a:latin typeface="Segoe UI"/>
                <a:ea typeface="Segoe UI"/>
                <a:cs typeface="Segoe UI"/>
              </a:rPr>
              <a:t>3</a:t>
            </a:r>
          </a:p>
        </p:txBody>
      </p:sp>
      <p:sp>
        <p:nvSpPr>
          <p:cNvPr id="13" name="Rectangle 12">
            <a:extLst>
              <a:ext uri="{FF2B5EF4-FFF2-40B4-BE49-F238E27FC236}">
                <a16:creationId xmlns:a16="http://schemas.microsoft.com/office/drawing/2014/main" id="{38FAB585-B36D-4BB5-8926-D7415119515F}"/>
              </a:ext>
            </a:extLst>
          </p:cNvPr>
          <p:cNvSpPr>
            <a:spLocks noGrp="1"/>
          </p:cNvSpPr>
          <p:nvPr/>
        </p:nvSpPr>
        <p:spPr>
          <a:xfrm>
            <a:off x="1390650" y="4438650"/>
            <a:ext cx="4381500" cy="342900"/>
          </a:xfrm>
          <a:prstGeom prst="rect">
            <a:avLst/>
          </a:prstGeom>
          <a:noFill/>
          <a:ln w="0">
            <a:noFill/>
            <a:prstDash val="solid"/>
          </a:ln>
        </p:spPr>
        <p:txBody>
          <a:bodyPr lIns="0" tIns="0" rIns="0" bIns="0" anchor="t">
            <a:normAutofit/>
          </a:bodyPr>
          <a:lstStyle>
            <a:defPPr algn="l">
              <a:defRPr sz="1725" b="1">
                <a:solidFill>
                  <a:srgbClr val="22233D"/>
                </a:solidFill>
                <a:latin typeface="Segoe UI"/>
                <a:ea typeface="Segoe UI"/>
                <a:cs typeface="Segoe UI"/>
              </a:defRPr>
            </a:defPPr>
          </a:lstStyle>
          <a:p>
            <a:pPr algn="l">
              <a:defRPr sz="1725" b="1">
                <a:solidFill>
                  <a:srgbClr val="22233D"/>
                </a:solidFill>
                <a:latin typeface="Segoe UI"/>
                <a:ea typeface="Segoe UI"/>
                <a:cs typeface="Segoe UI"/>
              </a:defRPr>
            </a:pPr>
            <a:r>
              <a:rPr sz="1725" b="1">
                <a:solidFill>
                  <a:srgbClr val="22233D"/>
                </a:solidFill>
                <a:latin typeface="Segoe UI"/>
                <a:ea typeface="Segoe UI"/>
                <a:cs typeface="Segoe UI"/>
              </a:rPr>
              <a:t>Suggested student walkthrough</a:t>
            </a:r>
          </a:p>
        </p:txBody>
      </p:sp>
      <p:sp>
        <p:nvSpPr>
          <p:cNvPr id="14" name="Rectangle 13">
            <a:extLst>
              <a:ext uri="{FF2B5EF4-FFF2-40B4-BE49-F238E27FC236}">
                <a16:creationId xmlns:a16="http://schemas.microsoft.com/office/drawing/2014/main" id="{E952A40A-3793-4B25-8685-3937C2312E3A}"/>
              </a:ext>
            </a:extLst>
          </p:cNvPr>
          <p:cNvSpPr>
            <a:spLocks noGrp="1"/>
          </p:cNvSpPr>
          <p:nvPr/>
        </p:nvSpPr>
        <p:spPr>
          <a:xfrm>
            <a:off x="1390650" y="4914900"/>
            <a:ext cx="4905375" cy="838200"/>
          </a:xfrm>
          <a:prstGeom prst="rect">
            <a:avLst/>
          </a:prstGeom>
          <a:noFill/>
          <a:ln w="0">
            <a:noFill/>
            <a:prstDash val="solid"/>
          </a:ln>
        </p:spPr>
        <p:txBody>
          <a:bodyPr lIns="0" tIns="0" rIns="0" bIns="0" anchor="t">
            <a:normAutofit/>
          </a:bodyPr>
          <a:lstStyle>
            <a:defPPr algn="l">
              <a:defRPr sz="1425" b="0">
                <a:solidFill>
                  <a:srgbClr val="62667B"/>
                </a:solidFill>
                <a:latin typeface="Segoe UI"/>
                <a:ea typeface="Segoe UI"/>
                <a:cs typeface="Segoe UI"/>
              </a:defRPr>
            </a:defPPr>
          </a:lstStyle>
          <a:p>
            <a:pPr algn="l">
              <a:defRPr sz="1425" b="0">
                <a:solidFill>
                  <a:srgbClr val="62667B"/>
                </a:solidFill>
                <a:latin typeface="Segoe UI"/>
                <a:ea typeface="Segoe UI"/>
                <a:cs typeface="Segoe UI"/>
              </a:defRPr>
            </a:pPr>
            <a:r>
              <a:rPr sz="1425" b="0">
                <a:solidFill>
                  <a:srgbClr val="62667B"/>
                </a:solidFill>
                <a:latin typeface="Segoe UI"/>
                <a:ea typeface="Segoe UI"/>
                <a:cs typeface="Segoe UI"/>
              </a:rPr>
              <a:t>Marketplace, product details, cart or Buy Now, My Orders, payment status, Hostel &amp; Mess Services</a:t>
            </a:r>
          </a:p>
        </p:txBody>
      </p:sp>
      <p:sp>
        <p:nvSpPr>
          <p:cNvPr id="15" name="Rectangle 14">
            <a:extLst>
              <a:ext uri="{FF2B5EF4-FFF2-40B4-BE49-F238E27FC236}">
                <a16:creationId xmlns:a16="http://schemas.microsoft.com/office/drawing/2014/main" id="{FA88F582-78F1-49D0-B38C-377C359195AC}"/>
              </a:ext>
            </a:extLst>
          </p:cNvPr>
          <p:cNvSpPr>
            <a:spLocks noGrp="1"/>
          </p:cNvSpPr>
          <p:nvPr/>
        </p:nvSpPr>
        <p:spPr>
          <a:xfrm>
            <a:off x="6962775" y="1866900"/>
            <a:ext cx="19050" cy="3790950"/>
          </a:xfrm>
          <a:prstGeom prst="rect">
            <a:avLst/>
          </a:prstGeom>
          <a:solidFill>
            <a:srgbClr val="E4E5EF"/>
          </a:solidFill>
          <a:ln w="0">
            <a:noFill/>
            <a:prstDash val="solid"/>
          </a:ln>
        </p:spPr>
      </p:sp>
      <p:sp>
        <p:nvSpPr>
          <p:cNvPr id="16" name="Rectangle 15">
            <a:extLst>
              <a:ext uri="{FF2B5EF4-FFF2-40B4-BE49-F238E27FC236}">
                <a16:creationId xmlns:a16="http://schemas.microsoft.com/office/drawing/2014/main" id="{AC33AEF1-E615-4DC2-82EB-B03FD0938C92}"/>
              </a:ext>
            </a:extLst>
          </p:cNvPr>
          <p:cNvSpPr>
            <a:spLocks noGrp="1"/>
          </p:cNvSpPr>
          <p:nvPr/>
        </p:nvSpPr>
        <p:spPr>
          <a:xfrm>
            <a:off x="7486650" y="1924050"/>
            <a:ext cx="3714750" cy="266700"/>
          </a:xfrm>
          <a:prstGeom prst="rect">
            <a:avLst/>
          </a:prstGeom>
          <a:noFill/>
          <a:ln w="0">
            <a:noFill/>
            <a:prstDash val="solid"/>
          </a:ln>
        </p:spPr>
        <p:txBody>
          <a:bodyPr lIns="0" tIns="0" rIns="0" bIns="0" anchor="t">
            <a:normAutofit/>
          </a:bodyPr>
          <a:lstStyle>
            <a:defPPr algn="l">
              <a:defRPr sz="1125" b="1">
                <a:solidFill>
                  <a:srgbClr val="7156E8"/>
                </a:solidFill>
                <a:latin typeface="Segoe UI"/>
                <a:ea typeface="Segoe UI"/>
                <a:cs typeface="Segoe UI"/>
              </a:defRPr>
            </a:defPPr>
          </a:lstStyle>
          <a:p>
            <a:pPr algn="l">
              <a:defRPr sz="1125" b="1">
                <a:solidFill>
                  <a:srgbClr val="7156E8"/>
                </a:solidFill>
                <a:latin typeface="Segoe UI"/>
                <a:ea typeface="Segoe UI"/>
                <a:cs typeface="Segoe UI"/>
              </a:defRPr>
            </a:pPr>
            <a:r>
              <a:rPr sz="1125" b="1">
                <a:solidFill>
                  <a:srgbClr val="7156E8"/>
                </a:solidFill>
                <a:latin typeface="Segoe UI"/>
                <a:ea typeface="Segoe UI"/>
                <a:cs typeface="Segoe UI"/>
              </a:rPr>
              <a:t>PRESENTER CHECKLIST</a:t>
            </a:r>
          </a:p>
        </p:txBody>
      </p:sp>
      <p:sp>
        <p:nvSpPr>
          <p:cNvPr id="17" name="Rectangle 16">
            <a:extLst>
              <a:ext uri="{FF2B5EF4-FFF2-40B4-BE49-F238E27FC236}">
                <a16:creationId xmlns:a16="http://schemas.microsoft.com/office/drawing/2014/main" id="{90C1E30D-CE1A-47F2-8951-0D85DD139C3C}"/>
              </a:ext>
            </a:extLst>
          </p:cNvPr>
          <p:cNvSpPr>
            <a:spLocks noGrp="1"/>
          </p:cNvSpPr>
          <p:nvPr/>
        </p:nvSpPr>
        <p:spPr>
          <a:xfrm>
            <a:off x="7505700" y="2476500"/>
            <a:ext cx="428625" cy="285750"/>
          </a:xfrm>
          <a:prstGeom prst="rect">
            <a:avLst/>
          </a:prstGeom>
          <a:noFill/>
          <a:ln w="0">
            <a:noFill/>
            <a:prstDash val="solid"/>
          </a:ln>
        </p:spPr>
        <p:txBody>
          <a:bodyPr lIns="0" tIns="0" rIns="0" bIns="0" anchor="t">
            <a:normAutofit/>
          </a:bodyPr>
          <a:lstStyle>
            <a:defPPr algn="l">
              <a:defRPr sz="1425" b="1">
                <a:solidFill>
                  <a:srgbClr val="27B99A"/>
                </a:solidFill>
                <a:latin typeface="Segoe UI"/>
                <a:ea typeface="Segoe UI"/>
                <a:cs typeface="Segoe UI"/>
              </a:defRPr>
            </a:defPPr>
          </a:lstStyle>
          <a:p>
            <a:pPr algn="l">
              <a:defRPr sz="1425" b="1">
                <a:solidFill>
                  <a:srgbClr val="27B99A"/>
                </a:solidFill>
                <a:latin typeface="Segoe UI"/>
                <a:ea typeface="Segoe UI"/>
                <a:cs typeface="Segoe UI"/>
              </a:defRPr>
            </a:pPr>
            <a:r>
              <a:rPr sz="1425" b="1">
                <a:solidFill>
                  <a:srgbClr val="27B99A"/>
                </a:solidFill>
                <a:latin typeface="Segoe UI"/>
                <a:ea typeface="Segoe UI"/>
                <a:cs typeface="Segoe UI"/>
              </a:rPr>
              <a:t>01</a:t>
            </a:r>
          </a:p>
        </p:txBody>
      </p:sp>
      <p:sp>
        <p:nvSpPr>
          <p:cNvPr id="18" name="Rectangle 17">
            <a:extLst>
              <a:ext uri="{FF2B5EF4-FFF2-40B4-BE49-F238E27FC236}">
                <a16:creationId xmlns:a16="http://schemas.microsoft.com/office/drawing/2014/main" id="{CCABB885-AFFD-457B-AE51-1F7406155176}"/>
              </a:ext>
            </a:extLst>
          </p:cNvPr>
          <p:cNvSpPr>
            <a:spLocks noGrp="1"/>
          </p:cNvSpPr>
          <p:nvPr/>
        </p:nvSpPr>
        <p:spPr>
          <a:xfrm>
            <a:off x="8020050" y="2457450"/>
            <a:ext cx="3190875" cy="495300"/>
          </a:xfrm>
          <a:prstGeom prst="rect">
            <a:avLst/>
          </a:prstGeom>
          <a:noFill/>
          <a:ln w="0">
            <a:noFill/>
            <a:prstDash val="solid"/>
          </a:ln>
        </p:spPr>
        <p:txBody>
          <a:bodyPr lIns="0" tIns="0" rIns="0" bIns="0" anchor="t">
            <a:normAutofit/>
          </a:bodyPr>
          <a:lstStyle>
            <a:defPPr algn="l">
              <a:defRPr sz="1425" b="0">
                <a:solidFill>
                  <a:srgbClr val="22233D"/>
                </a:solidFill>
                <a:latin typeface="Segoe UI"/>
                <a:ea typeface="Segoe UI"/>
                <a:cs typeface="Segoe UI"/>
              </a:defRPr>
            </a:defPPr>
          </a:lstStyle>
          <a:p>
            <a:pPr algn="l">
              <a:defRPr sz="1425" b="0">
                <a:solidFill>
                  <a:srgbClr val="22233D"/>
                </a:solidFill>
                <a:latin typeface="Segoe UI"/>
                <a:ea typeface="Segoe UI"/>
                <a:cs typeface="Segoe UI"/>
              </a:defRPr>
            </a:pPr>
            <a:r>
              <a:rPr sz="1425" b="0">
                <a:solidFill>
                  <a:srgbClr val="22233D"/>
                </a:solidFill>
                <a:latin typeface="Segoe UI"/>
                <a:ea typeface="Segoe UI"/>
                <a:cs typeface="Segoe UI"/>
              </a:rPr>
              <a:t>Start Flask before presenting</a:t>
            </a:r>
          </a:p>
        </p:txBody>
      </p:sp>
      <p:sp>
        <p:nvSpPr>
          <p:cNvPr id="19" name="Rectangle 18">
            <a:extLst>
              <a:ext uri="{FF2B5EF4-FFF2-40B4-BE49-F238E27FC236}">
                <a16:creationId xmlns:a16="http://schemas.microsoft.com/office/drawing/2014/main" id="{13047748-8C57-4ED4-9A4A-4BA1D2D2687E}"/>
              </a:ext>
            </a:extLst>
          </p:cNvPr>
          <p:cNvSpPr>
            <a:spLocks noGrp="1"/>
          </p:cNvSpPr>
          <p:nvPr/>
        </p:nvSpPr>
        <p:spPr>
          <a:xfrm>
            <a:off x="7505700" y="3209925"/>
            <a:ext cx="428625" cy="285750"/>
          </a:xfrm>
          <a:prstGeom prst="rect">
            <a:avLst/>
          </a:prstGeom>
          <a:noFill/>
          <a:ln w="0">
            <a:noFill/>
            <a:prstDash val="solid"/>
          </a:ln>
        </p:spPr>
        <p:txBody>
          <a:bodyPr lIns="0" tIns="0" rIns="0" bIns="0" anchor="t">
            <a:normAutofit/>
          </a:bodyPr>
          <a:lstStyle>
            <a:defPPr algn="l">
              <a:defRPr sz="1425" b="1">
                <a:solidFill>
                  <a:srgbClr val="27B99A"/>
                </a:solidFill>
                <a:latin typeface="Segoe UI"/>
                <a:ea typeface="Segoe UI"/>
                <a:cs typeface="Segoe UI"/>
              </a:defRPr>
            </a:defPPr>
          </a:lstStyle>
          <a:p>
            <a:pPr algn="l">
              <a:defRPr sz="1425" b="1">
                <a:solidFill>
                  <a:srgbClr val="27B99A"/>
                </a:solidFill>
                <a:latin typeface="Segoe UI"/>
                <a:ea typeface="Segoe UI"/>
                <a:cs typeface="Segoe UI"/>
              </a:defRPr>
            </a:pPr>
            <a:r>
              <a:rPr sz="1425" b="1">
                <a:solidFill>
                  <a:srgbClr val="27B99A"/>
                </a:solidFill>
                <a:latin typeface="Segoe UI"/>
                <a:ea typeface="Segoe UI"/>
                <a:cs typeface="Segoe UI"/>
              </a:rPr>
              <a:t>02</a:t>
            </a:r>
          </a:p>
        </p:txBody>
      </p:sp>
      <p:sp>
        <p:nvSpPr>
          <p:cNvPr id="20" name="Rectangle 19">
            <a:extLst>
              <a:ext uri="{FF2B5EF4-FFF2-40B4-BE49-F238E27FC236}">
                <a16:creationId xmlns:a16="http://schemas.microsoft.com/office/drawing/2014/main" id="{5251E632-2369-4760-85B8-3B0E7808E62E}"/>
              </a:ext>
            </a:extLst>
          </p:cNvPr>
          <p:cNvSpPr>
            <a:spLocks noGrp="1"/>
          </p:cNvSpPr>
          <p:nvPr/>
        </p:nvSpPr>
        <p:spPr>
          <a:xfrm>
            <a:off x="8020050" y="3190875"/>
            <a:ext cx="3190875" cy="495300"/>
          </a:xfrm>
          <a:prstGeom prst="rect">
            <a:avLst/>
          </a:prstGeom>
          <a:noFill/>
          <a:ln w="0">
            <a:noFill/>
            <a:prstDash val="solid"/>
          </a:ln>
        </p:spPr>
        <p:txBody>
          <a:bodyPr lIns="0" tIns="0" rIns="0" bIns="0" anchor="t">
            <a:normAutofit/>
          </a:bodyPr>
          <a:lstStyle>
            <a:defPPr algn="l">
              <a:defRPr sz="1425" b="0">
                <a:solidFill>
                  <a:srgbClr val="22233D"/>
                </a:solidFill>
                <a:latin typeface="Segoe UI"/>
                <a:ea typeface="Segoe UI"/>
                <a:cs typeface="Segoe UI"/>
              </a:defRPr>
            </a:defPPr>
          </a:lstStyle>
          <a:p>
            <a:pPr algn="l">
              <a:defRPr sz="1425" b="0">
                <a:solidFill>
                  <a:srgbClr val="22233D"/>
                </a:solidFill>
                <a:latin typeface="Segoe UI"/>
                <a:ea typeface="Segoe UI"/>
                <a:cs typeface="Segoe UI"/>
              </a:defRPr>
            </a:pPr>
            <a:r>
              <a:rPr sz="1425" b="0">
                <a:solidFill>
                  <a:srgbClr val="22233D"/>
                </a:solidFill>
                <a:latin typeface="Segoe UI"/>
                <a:ea typeface="Segoe UI"/>
                <a:cs typeface="Segoe UI"/>
              </a:rPr>
              <a:t>Keep demo accounts ready</a:t>
            </a:r>
          </a:p>
        </p:txBody>
      </p:sp>
      <p:sp>
        <p:nvSpPr>
          <p:cNvPr id="21" name="Rectangle 20">
            <a:extLst>
              <a:ext uri="{FF2B5EF4-FFF2-40B4-BE49-F238E27FC236}">
                <a16:creationId xmlns:a16="http://schemas.microsoft.com/office/drawing/2014/main" id="{8ABB6CAF-E057-42A1-925F-8BA9497AD050}"/>
              </a:ext>
            </a:extLst>
          </p:cNvPr>
          <p:cNvSpPr>
            <a:spLocks noGrp="1"/>
          </p:cNvSpPr>
          <p:nvPr/>
        </p:nvSpPr>
        <p:spPr>
          <a:xfrm>
            <a:off x="7505700" y="3943350"/>
            <a:ext cx="428625" cy="285750"/>
          </a:xfrm>
          <a:prstGeom prst="rect">
            <a:avLst/>
          </a:prstGeom>
          <a:noFill/>
          <a:ln w="0">
            <a:noFill/>
            <a:prstDash val="solid"/>
          </a:ln>
        </p:spPr>
        <p:txBody>
          <a:bodyPr lIns="0" tIns="0" rIns="0" bIns="0" anchor="t">
            <a:normAutofit/>
          </a:bodyPr>
          <a:lstStyle>
            <a:defPPr algn="l">
              <a:defRPr sz="1425" b="1">
                <a:solidFill>
                  <a:srgbClr val="27B99A"/>
                </a:solidFill>
                <a:latin typeface="Segoe UI"/>
                <a:ea typeface="Segoe UI"/>
                <a:cs typeface="Segoe UI"/>
              </a:defRPr>
            </a:defPPr>
          </a:lstStyle>
          <a:p>
            <a:pPr algn="l">
              <a:defRPr sz="1425" b="1">
                <a:solidFill>
                  <a:srgbClr val="27B99A"/>
                </a:solidFill>
                <a:latin typeface="Segoe UI"/>
                <a:ea typeface="Segoe UI"/>
                <a:cs typeface="Segoe UI"/>
              </a:defRPr>
            </a:pPr>
            <a:r>
              <a:rPr sz="1425" b="1">
                <a:solidFill>
                  <a:srgbClr val="27B99A"/>
                </a:solidFill>
                <a:latin typeface="Segoe UI"/>
                <a:ea typeface="Segoe UI"/>
                <a:cs typeface="Segoe UI"/>
              </a:rPr>
              <a:t>03</a:t>
            </a:r>
          </a:p>
        </p:txBody>
      </p:sp>
      <p:sp>
        <p:nvSpPr>
          <p:cNvPr id="22" name="Rectangle 21">
            <a:extLst>
              <a:ext uri="{FF2B5EF4-FFF2-40B4-BE49-F238E27FC236}">
                <a16:creationId xmlns:a16="http://schemas.microsoft.com/office/drawing/2014/main" id="{3C02DE7D-FBE7-4095-A53F-D32416108502}"/>
              </a:ext>
            </a:extLst>
          </p:cNvPr>
          <p:cNvSpPr>
            <a:spLocks noGrp="1"/>
          </p:cNvSpPr>
          <p:nvPr/>
        </p:nvSpPr>
        <p:spPr>
          <a:xfrm>
            <a:off x="8020050" y="3924300"/>
            <a:ext cx="3190875" cy="495300"/>
          </a:xfrm>
          <a:prstGeom prst="rect">
            <a:avLst/>
          </a:prstGeom>
          <a:noFill/>
          <a:ln w="0">
            <a:noFill/>
            <a:prstDash val="solid"/>
          </a:ln>
        </p:spPr>
        <p:txBody>
          <a:bodyPr lIns="0" tIns="0" rIns="0" bIns="0" anchor="t">
            <a:normAutofit/>
          </a:bodyPr>
          <a:lstStyle>
            <a:defPPr algn="l">
              <a:defRPr sz="1425" b="0">
                <a:solidFill>
                  <a:srgbClr val="22233D"/>
                </a:solidFill>
                <a:latin typeface="Segoe UI"/>
                <a:ea typeface="Segoe UI"/>
                <a:cs typeface="Segoe UI"/>
              </a:defRPr>
            </a:defPPr>
          </a:lstStyle>
          <a:p>
            <a:pPr algn="l">
              <a:defRPr sz="1425" b="0">
                <a:solidFill>
                  <a:srgbClr val="22233D"/>
                </a:solidFill>
                <a:latin typeface="Segoe UI"/>
                <a:ea typeface="Segoe UI"/>
                <a:cs typeface="Segoe UI"/>
              </a:defRPr>
            </a:pPr>
            <a:r>
              <a:rPr sz="1425" b="0">
                <a:solidFill>
                  <a:srgbClr val="22233D"/>
                </a:solidFill>
                <a:latin typeface="Segoe UI"/>
                <a:ea typeface="Segoe UI"/>
                <a:cs typeface="Segoe UI"/>
              </a:rPr>
              <a:t>Type credentials live</a:t>
            </a:r>
          </a:p>
        </p:txBody>
      </p:sp>
      <p:sp>
        <p:nvSpPr>
          <p:cNvPr id="23" name="Rectangle 22">
            <a:extLst>
              <a:ext uri="{FF2B5EF4-FFF2-40B4-BE49-F238E27FC236}">
                <a16:creationId xmlns:a16="http://schemas.microsoft.com/office/drawing/2014/main" id="{B6115CAC-FE41-4BFA-8379-9B055A2D012B}"/>
              </a:ext>
            </a:extLst>
          </p:cNvPr>
          <p:cNvSpPr>
            <a:spLocks noGrp="1"/>
          </p:cNvSpPr>
          <p:nvPr/>
        </p:nvSpPr>
        <p:spPr>
          <a:xfrm>
            <a:off x="7505700" y="4676775"/>
            <a:ext cx="428625" cy="285750"/>
          </a:xfrm>
          <a:prstGeom prst="rect">
            <a:avLst/>
          </a:prstGeom>
          <a:noFill/>
          <a:ln w="0">
            <a:noFill/>
            <a:prstDash val="solid"/>
          </a:ln>
        </p:spPr>
        <p:txBody>
          <a:bodyPr lIns="0" tIns="0" rIns="0" bIns="0" anchor="t">
            <a:normAutofit/>
          </a:bodyPr>
          <a:lstStyle>
            <a:defPPr algn="l">
              <a:defRPr sz="1425" b="1">
                <a:solidFill>
                  <a:srgbClr val="27B99A"/>
                </a:solidFill>
                <a:latin typeface="Segoe UI"/>
                <a:ea typeface="Segoe UI"/>
                <a:cs typeface="Segoe UI"/>
              </a:defRPr>
            </a:defPPr>
          </a:lstStyle>
          <a:p>
            <a:pPr algn="l">
              <a:defRPr sz="1425" b="1">
                <a:solidFill>
                  <a:srgbClr val="27B99A"/>
                </a:solidFill>
                <a:latin typeface="Segoe UI"/>
                <a:ea typeface="Segoe UI"/>
                <a:cs typeface="Segoe UI"/>
              </a:defRPr>
            </a:pPr>
            <a:r>
              <a:rPr sz="1425" b="1">
                <a:solidFill>
                  <a:srgbClr val="27B99A"/>
                </a:solidFill>
                <a:latin typeface="Segoe UI"/>
                <a:ea typeface="Segoe UI"/>
                <a:cs typeface="Segoe UI"/>
              </a:rPr>
              <a:t>04</a:t>
            </a:r>
          </a:p>
        </p:txBody>
      </p:sp>
      <p:sp>
        <p:nvSpPr>
          <p:cNvPr id="24" name="Rectangle 23">
            <a:extLst>
              <a:ext uri="{FF2B5EF4-FFF2-40B4-BE49-F238E27FC236}">
                <a16:creationId xmlns:a16="http://schemas.microsoft.com/office/drawing/2014/main" id="{F7434636-85F7-464A-900B-5F2D1A456FA9}"/>
              </a:ext>
            </a:extLst>
          </p:cNvPr>
          <p:cNvSpPr>
            <a:spLocks noGrp="1"/>
          </p:cNvSpPr>
          <p:nvPr/>
        </p:nvSpPr>
        <p:spPr>
          <a:xfrm>
            <a:off x="8020050" y="4657725"/>
            <a:ext cx="3190875" cy="495300"/>
          </a:xfrm>
          <a:prstGeom prst="rect">
            <a:avLst/>
          </a:prstGeom>
          <a:noFill/>
          <a:ln w="0">
            <a:noFill/>
            <a:prstDash val="solid"/>
          </a:ln>
        </p:spPr>
        <p:txBody>
          <a:bodyPr lIns="0" tIns="0" rIns="0" bIns="0" anchor="t">
            <a:normAutofit/>
          </a:bodyPr>
          <a:lstStyle>
            <a:defPPr algn="l">
              <a:defRPr sz="1425" b="0">
                <a:solidFill>
                  <a:srgbClr val="22233D"/>
                </a:solidFill>
                <a:latin typeface="Segoe UI"/>
                <a:ea typeface="Segoe UI"/>
                <a:cs typeface="Segoe UI"/>
              </a:defRPr>
            </a:defPPr>
          </a:lstStyle>
          <a:p>
            <a:pPr algn="l">
              <a:defRPr sz="1425" b="0">
                <a:solidFill>
                  <a:srgbClr val="22233D"/>
                </a:solidFill>
                <a:latin typeface="Segoe UI"/>
                <a:ea typeface="Segoe UI"/>
                <a:cs typeface="Segoe UI"/>
              </a:defRPr>
            </a:pPr>
            <a:r>
              <a:rPr sz="1425" b="0">
                <a:solidFill>
                  <a:srgbClr val="22233D"/>
                </a:solidFill>
                <a:latin typeface="Segoe UI"/>
                <a:ea typeface="Segoe UI"/>
                <a:cs typeface="Segoe UI"/>
              </a:rPr>
              <a:t>Show one student flow, then switch roles if time allows</a:t>
            </a:r>
          </a:p>
        </p:txBody>
      </p:sp>
    </p:spTree>
    <p:extLst>
      <p:ext uri="{BB962C8B-B14F-4D97-AF65-F5344CB8AC3E}">
        <p14:creationId xmlns:p14="http://schemas.microsoft.com/office/powerpoint/2010/main" val="1944155223"/>
      </p:ext>
    </p:extLst>
  </p:cSld>
  <p:clrMapOvr>
    <a:masterClrMapping/>
  </p:clrMapOvr>
</p:sld>
</file>

<file path=ppt/theme/theme1.xml><?xml version="1.0" encoding="utf-8"?>
<a:theme xmlns:a="http://schemas.openxmlformats.org/drawingml/2006/main" name="ChatGPT">
  <a:themeElements>
    <a:clrScheme name="HostelHub Violet">
      <a:dk1>
        <a:srgbClr val="000000"/>
      </a:dk1>
      <a:lt1>
        <a:srgbClr val="FFFFFF"/>
      </a:lt1>
      <a:dk2>
        <a:srgbClr val="171832"/>
      </a:dk2>
      <a:lt2>
        <a:srgbClr val="F0EDFF"/>
      </a:lt2>
      <a:accent1>
        <a:srgbClr val="7156E8"/>
      </a:accent1>
      <a:accent2>
        <a:srgbClr val="27B99A"/>
      </a:accent2>
      <a:accent3>
        <a:srgbClr val="E9A83A"/>
      </a:accent3>
      <a:accent4>
        <a:srgbClr val="E27668"/>
      </a:accent4>
      <a:accent5>
        <a:srgbClr val="24234A"/>
      </a:accent5>
      <a:accent6>
        <a:srgbClr val="61A6D8"/>
      </a:accent6>
      <a:hlink>
        <a:srgbClr val="7156E8"/>
      </a:hlink>
      <a:folHlink>
        <a:srgbClr val="9178FF"/>
      </a:folHlink>
    </a:clrScheme>
    <a:fontScheme name="">
      <a:majorFont>
        <a:latin typeface="Aptos"/>
        <a:ea typeface=""/>
        <a:cs typeface=""/>
      </a:majorFont>
      <a:minorFont>
        <a:latin typeface="Aptos"/>
        <a:ea typeface=""/>
        <a:cs typeface=""/>
      </a:minorFont>
    </a:fontScheme>
    <a:fmtScheme name="HostelHub Viole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HostelHub Violet">
      <a:dk1>
        <a:srgbClr val="000000"/>
      </a:dk1>
      <a:lt1>
        <a:srgbClr val="FFFFFF"/>
      </a:lt1>
      <a:dk2>
        <a:srgbClr val="171832"/>
      </a:dk2>
      <a:lt2>
        <a:srgbClr val="F0EDFF"/>
      </a:lt2>
      <a:accent1>
        <a:srgbClr val="7156E8"/>
      </a:accent1>
      <a:accent2>
        <a:srgbClr val="27B99A"/>
      </a:accent2>
      <a:accent3>
        <a:srgbClr val="E9A83A"/>
      </a:accent3>
      <a:accent4>
        <a:srgbClr val="E27668"/>
      </a:accent4>
      <a:accent5>
        <a:srgbClr val="24234A"/>
      </a:accent5>
      <a:accent6>
        <a:srgbClr val="61A6D8"/>
      </a:accent6>
      <a:hlink>
        <a:srgbClr val="7156E8"/>
      </a:hlink>
      <a:folHlink>
        <a:srgbClr val="9178FF"/>
      </a:folHlink>
    </a:clrScheme>
    <a:fontScheme name="">
      <a:majorFont>
        <a:latin typeface="Aptos"/>
        <a:ea typeface=""/>
        <a:cs typeface=""/>
      </a:majorFont>
      <a:minorFont>
        <a:latin typeface="Aptos"/>
        <a:ea typeface=""/>
        <a:cs typeface=""/>
      </a:minorFont>
    </a:fontScheme>
    <a:fmtScheme name="HostelHub Viole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1641</Words>
  <Application>Microsoft Office PowerPoint</Application>
  <DocSecurity>0</DocSecurity>
  <PresentationFormat>Widescreen</PresentationFormat>
  <Paragraphs>232</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Aptos</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gopalkrishan2892007@gmail.com</cp:lastModifiedBy>
  <cp:revision>1</cp:revision>
  <dcterms:created xsi:type="dcterms:W3CDTF">2026-10-14T20:48:04Z</dcterms:created>
  <dcterms:modified xsi:type="dcterms:W3CDTF">2026-10-14T20:50:18Z</dcterms:modified>
</cp:coreProperties>
</file>